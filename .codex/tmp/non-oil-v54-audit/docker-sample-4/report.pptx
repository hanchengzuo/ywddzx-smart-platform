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14.xml" ContentType="application/vnd.openxmlformats-officedocument.presentationml.comments+xml"/>
  <Override PartName="/ppt/comments/comment15.xml" ContentType="application/vnd.openxmlformats-officedocument.presentationml.comments+xml"/>
  <Override PartName="/ppt/comments/comment16.xml" ContentType="application/vnd.openxmlformats-officedocument.presentationml.comments+xml"/>
  <Override PartName="/ppt/comments/comment19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4" r:id="rId4"/>
    <p:sldMasterId id="2147483667" r:id="rId5"/>
    <p:sldMasterId id="2147483669" r:id="rId6"/>
    <p:sldMasterId id="2147483671" r:id="rId7"/>
    <p:sldMasterId id="2147483673" r:id="rId8"/>
    <p:sldMasterId id="2147483676" r:id="rId9"/>
  </p:sldMasterIdLst>
  <p:notesMasterIdLst>
    <p:notesMasterId r:id="rId12"/>
  </p:notesMasterIdLst>
  <p:sldIdLst>
    <p:sldId id="256" r:id="rId10"/>
    <p:sldId id="257" r:id="rId11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302" r:id="rId51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5" r:id="rId41"/>
    <p:sldId id="286" r:id="rId42"/>
    <p:sldId id="287" r:id="rId43"/>
    <p:sldId id="288" r:id="rId44"/>
    <p:sldId id="289" r:id="rId45"/>
    <p:sldId id="296" r:id="rId52"/>
    <p:sldId id="297" r:id="rId53"/>
    <p:sldId id="298" r:id="rId54"/>
    <p:sldId id="299" r:id="rId55"/>
  </p:sldIdLst>
  <p:sldSz cx="12192000" cy="6858000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@Iwxy" initials="authorId_349726251" lastIdx="3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2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51" Type="http://schemas.openxmlformats.org/officeDocument/2006/relationships/slide" Target="slides/slide38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ableStyles" Target="tableStyles.xml"/><Relationship Id="rId59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SZJ\Desktop\&#24033;&#26816;&#38382;&#39064;&#21015;&#34920;_20260803_090301_f4378738(&#24050;&#33258;&#21160;&#36824;&#21407;)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各片区非油问题数量汇总</a:t>
            </a:r>
            <a:endParaRPr lang="zh-CN" altLang="en-US"/>
          </a:p>
        </c:rich>
      </c:tx>
      <c:layout>
        <c:manualLayout>
          <c:xMode val="edge"/>
          <c:yMode val="edge"/>
          <c:x val="0.432346738060686"/>
          <c:y val="0.015444012313863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Sheet8!$A$2:$B$2</c:f>
              <c:strCache>
                <c:ptCount val="1"/>
                <c:pt idx="0">
                  <c:v>单站平均问题数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Sheet8!$C$1:$N$1</c:f>
              <c:strCache>
                <c:ptCount val="12"/>
                <c:pt idx="0">
                  <c:v>浦东片区</c:v>
                </c:pt>
                <c:pt idx="1">
                  <c:v>闵普徐片区</c:v>
                </c:pt>
                <c:pt idx="2">
                  <c:v>松金片区</c:v>
                </c:pt>
                <c:pt idx="3">
                  <c:v>嘉青片区</c:v>
                </c:pt>
                <c:pt idx="4">
                  <c:v>南汇片区</c:v>
                </c:pt>
                <c:pt idx="5">
                  <c:v>宝静片区</c:v>
                </c:pt>
                <c:pt idx="6">
                  <c:v>奉贤片区</c:v>
                </c:pt>
                <c:pt idx="7">
                  <c:v>崇明片区</c:v>
                </c:pt>
                <c:pt idx="8">
                  <c:v>中油奉贤</c:v>
                </c:pt>
                <c:pt idx="9">
                  <c:v>中油农工商</c:v>
                </c:pt>
                <c:pt idx="10">
                  <c:v>中油上海</c:v>
                </c:pt>
                <c:pt idx="11">
                  <c:v>中油浦东</c:v>
                </c:pt>
              </c:strCache>
            </c:strRef>
          </c:cat>
          <c:val>
            <c:numRef>
              <c:f>Sheet8!$C$2:$N$2</c:f>
              <c:numCache>
                <c:formatCode>General</c:formatCode>
                <c:ptCount val="12"/>
                <c:pt idx="0">
                  <c:v>4</c:v>
                </c:pt>
                <c:pt idx="1">
                  <c:v>6.6</c:v>
                </c:pt>
                <c:pt idx="2">
                  <c:v>3</c:v>
                </c:pt>
                <c:pt idx="3">
                  <c:v>2.5</c:v>
                </c:pt>
                <c:pt idx="4">
                  <c:v>2.7</c:v>
                </c:pt>
                <c:pt idx="5">
                  <c:v>4.1</c:v>
                </c:pt>
                <c:pt idx="6">
                  <c:v>1</c:v>
                </c:pt>
                <c:pt idx="7">
                  <c:v>3</c:v>
                </c:pt>
                <c:pt idx="8">
                  <c:v>2</c:v>
                </c:pt>
                <c:pt idx="9">
                  <c:v>5</c:v>
                </c:pt>
                <c:pt idx="10">
                  <c:v>5</c:v>
                </c:pt>
                <c:pt idx="11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Sheet8!$A$3:$B$3</c:f>
              <c:strCache>
                <c:ptCount val="1"/>
                <c:pt idx="0">
                  <c:v>检查站点数</c:v>
                </c:pt>
              </c:strCache>
            </c:strRef>
          </c:tx>
          <c:spPr>
            <a:solidFill>
              <a:schemeClr val="tx2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  <a:effectLst/>
          </c:spPr>
          <c:invertIfNegative val="0"/>
          <c:dLbls>
            <c:delete val="1"/>
          </c:dLbls>
          <c:cat>
            <c:strRef>
              <c:f>Sheet8!$C$1:$N$1</c:f>
              <c:strCache>
                <c:ptCount val="12"/>
                <c:pt idx="0">
                  <c:v>浦东片区</c:v>
                </c:pt>
                <c:pt idx="1">
                  <c:v>闵普徐片区</c:v>
                </c:pt>
                <c:pt idx="2">
                  <c:v>松金片区</c:v>
                </c:pt>
                <c:pt idx="3">
                  <c:v>嘉青片区</c:v>
                </c:pt>
                <c:pt idx="4">
                  <c:v>南汇片区</c:v>
                </c:pt>
                <c:pt idx="5">
                  <c:v>宝静片区</c:v>
                </c:pt>
                <c:pt idx="6">
                  <c:v>奉贤片区</c:v>
                </c:pt>
                <c:pt idx="7">
                  <c:v>崇明片区</c:v>
                </c:pt>
                <c:pt idx="8">
                  <c:v>中油奉贤</c:v>
                </c:pt>
                <c:pt idx="9">
                  <c:v>中油农工商</c:v>
                </c:pt>
                <c:pt idx="10">
                  <c:v>中油上海</c:v>
                </c:pt>
                <c:pt idx="11">
                  <c:v>中油浦东</c:v>
                </c:pt>
              </c:strCache>
            </c:strRef>
          </c:cat>
          <c:val>
            <c:numRef>
              <c:f>Sheet8!$C$3:$N$3</c:f>
              <c:numCache>
                <c:formatCode>General</c:formatCode>
                <c:ptCount val="12"/>
                <c:pt idx="0">
                  <c:v>6</c:v>
                </c:pt>
                <c:pt idx="1">
                  <c:v>7</c:v>
                </c:pt>
                <c:pt idx="2">
                  <c:v>11</c:v>
                </c:pt>
                <c:pt idx="3">
                  <c:v>2</c:v>
                </c:pt>
                <c:pt idx="4">
                  <c:v>6</c:v>
                </c:pt>
                <c:pt idx="5">
                  <c:v>7</c:v>
                </c:pt>
                <c:pt idx="6">
                  <c:v>1</c:v>
                </c:pt>
                <c:pt idx="7">
                  <c:v>8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Sheet8!$A$4:$B$4</c:f>
              <c:strCache>
                <c:ptCount val="1"/>
                <c:pt idx="0">
                  <c:v>问题总数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Sheet8!$C$1:$N$1</c:f>
              <c:strCache>
                <c:ptCount val="12"/>
                <c:pt idx="0">
                  <c:v>浦东片区</c:v>
                </c:pt>
                <c:pt idx="1">
                  <c:v>闵普徐片区</c:v>
                </c:pt>
                <c:pt idx="2">
                  <c:v>松金片区</c:v>
                </c:pt>
                <c:pt idx="3">
                  <c:v>嘉青片区</c:v>
                </c:pt>
                <c:pt idx="4">
                  <c:v>南汇片区</c:v>
                </c:pt>
                <c:pt idx="5">
                  <c:v>宝静片区</c:v>
                </c:pt>
                <c:pt idx="6">
                  <c:v>奉贤片区</c:v>
                </c:pt>
                <c:pt idx="7">
                  <c:v>崇明片区</c:v>
                </c:pt>
                <c:pt idx="8">
                  <c:v>中油奉贤</c:v>
                </c:pt>
                <c:pt idx="9">
                  <c:v>中油农工商</c:v>
                </c:pt>
                <c:pt idx="10">
                  <c:v>中油上海</c:v>
                </c:pt>
                <c:pt idx="11">
                  <c:v>中油浦东</c:v>
                </c:pt>
              </c:strCache>
            </c:strRef>
          </c:cat>
          <c:val>
            <c:numRef>
              <c:f>Sheet8!$C$4:$N$4</c:f>
              <c:numCache>
                <c:formatCode>General</c:formatCode>
                <c:ptCount val="12"/>
                <c:pt idx="0">
                  <c:v>24</c:v>
                </c:pt>
                <c:pt idx="1">
                  <c:v>46</c:v>
                </c:pt>
                <c:pt idx="2">
                  <c:v>33</c:v>
                </c:pt>
                <c:pt idx="3">
                  <c:v>5</c:v>
                </c:pt>
                <c:pt idx="4">
                  <c:v>16</c:v>
                </c:pt>
                <c:pt idx="5">
                  <c:v>29</c:v>
                </c:pt>
                <c:pt idx="6">
                  <c:v>1</c:v>
                </c:pt>
                <c:pt idx="7">
                  <c:v>24</c:v>
                </c:pt>
                <c:pt idx="8">
                  <c:v>2</c:v>
                </c:pt>
                <c:pt idx="9">
                  <c:v>5</c:v>
                </c:pt>
                <c:pt idx="10">
                  <c:v>5</c:v>
                </c:pt>
                <c:pt idx="11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46546112"/>
        <c:axId val="946546464"/>
      </c:barChart>
      <c:catAx>
        <c:axId val="94654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46546464"/>
        <c:crosses val="autoZero"/>
        <c:auto val="1"/>
        <c:lblAlgn val="ctr"/>
        <c:lblOffset val="100"/>
        <c:noMultiLvlLbl val="0"/>
      </c:catAx>
      <c:valAx>
        <c:axId val="946546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4654611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8d43a5f-0797-44c2-87a6-b5ba93d5e3e7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各片区非油问题数量汇总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站平均问题数</c:v>
                </c:pt>
              </c:strCache>
            </c:strRef>
          </c:tx>
          <c:spPr>
            <a:solidFill>
              <a:srgbClr val="5B9BD5"/>
            </a:solidFill>
            <a:ln>
              <a:solidFill>
                <a:srgbClr val="5B9BD5"/>
              </a:solidFill>
            </a:ln>
          </c:spPr>
          <c:cat>
            <c:strRef>
              <c:f>Sheet1!$A$2:$A$2</c:f>
              <c:strCache>
                <c:ptCount val="1"/>
                <c:pt idx="0">
                  <c:v>浦东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检查站点数</c:v>
                </c:pt>
              </c:strCache>
            </c:strRef>
          </c:tx>
          <c:spPr>
            <a:solidFill>
              <a:srgbClr val="C0504D"/>
            </a:solidFill>
            <a:ln>
              <a:solidFill>
                <a:srgbClr val="C0504D"/>
              </a:solidFill>
            </a:ln>
          </c:spPr>
          <c:cat>
            <c:strRef>
              <c:f>Sheet1!$A$2:$A$2</c:f>
              <c:strCache>
                <c:ptCount val="1"/>
                <c:pt idx="0">
                  <c:v>浦东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问题总数</c:v>
                </c:pt>
              </c:strCache>
            </c:strRef>
          </c:tx>
          <c:spPr>
            <a:solidFill>
              <a:srgbClr val="92D050"/>
            </a:solidFill>
            <a:ln>
              <a:solidFill>
                <a:srgbClr val="92D050"/>
              </a:solidFill>
            </a:ln>
          </c:spPr>
          <c:cat>
            <c:strRef>
              <c:f>Sheet1!$A$2:$A$2</c:f>
              <c:strCache>
                <c:ptCount val="1"/>
                <c:pt idx="0">
                  <c:v>浦东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5.0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非油检查问题分布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cat>
            <c:strRef>
              <c:f>Sheet1!$A$2:$A$3</c:f>
              <c:strCache>
                <c:ptCount val="2"/>
                <c:pt idx="0">
                  <c:v>店销商品摆放情况</c:v>
                </c:pt>
                <c:pt idx="1">
                  <c:v>便利店卫生情况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重点问题内部占比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cat>
            <c:strRef>
              <c:f>Sheet1!$A$2:$A$3</c:f>
              <c:strCache>
                <c:ptCount val="2"/>
                <c:pt idx="0">
                  <c:v>重点商品</c:v>
                </c:pt>
                <c:pt idx="1">
                  <c:v>月度盘点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</c:v>
                </c:pt>
                <c:pt idx="1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发生环节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cat>
            <c:strRef>
              <c:f>Sheet1!$A$2:$A$2</c:f>
              <c:strCache>
                <c:ptCount val="1"/>
                <c:pt idx="0">
                  <c:v>商品盘点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涉及商品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cat>
            <c:strRef>
              <c:f>Sheet1!$A$2:$A$2</c:f>
              <c:strCache>
                <c:ptCount val="1"/>
                <c:pt idx="0">
                  <c:v>中华烟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典型问题分布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cat>
            <c:strRef>
              <c:f>Sheet1!$A$2:$A$2</c:f>
              <c:strCache>
                <c:ptCount val="1"/>
                <c:pt idx="0">
                  <c:v>盘亏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非油检查问题分布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cat>
            <c:strRef>
              <c:f>Sheet1!$A$2:$A$3</c:f>
              <c:strCache>
                <c:ptCount val="2"/>
                <c:pt idx="0">
                  <c:v>商品摆放</c:v>
                </c:pt>
                <c:pt idx="1">
                  <c:v>便利店卫生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浦东各站问题数量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店销商品摆放情况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cat>
            <c:strRef>
              <c:f>Sheet1!$A$2:$A$3</c:f>
              <c:strCache>
                <c:ptCount val="2"/>
                <c:pt idx="0">
                  <c:v>测试一站</c:v>
                </c:pt>
                <c:pt idx="1">
                  <c:v>测试二站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便利店卫生情况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cat>
            <c:strRef>
              <c:f>Sheet1!$A$2:$A$3</c:f>
              <c:strCache>
                <c:ptCount val="2"/>
                <c:pt idx="0">
                  <c:v>测试一站</c:v>
                </c:pt>
                <c:pt idx="1">
                  <c:v>测试二站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1.0</c:v>
                </c:pt>
                <c:pt idx="1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浦东问题分布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cat>
            <c:strRef>
              <c:f>Sheet1!$A$2:$A$3</c:f>
              <c:strCache>
                <c:ptCount val="2"/>
                <c:pt idx="0">
                  <c:v>店销商品摆放情况</c:v>
                </c:pt>
                <c:pt idx="1">
                  <c:v>便利店卫生情况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16:24.558" idx="1">
    <p:pos x="2220" y="191"/>
    <p:text>删掉名字，更改报告月份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16:30.374" idx="2">
    <p:pos x="10" y="10"/>
    <p:text>固定不变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16:35.009" idx="3">
    <p:pos x="10" y="10"/>
    <p:text>固定不变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3:40.857" idx="5">
    <p:pos x="10" y="10"/>
    <p:text>更改月份、发现问题数量、待验收问题数量、待整改问题数量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4:01.314" idx="6">
    <p:pos x="10" y="10"/>
    <p:text>“巡检期间”增加一个通过日期去调整这个报告的数据范围，自定义调整</p:text>
  </p:cm>
  <p:cm authorId="1" dt="2026-08-20T15:54:18.944" idx="7">
    <p:pos x="166" y="166"/>
    <p:text>管理片区有顺序要求：浦东、闵普徐、松金、嘉青、南汇、宝静、奉贤、崇明
合资公司顺序：中油奉贤、中油同盛、中油康桥、中油农工商、中油上海、中油港汇、中石油上港、中油浦东、中油华鑫、中油中燃（海滨油库）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4:28.500" idx="8">
    <p:pos x="10" y="10"/>
    <p:text>要细致到每个加油站有几个问题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4:33.433" idx="9">
    <p:pos x="10" y="10"/>
    <p:text>人工自己做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4:40.271" idx="10">
    <p:pos x="10" y="10"/>
    <p:text>固定不变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6:04.389" idx="12">
    <p:pos x="10" y="10"/>
    <p:text>《非油检查问题分布》：九个大类，在现在的基础上加一个团购业务。
“其他”那一项加一个面板，让AI重新分类到九大类里</p:text>
  </p:cm>
  <p:cm authorId="1" dt="2026-08-20T15:59:21.503" idx="13">
    <p:pos x="166" y="166"/>
    <p:text>特殊扣分项是“销售过期商品、商品无标签、不按价格文件执行价格一次扣100；商品抽盘准确率不封顶。”</p:text>
  </p:cm>
  <p:cm authorId="1" dt="2026-08-20T16:02:32.153" idx="18">
    <p:pos x="322" y="322"/>
    <p:text>具体问题详见附件：《改月份》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0:28.025" idx="15">
    <p:pos x="534" y="768"/>
    <p:text>1. 检查总体情况：根据实际数据变化</p:text>
  </p:cm>
  <p:cm authorId="1" dt="2026-08-20T16:00:36.903" idx="16">
    <p:pos x="534" y="2032"/>
    <p:text>2. 分析方法【固定不变】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1:30.032" idx="17">
    <p:pos x="10" y="10"/>
    <p:text>文字不变，图变</p:text>
  </p:cm>
  <p:cm authorId="1" dt="2026-08-20T16:10:06.343" idx="27">
    <p:pos x="166" y="166"/>
    <p:text>重点问题分析这部分的类型顺序是固定的：
重点商品——月度盘点——商品过期——团购问题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3:39.094" idx="19">
    <p:pos x="4394" y="1986"/>
    <p:text>1、对四个重点问题类型进行数据分析，取占比最高的两个环节进行数据描述。
</p:text>
  </p:cm>
  <p:cm authorId="1" dt="2026-08-20T16:06:30.764" idx="20">
    <p:pos x="4550" y="2142"/>
    <p:text>问题大类重命名：
1. 员工形象及开口服务情况——员工服务
2. 便利店卫生情况——便利店卫生
3. 店销商品摆放情况——商品摆放
4. 仓库管理情况——仓库管理
5. 销售行为
6. 商品订单、入库、盘点等情况——商品盘点
7. 台账、报表情况——台账报表
8. 特殊扣分项
【如果当月数据不涉及上面其中一个大类，该类不要在表格里展示】</p:text>
  </p:cm>
</p:cmLst>
</file>

<file path=ppt/comments/comment1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7:17.484" idx="21">
    <p:pos x="1150" y="1460"/>
    <p:text>1、主要发生于。。。。（取占比超20%的问题类别）
2、做面板：对重点商品分类（品名）、对高频词分类（盘亏、未过机。。。）</p:text>
  </p:cm>
</p:cmLst>
</file>

<file path=ppt/comments/comment1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8:15.933" idx="22">
    <p:pos x="10" y="10"/>
    <p:text>1、检查项目和24页重命名后一样的分类</p:text>
  </p:cm>
  <p:cm authorId="1" dt="2026-08-20T16:08:21.884" idx="23">
    <p:pos x="166" y="166"/>
    <p:text>2、酒标红色、烟标蓝色</p:text>
  </p:cm>
  <p:cm authorId="1" dt="2026-08-20T16:08:36.598" idx="24">
    <p:pos x="322" y="322"/>
    <p:text>3、改标题：删掉标题“盘亏/盘盈”改成“重点商品问题详情”</p:text>
  </p:cm>
</p:cmLst>
</file>

<file path=ppt/comments/comment1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8:48.150" idx="25">
    <p:pos x="10" y="10"/>
    <p:text>改标题：删掉标题“盘亏/盘盈”改成“重点商品问题详情”</p:text>
  </p:cm>
</p:cmLst>
</file>

<file path=ppt/comments/comment1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17:47.224" idx="4">
    <p:pos x="10" y="10"/>
    <p:text>描述不变，换图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2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6D80A-9C4E-4C5F-A6C1-7C5B99C315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7DC6A6-BF1E-4CE5-B3E6-718B8EA0B82A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C705DF-EB6A-4429-A9CF-8086C29D54D9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03108F-6D01-401F-BB83-A4EE273EE035}" type="datetime1">
              <a:rPr lang="zh-CN" altLang="en-US"/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18DFAB-279D-45FB-8988-01B47F34F95A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5B006A-3E28-4231-AF04-14767498E664}" type="datetime1">
              <a:rPr lang="zh-CN" altLang="en-US"/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8B94FA0-F740-4CDC-A935-5AEA919A98DA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F3BCCF-927F-4C14-9052-F5177C3C439D}" type="datetime1">
              <a:rPr lang="zh-CN" altLang="en-US"/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08259AF-2A25-452C-AA5F-7B080E8C5A7E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19FF268-CF0C-4595-A6A8-A0B1FC2FEB42}" type="datetime1">
              <a:rPr lang="zh-CN" altLang="en-US"/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90A56-B7DA-460C-8F46-95BFAF0AF95F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05E0E50-3259-4429-AAEB-7BA10F2285FC}" type="datetime1">
              <a:rPr lang="zh-CN" altLang="en-US"/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178EC5-58A4-4F44-B83C-34BE3E218ABE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EF5456-EA9D-47AD-816E-BBFCE6D3FB5C}" type="datetime1">
              <a:rPr lang="zh-CN" altLang="en-US"/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199BA4-F8C4-48F6-BF3D-6D4BD834E815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DD0B665-21F2-4210-A0AB-1FF516ABB0EC}" type="datetime1">
              <a:rPr lang="zh-CN" altLang="en-US"/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120986-D9F8-450A-8E8A-7B53A97B66E9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233BD8-DB7E-4E6E-9456-6D1E77C88269}" type="datetime1">
              <a:rPr lang="zh-CN" altLang="en-US"/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47CCC7F-E1A2-469B-A337-764C3DF07313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772B07E-4E44-4E95-89AF-F1EF6F4CC7EC}" type="datetime1">
              <a:rPr lang="zh-CN" altLang="en-US"/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D47AF7-089F-4725-8B45-DEA8A59F6C62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AA1729-FFEC-4670-BE57-9BB1B6CF1583}" type="datetime1">
              <a:rPr lang="zh-CN" altLang="en-US"/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7AACFD0-6D64-47CD-A483-D6FD45307366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7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5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7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85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11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AA8D434-E74C-4482-84D3-C0E5A9D4DCFD}" type="datetimeFigureOut">
              <a:rPr lang="zh-CN" altLang="en-US"/>
            </a:fld>
            <a:endParaRPr lang="zh-CN"/>
          </a:p>
        </p:txBody>
      </p:sp>
      <p:sp>
        <p:nvSpPr>
          <p:cNvPr id="8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8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879ADDD-CDD3-4C91-810A-63C4460F976F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27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21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0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33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9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95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9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05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en-US" alt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2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6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8D434-E74C-4482-84D3-C0E5A9D4DCFD}" type="datetimeFigureOut">
              <a:rPr lang="zh-CN" altLang="en-US"/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9ADDD-CDD3-4C91-810A-63C4460F976F}" type="slidenum">
              <a:rPr lang="en-US" alt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lvl="0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等线 Light" panose="02010600030101010101" charset="-122"/>
          <a:ea typeface="等线 Light" panose="02010600030101010101" charset="-122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1pPr>
      <a:lvl2pPr marL="457200" lvl="1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2pPr>
      <a:lvl3pPr marL="914400" lvl="2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3pPr>
      <a:lvl4pPr marL="1371600" lvl="3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4pPr>
      <a:lvl5pPr marL="1828800" lvl="4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5pPr>
      <a:lvl6pPr marL="2286000" lvl="5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6pPr>
      <a:lvl7pPr marL="2743200" lvl="6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7pPr>
      <a:lvl8pPr marL="3200400" lvl="7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8pPr>
      <a:lvl9pPr marL="3657600" lvl="8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9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5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6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comments" Target="../comments/commen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omments" Target="../comments/commen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omments" Target="../comments/commen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2.xml"/><Relationship Id="rId5" Type="http://schemas.openxmlformats.org/officeDocument/2006/relationships/comments" Target="../comments/commen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2.xml"/><Relationship Id="rId5" Type="http://schemas.openxmlformats.org/officeDocument/2006/relationships/comments" Target="../comments/comment9.xml"/><Relationship Id="rId6" Type="http://schemas.openxmlformats.org/officeDocument/2006/relationships/chart" Target="../charts/chart5.xml"/><Relationship Id="rId7" Type="http://schemas.openxmlformats.org/officeDocument/2006/relationships/chart" Target="../charts/char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omments" Target="../comments/commen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5.xml"/><Relationship Id="rId3" Type="http://schemas.openxmlformats.org/officeDocument/2006/relationships/comments" Target="../comments/comment12.xml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omments" Target="../comments/comment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15.xml"/><Relationship Id="rId5" Type="http://schemas.openxmlformats.org/officeDocument/2006/relationships/comments" Target="../comments/comment14.xml"/><Relationship Id="rId6" Type="http://schemas.openxmlformats.org/officeDocument/2006/relationships/chart" Target="../charts/chart8.xml"/><Relationship Id="rId7" Type="http://schemas.openxmlformats.org/officeDocument/2006/relationships/chart" Target="../charts/chart9.xml"/><Relationship Id="rId8" Type="http://schemas.openxmlformats.org/officeDocument/2006/relationships/chart" Target="../charts/chart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omments" Target="../comments/comment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omments" Target="../comments/commen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9.xml"/><Relationship Id="rId3" Type="http://schemas.openxmlformats.org/officeDocument/2006/relationships/chart" Target="../charts/chart1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9.xml"/><Relationship Id="rId3" Type="http://schemas.openxmlformats.org/officeDocument/2006/relationships/comments" Target="../comments/comment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image" Target="../media/image44.jpeg"/><Relationship Id="rId3" Type="http://schemas.openxmlformats.org/officeDocument/2006/relationships/image" Target="../media/image45.png"/><Relationship Id="rId4" Type="http://schemas.openxmlformats.org/officeDocument/2006/relationships/image" Target="../media/image46.jpeg"/><Relationship Id="rId5" Type="http://schemas.openxmlformats.org/officeDocument/2006/relationships/image" Target="../media/image47.jpeg"/><Relationship Id="rId6" Type="http://schemas.openxmlformats.org/officeDocument/2006/relationships/image" Target="../media/image48.png"/><Relationship Id="rId7" Type="http://schemas.openxmlformats.org/officeDocument/2006/relationships/image" Target="../media/image49.jpeg"/><Relationship Id="rId8" Type="http://schemas.openxmlformats.org/officeDocument/2006/relationships/image" Target="../media/image50.jpeg"/><Relationship Id="rId9" Type="http://schemas.openxmlformats.org/officeDocument/2006/relationships/image" Target="../media/image51.jpeg"/><Relationship Id="rId10" Type="http://schemas.openxmlformats.org/officeDocument/2006/relationships/slideLayout" Target="../slideLayouts/slideLayout1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image" Target="../media/image74.svg"/><Relationship Id="rId3" Type="http://schemas.openxmlformats.org/officeDocument/2006/relationships/image" Target="../media/image75.png"/><Relationship Id="rId4" Type="http://schemas.openxmlformats.org/officeDocument/2006/relationships/image" Target="../media/image76.svg"/><Relationship Id="rId5" Type="http://schemas.openxmlformats.org/officeDocument/2006/relationships/image" Target="../media/image77.png"/><Relationship Id="rId6" Type="http://schemas.openxmlformats.org/officeDocument/2006/relationships/image" Target="../media/image78.svg"/><Relationship Id="rId7" Type="http://schemas.openxmlformats.org/officeDocument/2006/relationships/image" Target="../media/image79.png"/><Relationship Id="rId8" Type="http://schemas.openxmlformats.org/officeDocument/2006/relationships/image" Target="../media/image80.svg"/><Relationship Id="rId9" Type="http://schemas.openxmlformats.org/officeDocument/2006/relationships/image" Target="../media/image81.png"/><Relationship Id="rId10" Type="http://schemas.openxmlformats.org/officeDocument/2006/relationships/image" Target="../media/image82.svg"/><Relationship Id="rId11" Type="http://schemas.openxmlformats.org/officeDocument/2006/relationships/image" Target="../media/image83.png"/><Relationship Id="rId12" Type="http://schemas.openxmlformats.org/officeDocument/2006/relationships/image" Target="../media/image84.svg"/><Relationship Id="rId13" Type="http://schemas.openxmlformats.org/officeDocument/2006/relationships/slideLayout" Target="../slideLayouts/slideLayout2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85.png"/><Relationship Id="rId2" Type="http://schemas.openxmlformats.org/officeDocument/2006/relationships/slideLayout" Target="../slideLayouts/slideLayout1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extBox 11"/>
          <p:cNvSpPr txBox="1"/>
          <p:nvPr/>
        </p:nvSpPr>
        <p:spPr>
          <a:xfrm>
            <a:off x="2387891" y="3685690"/>
            <a:ext cx="7181850" cy="51435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sz="2000">
                <a:latin typeface="Noto Sans CJK SC"/>
                <a:ea typeface="Noto Sans CJK SC"/>
                <a:cs typeface="Noto Sans CJK SC"/>
              </a:rPr>
              <a:t>XXX    XXX    XXX</a:t>
            </a:r>
            <a:endParaRPr lang="zh-CN" sz="200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文本框 15"/>
          <p:cNvSpPr txBox="1"/>
          <p:nvPr/>
        </p:nvSpPr>
        <p:spPr>
          <a:xfrm>
            <a:off x="1257591" y="1174750"/>
            <a:ext cx="9442450" cy="225425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sz="5400">
                <a:latin typeface="Noto Sans CJK SC"/>
                <a:ea typeface="Noto Sans CJK SC"/>
                <a:cs typeface="Noto Sans CJK SC"/>
              </a:rPr>
              <a:t>盛大业务督导中心</a:t>
            </a:r>
            <a:endParaRPr lang="en-US" sz="5400">
              <a:ln w="12700">
                <a:noFill/>
                <a:prstDash val="solid"/>
              </a:ln>
              <a:solidFill>
                <a:schemeClr val="tx2">
                  <a:alpha val="100000"/>
                </a:schemeClr>
              </a:solidFill>
              <a:latin typeface="方正正中黑简体"/>
              <a:ea typeface="方正正中黑简体"/>
            </a:endParaRPr>
          </a:p>
          <a:p>
            <a:pPr algn="ctr"/>
            <a:r>
              <a:rPr sz="5400">
                <a:latin typeface="Noto Sans CJK SC"/>
                <a:ea typeface="Noto Sans CJK SC"/>
                <a:cs typeface="Noto Sans CJK SC"/>
              </a:rPr>
              <a:t>非油业务7月巡检报告</a:t>
            </a:r>
          </a:p>
        </p:txBody>
      </p:sp>
      <p:pic>
        <p:nvPicPr>
          <p:cNvPr id="430" name="图片 14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275089" y="184768"/>
            <a:ext cx="2396625" cy="622056"/>
          </a:xfrm>
          <a:prstGeom prst="rect">
            <a:avLst/>
          </a:prstGeom>
        </p:spPr>
      </p:pic>
      <p:pic>
        <p:nvPicPr>
          <p:cNvPr id="431" name="图片 1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flipH="1">
            <a:off x="-19106" y="4777496"/>
            <a:ext cx="12301928" cy="21067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文本框 128"/>
          <p:cNvSpPr txBox="1"/>
          <p:nvPr/>
        </p:nvSpPr>
        <p:spPr>
          <a:xfrm>
            <a:off x="6654268" y="1376989"/>
            <a:ext cx="3845378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总体情况概述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4" name="文本框 131"/>
          <p:cNvSpPr txBox="1"/>
          <p:nvPr/>
        </p:nvSpPr>
        <p:spPr>
          <a:xfrm>
            <a:off x="6654268" y="2381939"/>
            <a:ext cx="3059103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片区问题汇总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5" name="文本框 134"/>
          <p:cNvSpPr txBox="1"/>
          <p:nvPr/>
        </p:nvSpPr>
        <p:spPr>
          <a:xfrm>
            <a:off x="6654268" y="3361113"/>
            <a:ext cx="3059103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重点问题分析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6" name="文本框 137"/>
          <p:cNvSpPr txBox="1"/>
          <p:nvPr/>
        </p:nvSpPr>
        <p:spPr>
          <a:xfrm>
            <a:off x="6654268" y="4366061"/>
            <a:ext cx="3059103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具体问题分析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7" name="文本框 140"/>
          <p:cNvSpPr txBox="1"/>
          <p:nvPr/>
        </p:nvSpPr>
        <p:spPr>
          <a:xfrm>
            <a:off x="6654268" y="5364603"/>
            <a:ext cx="3845378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检查结果分析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38" name="组合 490"/>
          <p:cNvGrpSpPr/>
          <p:nvPr/>
        </p:nvGrpSpPr>
        <p:grpSpPr>
          <a:xfrm>
            <a:off x="1160518" y="1234970"/>
            <a:ext cx="5074105" cy="4481387"/>
            <a:chOff x="1160518" y="1234970"/>
            <a:chExt cx="5074105" cy="4481387"/>
          </a:xfrm>
        </p:grpSpPr>
        <p:sp>
          <p:nvSpPr>
            <p:cNvPr id="439" name="任意多边形 58"/>
            <p:cNvSpPr/>
            <p:nvPr/>
          </p:nvSpPr>
          <p:spPr>
            <a:xfrm>
              <a:off x="2420885" y="1573489"/>
              <a:ext cx="2071341" cy="4142868"/>
            </a:xfrm>
            <a:custGeom>
              <a:avLst/>
              <a:gdLst>
                <a:gd name="connsiteX0" fmla="*/ 0 w 2468160"/>
                <a:gd name="connsiteY0" fmla="*/ 0 h 4937688"/>
                <a:gd name="connsiteX1" fmla="*/ 251709 w 2468160"/>
                <a:gd name="connsiteY1" fmla="*/ 12711 h 4937688"/>
                <a:gd name="connsiteX2" fmla="*/ 2468160 w 2468160"/>
                <a:gd name="connsiteY2" fmla="*/ 2468844 h 4937688"/>
                <a:gd name="connsiteX3" fmla="*/ 251709 w 2468160"/>
                <a:gd name="connsiteY3" fmla="*/ 4924978 h 4937688"/>
                <a:gd name="connsiteX4" fmla="*/ 0 w 2468160"/>
                <a:gd name="connsiteY4" fmla="*/ 4937688 h 4937688"/>
                <a:gd name="connsiteX5" fmla="*/ 0 w 2468160"/>
                <a:gd name="connsiteY5" fmla="*/ 4688120 h 4937688"/>
                <a:gd name="connsiteX6" fmla="*/ 226192 w 2468160"/>
                <a:gd name="connsiteY6" fmla="*/ 4676698 h 4937688"/>
                <a:gd name="connsiteX7" fmla="*/ 2218592 w 2468160"/>
                <a:gd name="connsiteY7" fmla="*/ 2468844 h 4937688"/>
                <a:gd name="connsiteX8" fmla="*/ 226192 w 2468160"/>
                <a:gd name="connsiteY8" fmla="*/ 260990 h 4937688"/>
                <a:gd name="connsiteX9" fmla="*/ 0 w 2468160"/>
                <a:gd name="connsiteY9" fmla="*/ 249569 h 4937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8160" h="4937688">
                  <a:moveTo>
                    <a:pt x="0" y="0"/>
                  </a:moveTo>
                  <a:lnTo>
                    <a:pt x="251709" y="12711"/>
                  </a:lnTo>
                  <a:cubicBezTo>
                    <a:pt x="1496657" y="139142"/>
                    <a:pt x="2468160" y="1190539"/>
                    <a:pt x="2468160" y="2468844"/>
                  </a:cubicBezTo>
                  <a:cubicBezTo>
                    <a:pt x="2468160" y="3747149"/>
                    <a:pt x="1496657" y="4798546"/>
                    <a:pt x="251709" y="4924978"/>
                  </a:cubicBezTo>
                  <a:lnTo>
                    <a:pt x="0" y="4937688"/>
                  </a:lnTo>
                  <a:lnTo>
                    <a:pt x="0" y="4688120"/>
                  </a:lnTo>
                  <a:lnTo>
                    <a:pt x="226192" y="4676698"/>
                  </a:lnTo>
                  <a:cubicBezTo>
                    <a:pt x="1345293" y="4563047"/>
                    <a:pt x="2218592" y="3617931"/>
                    <a:pt x="2218592" y="2468844"/>
                  </a:cubicBezTo>
                  <a:cubicBezTo>
                    <a:pt x="2218592" y="1319758"/>
                    <a:pt x="1345293" y="374641"/>
                    <a:pt x="226192" y="260990"/>
                  </a:cubicBezTo>
                  <a:lnTo>
                    <a:pt x="0" y="24956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76200" dist="381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440" name="组合 122"/>
            <p:cNvGrpSpPr/>
            <p:nvPr/>
          </p:nvGrpSpPr>
          <p:grpSpPr>
            <a:xfrm>
              <a:off x="3122912" y="1612979"/>
              <a:ext cx="3111711" cy="4096567"/>
              <a:chOff x="3122523" y="1778076"/>
              <a:chExt cx="3112116" cy="4096567"/>
            </a:xfrm>
          </p:grpSpPr>
          <p:grpSp>
            <p:nvGrpSpPr>
              <p:cNvPr id="441" name="组合 123"/>
              <p:cNvGrpSpPr/>
              <p:nvPr/>
            </p:nvGrpSpPr>
            <p:grpSpPr>
              <a:xfrm>
                <a:off x="3122523" y="1778076"/>
                <a:ext cx="3112116" cy="109678"/>
                <a:chOff x="3904783" y="1674310"/>
                <a:chExt cx="3519256" cy="109703"/>
              </a:xfrm>
            </p:grpSpPr>
            <p:cxnSp>
              <p:nvCxnSpPr>
                <p:cNvPr id="442" name="直接连接符 136"/>
                <p:cNvCxnSpPr/>
                <p:nvPr/>
              </p:nvCxnSpPr>
              <p:spPr>
                <a:xfrm flipV="1">
                  <a:off x="3904783" y="1718973"/>
                  <a:ext cx="3402797" cy="10188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3" name="椭圆 137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44" name="组合 124"/>
              <p:cNvGrpSpPr/>
              <p:nvPr/>
            </p:nvGrpSpPr>
            <p:grpSpPr>
              <a:xfrm>
                <a:off x="4223180" y="2774798"/>
                <a:ext cx="2011459" cy="109678"/>
                <a:chOff x="5149433" y="1674310"/>
                <a:chExt cx="2274606" cy="109703"/>
              </a:xfrm>
            </p:grpSpPr>
            <p:cxnSp>
              <p:nvCxnSpPr>
                <p:cNvPr id="445" name="直接连接符 134"/>
                <p:cNvCxnSpPr/>
                <p:nvPr/>
              </p:nvCxnSpPr>
              <p:spPr>
                <a:xfrm flipV="1">
                  <a:off x="5149433" y="1718973"/>
                  <a:ext cx="2158147" cy="6462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6" name="椭圆 135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47" name="组合 125"/>
              <p:cNvGrpSpPr/>
              <p:nvPr/>
            </p:nvGrpSpPr>
            <p:grpSpPr>
              <a:xfrm>
                <a:off x="4627088" y="3771519"/>
                <a:ext cx="1607551" cy="109678"/>
                <a:chOff x="5606181" y="1674310"/>
                <a:chExt cx="1817858" cy="109703"/>
              </a:xfrm>
            </p:grpSpPr>
            <p:cxnSp>
              <p:nvCxnSpPr>
                <p:cNvPr id="448" name="直接连接符 132"/>
                <p:cNvCxnSpPr/>
                <p:nvPr/>
              </p:nvCxnSpPr>
              <p:spPr>
                <a:xfrm flipV="1">
                  <a:off x="5606181" y="1718973"/>
                  <a:ext cx="1701399" cy="5094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9" name="椭圆 133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50" name="组合 126"/>
              <p:cNvGrpSpPr/>
              <p:nvPr/>
            </p:nvGrpSpPr>
            <p:grpSpPr>
              <a:xfrm>
                <a:off x="4255273" y="4768198"/>
                <a:ext cx="1979366" cy="109677"/>
                <a:chOff x="5185725" y="1674310"/>
                <a:chExt cx="2238314" cy="109703"/>
              </a:xfrm>
            </p:grpSpPr>
            <p:cxnSp>
              <p:nvCxnSpPr>
                <p:cNvPr id="451" name="直接连接符 130"/>
                <p:cNvCxnSpPr/>
                <p:nvPr/>
              </p:nvCxnSpPr>
              <p:spPr>
                <a:xfrm>
                  <a:off x="5185725" y="1718973"/>
                  <a:ext cx="2121855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2" name="椭圆 131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53" name="组合 127"/>
              <p:cNvGrpSpPr/>
              <p:nvPr/>
            </p:nvGrpSpPr>
            <p:grpSpPr>
              <a:xfrm>
                <a:off x="3163868" y="5764965"/>
                <a:ext cx="3070746" cy="109678"/>
                <a:chOff x="3951573" y="1674310"/>
                <a:chExt cx="3472466" cy="109703"/>
              </a:xfrm>
            </p:grpSpPr>
            <p:cxnSp>
              <p:nvCxnSpPr>
                <p:cNvPr id="454" name="直接连接符 128"/>
                <p:cNvCxnSpPr/>
                <p:nvPr/>
              </p:nvCxnSpPr>
              <p:spPr>
                <a:xfrm flipV="1">
                  <a:off x="3951573" y="1726686"/>
                  <a:ext cx="3402798" cy="10188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5" name="椭圆 129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456" name="组合 138"/>
            <p:cNvGrpSpPr/>
            <p:nvPr/>
          </p:nvGrpSpPr>
          <p:grpSpPr>
            <a:xfrm>
              <a:off x="2318470" y="1234970"/>
              <a:ext cx="1170467" cy="1295259"/>
              <a:chOff x="1925849" y="1414909"/>
              <a:chExt cx="1170465" cy="1295559"/>
            </a:xfrm>
          </p:grpSpPr>
          <p:grpSp>
            <p:nvGrpSpPr>
              <p:cNvPr id="457" name="组合 139"/>
              <p:cNvGrpSpPr/>
              <p:nvPr/>
            </p:nvGrpSpPr>
            <p:grpSpPr>
              <a:xfrm>
                <a:off x="1982184" y="1414909"/>
                <a:ext cx="1114132" cy="1295559"/>
                <a:chOff x="3295850" y="2065379"/>
                <a:chExt cx="3592274" cy="4177307"/>
              </a:xfrm>
            </p:grpSpPr>
            <p:sp>
              <p:nvSpPr>
                <p:cNvPr id="458" name="圆角矩形 141"/>
                <p:cNvSpPr/>
                <p:nvPr/>
              </p:nvSpPr>
              <p:spPr>
                <a:xfrm rot="2760000">
                  <a:off x="3283362" y="2637924"/>
                  <a:ext cx="4177307" cy="3032217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/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1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59" name="Freeform 5"/>
                <p:cNvSpPr/>
                <p:nvPr/>
              </p:nvSpPr>
              <p:spPr bwMode="auto">
                <a:xfrm rot="10800000">
                  <a:off x="3295850" y="2263220"/>
                  <a:ext cx="2643765" cy="2343151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203200" dist="63500" dir="2700000" algn="tl" rotWithShape="0">
                    <a:prstClr val="black">
                      <a:alpha val="32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0" name="圆角矩形 143"/>
                <p:cNvSpPr/>
                <p:nvPr/>
              </p:nvSpPr>
              <p:spPr>
                <a:xfrm rot="2760000">
                  <a:off x="3499201" y="2940762"/>
                  <a:ext cx="3639373" cy="2369532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>
                        <a:alpha val="66000"/>
                      </a:schemeClr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1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1" name="Freeform 5"/>
                <p:cNvSpPr/>
                <p:nvPr/>
              </p:nvSpPr>
              <p:spPr bwMode="auto">
                <a:xfrm rot="10800000">
                  <a:off x="3589408" y="2523401"/>
                  <a:ext cx="2056648" cy="182279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60000">
                      <a:srgbClr val="ECECEC"/>
                    </a:gs>
                    <a:gs pos="100000">
                      <a:srgbClr val="D1D1D1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152400" dist="38100" dir="2700000" algn="tl" rotWithShape="0">
                    <a:prstClr val="black">
                      <a:alpha val="33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62" name="文本框 88"/>
              <p:cNvSpPr txBox="1"/>
              <p:nvPr/>
            </p:nvSpPr>
            <p:spPr>
              <a:xfrm>
                <a:off x="1925850" y="1530507"/>
                <a:ext cx="876300" cy="523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accent1"/>
                    </a:solidFill>
                    <a:latin typeface="Noto Sans CJK SC" panose="020B0806030902050204" pitchFamily="34" charset="0"/>
                    <a:ea typeface="Noto Sans CJK SC" panose="020B0503020204020204" charset="-122"/>
                    <a:cs typeface="Noto Sans CJK SC"/>
                  </a:rPr>
                  <a:t>01</a:t>
                </a:r>
                <a:endParaRPr lang="zh-CN" altLang="en-US" sz="2800" dirty="0">
                  <a:solidFill>
                    <a:schemeClr val="accent1"/>
                  </a:solidFill>
                  <a:latin typeface="Impact" panose="020B080603090205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63" name="组合 152"/>
            <p:cNvGrpSpPr/>
            <p:nvPr/>
          </p:nvGrpSpPr>
          <p:grpSpPr>
            <a:xfrm>
              <a:off x="3500873" y="4228122"/>
              <a:ext cx="1160866" cy="1295259"/>
              <a:chOff x="3108250" y="4408754"/>
              <a:chExt cx="1160866" cy="1295559"/>
            </a:xfrm>
          </p:grpSpPr>
          <p:grpSp>
            <p:nvGrpSpPr>
              <p:cNvPr id="464" name="组合 153"/>
              <p:cNvGrpSpPr/>
              <p:nvPr/>
            </p:nvGrpSpPr>
            <p:grpSpPr>
              <a:xfrm>
                <a:off x="3154984" y="4408754"/>
                <a:ext cx="1114132" cy="1295559"/>
                <a:chOff x="3295850" y="2065379"/>
                <a:chExt cx="3592274" cy="4177307"/>
              </a:xfrm>
            </p:grpSpPr>
            <p:sp>
              <p:nvSpPr>
                <p:cNvPr id="465" name="圆角矩形 155"/>
                <p:cNvSpPr/>
                <p:nvPr/>
              </p:nvSpPr>
              <p:spPr>
                <a:xfrm rot="2760000">
                  <a:off x="3283362" y="2637924"/>
                  <a:ext cx="4177307" cy="3032217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/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4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6" name="Freeform 5"/>
                <p:cNvSpPr/>
                <p:nvPr/>
              </p:nvSpPr>
              <p:spPr bwMode="auto">
                <a:xfrm rot="10800000">
                  <a:off x="3295850" y="2263222"/>
                  <a:ext cx="2643765" cy="2343151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203200" dist="63500" dir="2700000" algn="tl" rotWithShape="0">
                    <a:prstClr val="black">
                      <a:alpha val="32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4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7" name="圆角矩形 157"/>
                <p:cNvSpPr/>
                <p:nvPr/>
              </p:nvSpPr>
              <p:spPr>
                <a:xfrm rot="2760000">
                  <a:off x="3499201" y="2940762"/>
                  <a:ext cx="3639373" cy="2369532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>
                        <a:alpha val="66000"/>
                      </a:schemeClr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4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8" name="Freeform 5"/>
                <p:cNvSpPr/>
                <p:nvPr/>
              </p:nvSpPr>
              <p:spPr bwMode="auto">
                <a:xfrm rot="10800000">
                  <a:off x="3589408" y="2523401"/>
                  <a:ext cx="2056648" cy="182279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60000">
                      <a:srgbClr val="ECECEC"/>
                    </a:gs>
                    <a:gs pos="100000">
                      <a:srgbClr val="D1D1D1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152400" dist="38100" dir="2700000" algn="tl" rotWithShape="0">
                    <a:prstClr val="black">
                      <a:alpha val="33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4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69" name="文本框 90"/>
              <p:cNvSpPr txBox="1"/>
              <p:nvPr/>
            </p:nvSpPr>
            <p:spPr>
              <a:xfrm>
                <a:off x="3108250" y="4513150"/>
                <a:ext cx="876301" cy="523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accent4"/>
                    </a:solidFill>
                    <a:latin typeface="Noto Sans CJK SC" panose="020B0806030902050204" pitchFamily="34" charset="0"/>
                    <a:ea typeface="Noto Sans CJK SC" panose="020B0503020204020204" charset="-122"/>
                    <a:cs typeface="Noto Sans CJK SC"/>
                  </a:rPr>
                  <a:t>04</a:t>
                </a:r>
                <a:endParaRPr lang="zh-CN" altLang="en-US" sz="2800" dirty="0">
                  <a:solidFill>
                    <a:schemeClr val="accent4"/>
                  </a:solidFill>
                  <a:latin typeface="Impact" panose="020B080603090205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70" name="组合 159"/>
            <p:cNvGrpSpPr/>
            <p:nvPr/>
          </p:nvGrpSpPr>
          <p:grpSpPr>
            <a:xfrm>
              <a:off x="3515246" y="2225494"/>
              <a:ext cx="1127943" cy="1295259"/>
              <a:chOff x="3122624" y="2405662"/>
              <a:chExt cx="1127942" cy="1295559"/>
            </a:xfrm>
          </p:grpSpPr>
          <p:grpSp>
            <p:nvGrpSpPr>
              <p:cNvPr id="471" name="组合 160"/>
              <p:cNvGrpSpPr/>
              <p:nvPr/>
            </p:nvGrpSpPr>
            <p:grpSpPr>
              <a:xfrm>
                <a:off x="3136435" y="2405662"/>
                <a:ext cx="1114132" cy="1295559"/>
                <a:chOff x="3295850" y="2065379"/>
                <a:chExt cx="3592274" cy="4177307"/>
              </a:xfrm>
            </p:grpSpPr>
            <p:sp>
              <p:nvSpPr>
                <p:cNvPr id="472" name="圆角矩形 162"/>
                <p:cNvSpPr/>
                <p:nvPr/>
              </p:nvSpPr>
              <p:spPr>
                <a:xfrm rot="2760000">
                  <a:off x="3283362" y="2637924"/>
                  <a:ext cx="4177307" cy="3032217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/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2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73" name="Freeform 5"/>
                <p:cNvSpPr/>
                <p:nvPr/>
              </p:nvSpPr>
              <p:spPr bwMode="auto">
                <a:xfrm rot="10800000">
                  <a:off x="3295850" y="2263222"/>
                  <a:ext cx="2643765" cy="2343151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203200" dist="63500" dir="2700000" algn="tl" rotWithShape="0">
                    <a:prstClr val="black">
                      <a:alpha val="32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2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74" name="圆角矩形 164"/>
                <p:cNvSpPr/>
                <p:nvPr/>
              </p:nvSpPr>
              <p:spPr>
                <a:xfrm rot="2760000">
                  <a:off x="3499201" y="2940762"/>
                  <a:ext cx="3639373" cy="2369532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>
                        <a:alpha val="66000"/>
                      </a:schemeClr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2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75" name="Freeform 5"/>
                <p:cNvSpPr/>
                <p:nvPr/>
              </p:nvSpPr>
              <p:spPr bwMode="auto">
                <a:xfrm rot="10800000">
                  <a:off x="3589408" y="2523401"/>
                  <a:ext cx="2056648" cy="182279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60000">
                      <a:srgbClr val="ECECEC"/>
                    </a:gs>
                    <a:gs pos="100000">
                      <a:srgbClr val="D1D1D1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152400" dist="38100" dir="2700000" algn="tl" rotWithShape="0">
                    <a:prstClr val="black">
                      <a:alpha val="33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2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76" name="文本框 91"/>
              <p:cNvSpPr txBox="1"/>
              <p:nvPr/>
            </p:nvSpPr>
            <p:spPr>
              <a:xfrm>
                <a:off x="3122624" y="2510697"/>
                <a:ext cx="876300" cy="647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accent2"/>
                    </a:solidFill>
                    <a:latin typeface="Noto Sans CJK SC" panose="020B0806030902050204" pitchFamily="34" charset="0"/>
                    <a:ea typeface="Noto Sans CJK SC" panose="020B0503020204020204" charset="-122"/>
                    <a:cs typeface="Noto Sans CJK SC"/>
                  </a:rPr>
                  <a:t>02</a:t>
                </a:r>
                <a:endParaRPr lang="zh-CN" altLang="en-US" sz="2800" dirty="0">
                  <a:solidFill>
                    <a:schemeClr val="accent2"/>
                  </a:solidFill>
                  <a:latin typeface="Impact" panose="020B080603090205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77" name="组合 166"/>
            <p:cNvGrpSpPr/>
            <p:nvPr/>
          </p:nvGrpSpPr>
          <p:grpSpPr>
            <a:xfrm>
              <a:off x="3953398" y="3213017"/>
              <a:ext cx="1154612" cy="1295259"/>
              <a:chOff x="3560774" y="3393414"/>
              <a:chExt cx="1154612" cy="1295559"/>
            </a:xfrm>
          </p:grpSpPr>
          <p:grpSp>
            <p:nvGrpSpPr>
              <p:cNvPr id="478" name="组合 167"/>
              <p:cNvGrpSpPr/>
              <p:nvPr/>
            </p:nvGrpSpPr>
            <p:grpSpPr>
              <a:xfrm>
                <a:off x="3601254" y="3393414"/>
                <a:ext cx="1114132" cy="1295559"/>
                <a:chOff x="3295850" y="2065379"/>
                <a:chExt cx="3592274" cy="4177307"/>
              </a:xfrm>
            </p:grpSpPr>
            <p:sp>
              <p:nvSpPr>
                <p:cNvPr id="479" name="圆角矩形 169"/>
                <p:cNvSpPr/>
                <p:nvPr/>
              </p:nvSpPr>
              <p:spPr>
                <a:xfrm rot="2760000">
                  <a:off x="3283362" y="2637924"/>
                  <a:ext cx="4177307" cy="3032217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/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3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80" name="Freeform 5"/>
                <p:cNvSpPr/>
                <p:nvPr/>
              </p:nvSpPr>
              <p:spPr bwMode="auto">
                <a:xfrm rot="10800000">
                  <a:off x="3295850" y="2263222"/>
                  <a:ext cx="2643765" cy="2343151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203200" dist="63500" dir="2700000" algn="tl" rotWithShape="0">
                    <a:prstClr val="black">
                      <a:alpha val="32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3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81" name="圆角矩形 171"/>
                <p:cNvSpPr/>
                <p:nvPr/>
              </p:nvSpPr>
              <p:spPr>
                <a:xfrm rot="2760000">
                  <a:off x="3499201" y="2940762"/>
                  <a:ext cx="3639373" cy="2369532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>
                        <a:alpha val="66000"/>
                      </a:schemeClr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3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82" name="Freeform 5"/>
                <p:cNvSpPr/>
                <p:nvPr/>
              </p:nvSpPr>
              <p:spPr bwMode="auto">
                <a:xfrm rot="10800000">
                  <a:off x="3589408" y="2523401"/>
                  <a:ext cx="2056648" cy="182279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60000">
                      <a:srgbClr val="ECECEC"/>
                    </a:gs>
                    <a:gs pos="100000">
                      <a:srgbClr val="D1D1D1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152400" dist="38100" dir="2700000" algn="tl" rotWithShape="0">
                    <a:prstClr val="black">
                      <a:alpha val="33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3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83" name="文本框 92"/>
              <p:cNvSpPr txBox="1"/>
              <p:nvPr/>
            </p:nvSpPr>
            <p:spPr>
              <a:xfrm>
                <a:off x="3560774" y="3517853"/>
                <a:ext cx="876300" cy="523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accent3"/>
                    </a:solidFill>
                    <a:latin typeface="Noto Sans CJK SC" panose="020B0806030902050204" pitchFamily="34" charset="0"/>
                    <a:ea typeface="Noto Sans CJK SC" panose="020B0503020204020204" charset="-122"/>
                    <a:cs typeface="Noto Sans CJK SC"/>
                  </a:rPr>
                  <a:t>03</a:t>
                </a:r>
                <a:endParaRPr lang="zh-CN" altLang="en-US" sz="2800" dirty="0">
                  <a:solidFill>
                    <a:schemeClr val="accent3"/>
                  </a:solidFill>
                  <a:latin typeface="Impact" panose="020B080603090205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84" name="组合 173"/>
            <p:cNvGrpSpPr/>
            <p:nvPr/>
          </p:nvGrpSpPr>
          <p:grpSpPr>
            <a:xfrm>
              <a:off x="1160518" y="2695742"/>
              <a:ext cx="2142438" cy="1898362"/>
              <a:chOff x="1082221" y="2876021"/>
              <a:chExt cx="2142438" cy="1898802"/>
            </a:xfrm>
          </p:grpSpPr>
          <p:sp>
            <p:nvSpPr>
              <p:cNvPr id="485" name="Freeform 5"/>
              <p:cNvSpPr/>
              <p:nvPr/>
            </p:nvSpPr>
            <p:spPr bwMode="auto">
              <a:xfrm rot="10800000">
                <a:off x="1082221" y="2876021"/>
                <a:ext cx="2142438" cy="189880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254000" dist="114300" dir="2700000" algn="tl" rotWithShape="0">
                  <a:prstClr val="black">
                    <a:alpha val="32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86" name="文本框 116"/>
              <p:cNvSpPr txBox="1"/>
              <p:nvPr/>
            </p:nvSpPr>
            <p:spPr>
              <a:xfrm>
                <a:off x="1228367" y="3371075"/>
                <a:ext cx="1797050" cy="882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sz="4000" b="1">
                    <a:solidFill>
                      <a:schemeClr val="accent1">
                        <a:alpha val="100000"/>
                      </a:schemeClr>
                    </a:solidFill>
                    <a:effectLst>
                      <a:innerShdw blurRad="38100" dist="50800" dir="13500000">
                        <a:srgbClr val="000000">
                          <a:alpha val="60000"/>
                        </a:srgbClr>
                      </a:innerShdw>
                    </a:effectLst>
                    <a:latin typeface="Noto Sans CJK SC" panose="020B0503020204020204" charset="-122"/>
                    <a:ea typeface="Noto Sans CJK SC" panose="020B0503020204020204" charset="-122"/>
                    <a:cs typeface="Noto Sans CJK SC"/>
                  </a:rPr>
                  <a:t>目录</a:t>
                </a:r>
                <a:endParaRPr lang="zh-CN" sz="4000" b="1">
                  <a:solidFill>
                    <a:schemeClr val="accent1">
                      <a:alpha val="100000"/>
                    </a:schemeClr>
                  </a:solidFill>
                  <a:effectLst>
                    <a:innerShdw blurRad="38100" dist="50800" dir="13500000">
                      <a:srgbClr val="000000">
                        <a:alpha val="60000"/>
                      </a:srgbClr>
                    </a:inn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487" name="组合 145"/>
          <p:cNvGrpSpPr/>
          <p:nvPr/>
        </p:nvGrpSpPr>
        <p:grpSpPr>
          <a:xfrm>
            <a:off x="2231715" y="5321829"/>
            <a:ext cx="1153132" cy="1295259"/>
            <a:chOff x="1915341" y="5398225"/>
            <a:chExt cx="1153132" cy="1295559"/>
          </a:xfrm>
        </p:grpSpPr>
        <p:grpSp>
          <p:nvGrpSpPr>
            <p:cNvPr id="488" name="组合 146"/>
            <p:cNvGrpSpPr/>
            <p:nvPr/>
          </p:nvGrpSpPr>
          <p:grpSpPr>
            <a:xfrm>
              <a:off x="1954341" y="5398225"/>
              <a:ext cx="1114132" cy="1295559"/>
              <a:chOff x="3295850" y="2065379"/>
              <a:chExt cx="3592274" cy="4177307"/>
            </a:xfrm>
          </p:grpSpPr>
          <p:sp>
            <p:nvSpPr>
              <p:cNvPr id="489" name="圆角矩形 148"/>
              <p:cNvSpPr/>
              <p:nvPr/>
            </p:nvSpPr>
            <p:spPr>
              <a:xfrm rot="2760000">
                <a:off x="3283362" y="2637924"/>
                <a:ext cx="4177307" cy="3032217"/>
              </a:xfrm>
              <a:prstGeom prst="roundRect">
                <a:avLst>
                  <a:gd name="adj" fmla="val 47577"/>
                </a:avLst>
              </a:prstGeom>
              <a:gradFill>
                <a:gsLst>
                  <a:gs pos="0">
                    <a:schemeClr val="tx1"/>
                  </a:gs>
                  <a:gs pos="100000">
                    <a:srgbClr val="E8E8E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635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1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90" name="Freeform 5"/>
              <p:cNvSpPr/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203200" dist="63500" dir="2700000" algn="tl" rotWithShape="0">
                  <a:prstClr val="black">
                    <a:alpha val="32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91" name="圆角矩形 150"/>
              <p:cNvSpPr/>
              <p:nvPr/>
            </p:nvSpPr>
            <p:spPr>
              <a:xfrm rot="2760000">
                <a:off x="3499201" y="2940762"/>
                <a:ext cx="3639373" cy="2369532"/>
              </a:xfrm>
              <a:prstGeom prst="roundRect">
                <a:avLst>
                  <a:gd name="adj" fmla="val 47577"/>
                </a:avLst>
              </a:prstGeom>
              <a:gradFill>
                <a:gsLst>
                  <a:gs pos="0">
                    <a:schemeClr val="tx1">
                      <a:alpha val="66000"/>
                    </a:schemeClr>
                  </a:gs>
                  <a:gs pos="100000">
                    <a:srgbClr val="E8E8E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635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1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92" name="Freeform 5"/>
              <p:cNvSpPr/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60000">
                    <a:srgbClr val="ECECEC"/>
                  </a:gs>
                  <a:gs pos="100000">
                    <a:srgbClr val="D1D1D1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152400" dist="38100" dir="2700000" algn="tl" rotWithShape="0">
                  <a:prstClr val="black">
                    <a:alpha val="33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  <a:ea typeface="微软雅黑" panose="020B0503020204020204" charset="-122"/>
                </a:endParaRPr>
              </a:p>
            </p:txBody>
          </p:sp>
        </p:grpSp>
        <p:sp>
          <p:nvSpPr>
            <p:cNvPr id="493" name="文本框 89"/>
            <p:cNvSpPr txBox="1"/>
            <p:nvPr/>
          </p:nvSpPr>
          <p:spPr>
            <a:xfrm>
              <a:off x="1915341" y="5483062"/>
              <a:ext cx="876300" cy="5233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accent1"/>
                  </a:solidFill>
                  <a:latin typeface="Noto Sans CJK SC" panose="020B0806030902050204" pitchFamily="34" charset="0"/>
                  <a:ea typeface="Noto Sans CJK SC" panose="020B0503020204020204" charset="-122"/>
                  <a:cs typeface="Noto Sans CJK SC"/>
                </a:rPr>
                <a:t>05</a:t>
              </a:r>
              <a:endParaRPr lang="zh-CN" altLang="en-US" sz="2800" dirty="0">
                <a:solidFill>
                  <a:schemeClr val="accent1"/>
                </a:solidFill>
                <a:latin typeface="Impact" panose="020B0806030902050204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49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>
                <a:latin typeface="Noto Sans CJK SC"/>
                <a:ea typeface="Noto Sans CJK SC"/>
                <a:cs typeface="Noto Sans CJK SC"/>
              </a:rPr>
              <a:t>中国石油上海销售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3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PA-矩形 3"/>
          <p:cNvSpPr/>
          <p:nvPr/>
        </p:nvSpPr>
        <p:spPr>
          <a:xfrm>
            <a:off x="2212646" y="2494193"/>
            <a:ext cx="1739900" cy="157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01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总体情况概述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>
                <a:latin typeface="Noto Sans CJK SC"/>
                <a:ea typeface="Noto Sans CJK SC"/>
                <a:cs typeface="Noto Sans CJK SC"/>
              </a:rPr>
              <a:t>一、总体情况概述</a:t>
            </a:r>
            <a:endParaRPr lang="zh-CN"/>
          </a:p>
        </p:txBody>
      </p:sp>
      <p:sp>
        <p:nvSpPr>
          <p:cNvPr id="11" name="文本框 2"/>
          <p:cNvSpPr txBox="1"/>
          <p:nvPr/>
        </p:nvSpPr>
        <p:spPr>
          <a:xfrm>
            <a:off x="1164067" y="1143847"/>
            <a:ext cx="9879965" cy="862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上期暂无待整改问题。</a:t>
            </a:r>
            <a:endParaRPr lang="en-US" b="1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0" y="1901952"/>
            <a:ext cx="99212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latin typeface="Noto Sans CJK SC"/>
                <a:ea typeface="Noto Sans CJK SC"/>
                <a:cs typeface="Noto Sans CJK SC"/>
              </a:rPr>
              <a:t>各片区待验收与待整改问题数量分布</a:t>
            </a:r>
          </a:p>
          <a:p>
            <a:pPr algn="ctr"/>
            <a:r>
              <a:rPr sz="1800">
                <a:latin typeface="Noto Sans CJK SC"/>
                <a:ea typeface="Noto Sans CJK SC"/>
                <a:cs typeface="Noto Sans CJK SC"/>
              </a:rPr>
              <a:t>当前范围暂无数据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>
                <a:latin typeface="Noto Sans CJK SC"/>
                <a:ea typeface="Noto Sans CJK SC"/>
                <a:cs typeface="Noto Sans CJK SC"/>
              </a:rPr>
              <a:t>一、总体情况概述</a:t>
            </a:r>
            <a:endParaRPr lang="zh-CN"/>
          </a:p>
        </p:txBody>
      </p:sp>
      <p:sp>
        <p:nvSpPr>
          <p:cNvPr id="15" name="文本框 766"/>
          <p:cNvSpPr txBox="1"/>
          <p:nvPr/>
        </p:nvSpPr>
        <p:spPr>
          <a:xfrm>
            <a:off x="781050" y="993739"/>
            <a:ext cx="10902950" cy="729487"/>
          </a:xfrm>
          <a:prstGeom prst="rect">
            <a:avLst/>
          </a:prstGeom>
          <a:ln w="12700">
            <a:prstDash val="solid"/>
          </a:ln>
        </p:spPr>
        <p:txBody>
          <a:bodyPr wrap="square" tIns="36576" bIns="36576">
            <a:spAutoFit/>
          </a:bodyPr>
          <a:lstStyle/>
          <a:p>
            <a:pPr marL="0" lvl="0" algn="l" defTabSz="914400">
              <a:lnSpc>
                <a:spcPct val="115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巡检期间：</a:t>
            </a:r>
            <a:r>
              <a:rPr sz="2000" b="0">
                <a:latin typeface="Noto Sans CJK SC"/>
                <a:ea typeface="Noto Sans CJK SC"/>
                <a:cs typeface="Noto Sans CJK SC"/>
              </a:rPr>
              <a:t>7月巡检，2026年7月1日-2026年7月31日</a:t>
            </a:r>
            <a:endParaRPr sz="200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algn="l">
              <a:lnSpc>
                <a:spcPct val="115000"/>
              </a:lnSpc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巡检范围：</a:t>
            </a:r>
            <a:r>
              <a:rPr sz="2000" b="0">
                <a:latin typeface="Noto Sans CJK SC"/>
                <a:ea typeface="Noto Sans CJK SC"/>
                <a:cs typeface="Noto Sans CJK SC"/>
              </a:rPr>
              <a:t>7月非油现场抽检2座站点，涉及1个管理片区。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1249045" y="1814666"/>
          <a:ext cx="9528175" cy="4842166"/>
        </p:xfrm>
        <a:graphic>
          <a:graphicData uri="http://schemas.openxmlformats.org/drawingml/2006/table">
            <a:tbl>
              <a:tblPr/>
              <a:tblGrid>
                <a:gridCol w="937895"/>
                <a:gridCol w="1104900"/>
                <a:gridCol w="1283970"/>
                <a:gridCol w="6201410"/>
              </a:tblGrid>
              <a:tr h="43891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序号</a:t>
                      </a:r>
                      <a:endParaRPr sz="14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所属片区</a:t>
                      </a:r>
                      <a:endParaRPr sz="14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站点数量</a:t>
                      </a:r>
                      <a:endParaRPr sz="14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站点</a:t>
                      </a:r>
                      <a:endParaRPr sz="14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4403254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浦东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测试一站、测试二站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>
                <a:latin typeface="Noto Sans CJK SC"/>
                <a:ea typeface="Noto Sans CJK SC"/>
                <a:cs typeface="Noto Sans CJK SC"/>
              </a:rPr>
              <a:t>一、总体情况概述</a:t>
            </a:r>
            <a:endParaRPr lang="zh-CN"/>
          </a:p>
        </p:txBody>
      </p:sp>
      <p:sp>
        <p:nvSpPr>
          <p:cNvPr id="19" name="文本框 864"/>
          <p:cNvSpPr txBox="1"/>
          <p:nvPr/>
        </p:nvSpPr>
        <p:spPr>
          <a:xfrm>
            <a:off x="1060450" y="993739"/>
            <a:ext cx="11029950" cy="45085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1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检查共发现5项问题，其中，各区问题数量如下：</a:t>
            </a:r>
            <a:endParaRPr sz="160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0" name="表格 19"/>
          <p:cNvGraphicFramePr/>
          <p:nvPr/>
        </p:nvGraphicFramePr>
        <p:xfrm>
          <a:off x="1164067" y="1444589"/>
          <a:ext cx="9643533" cy="5187950"/>
        </p:xfrm>
        <a:graphic>
          <a:graphicData uri="http://schemas.openxmlformats.org/drawingml/2006/table">
            <a:tbl>
              <a:tblPr/>
              <a:tblGrid>
                <a:gridCol w="596507"/>
                <a:gridCol w="888547"/>
                <a:gridCol w="845052"/>
                <a:gridCol w="907188"/>
                <a:gridCol w="869906"/>
                <a:gridCol w="5536333"/>
              </a:tblGrid>
              <a:tr h="43891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序号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所属片区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站点数量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片区问题总项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站平均问题数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站点问题数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474903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浦东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2.5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测试一站（3）、测试二站（2）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>
                <a:latin typeface="Noto Sans CJK SC"/>
                <a:ea typeface="Noto Sans CJK SC"/>
                <a:cs typeface="Noto Sans CJK SC"/>
              </a:rPr>
              <a:t>一、总体情况概述</a:t>
            </a:r>
            <a:endParaRPr lang="zh-CN"/>
          </a:p>
        </p:txBody>
      </p:sp>
      <p:sp>
        <p:nvSpPr>
          <p:cNvPr id="23" name="文本框 987"/>
          <p:cNvSpPr txBox="1"/>
          <p:nvPr/>
        </p:nvSpPr>
        <p:spPr>
          <a:xfrm>
            <a:off x="3530600" y="1839151"/>
            <a:ext cx="5130800" cy="5651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400" b="1" i="0" u="none" strike="noStrike">
                <a:solidFill>
                  <a:srgbClr val="000000">
                    <a:alpha val="100000"/>
                  </a:srgbClr>
                </a:solidFill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本月巡检便利店优秀陈列与运营全景</a:t>
            </a:r>
            <a:endParaRPr sz="1800">
              <a:solidFill>
                <a:schemeClr val="tx1">
                  <a:alpha val="100000"/>
                </a:schemeClr>
              </a:solidFill>
              <a:latin typeface="Arial" panose="020B0604020202090204"/>
              <a:ea typeface="微软雅黑" panose="020B0503020204020204" charset="-122"/>
            </a:endParaRPr>
          </a:p>
        </p:txBody>
      </p:sp>
      <p:sp>
        <p:nvSpPr>
          <p:cNvPr id="24" name="文本框 988"/>
          <p:cNvSpPr txBox="1"/>
          <p:nvPr/>
        </p:nvSpPr>
        <p:spPr>
          <a:xfrm>
            <a:off x="1699251" y="5372523"/>
            <a:ext cx="1454784" cy="488949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龚路加油站</a:t>
            </a:r>
            <a:endParaRPr lang="zh-CN" sz="2000" b="0" i="0" u="none" strike="noStrike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25" name="文本框 989"/>
          <p:cNvSpPr txBox="1"/>
          <p:nvPr/>
        </p:nvSpPr>
        <p:spPr>
          <a:xfrm>
            <a:off x="5370830" y="5372735"/>
            <a:ext cx="1781810" cy="49149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四岔口加油站</a:t>
            </a:r>
            <a:endParaRPr lang="zh-CN" sz="2000" b="0" i="0" u="none" strike="noStrike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26" name="文本框 990"/>
          <p:cNvSpPr txBox="1"/>
          <p:nvPr/>
        </p:nvSpPr>
        <p:spPr>
          <a:xfrm>
            <a:off x="9320366" y="5372523"/>
            <a:ext cx="1454784" cy="48895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上中加油站</a:t>
            </a:r>
            <a:endParaRPr lang="zh-CN" sz="2000" b="0" i="0" u="none" strike="noStrike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rcRect t="14443" r="14745"/>
          <a:stretch>
            <a:fillRect/>
          </a:stretch>
        </p:blipFill>
        <p:spPr>
          <a:xfrm>
            <a:off x="713316" y="2890240"/>
            <a:ext cx="3426651" cy="231959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807" y="2890240"/>
            <a:ext cx="3504515" cy="2311487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rcRect t="15828" r="7635"/>
          <a:stretch>
            <a:fillRect/>
          </a:stretch>
        </p:blipFill>
        <p:spPr>
          <a:xfrm>
            <a:off x="8306162" y="2890240"/>
            <a:ext cx="3538757" cy="2311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32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4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PA-矩形 3"/>
          <p:cNvSpPr/>
          <p:nvPr/>
        </p:nvSpPr>
        <p:spPr>
          <a:xfrm>
            <a:off x="2212646" y="2494193"/>
            <a:ext cx="1739900" cy="157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02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片区问题汇总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>
                <a:latin typeface="Noto Sans CJK SC"/>
                <a:ea typeface="Noto Sans CJK SC"/>
                <a:cs typeface="Noto Sans CJK SC"/>
              </a:rPr>
              <a:t>二、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Noto Sans CJK SC" panose="020B0A04020102020204"/>
                <a:ea typeface="Noto Sans CJK SC" panose="020B0503020204020204" charset="-122"/>
                <a:cs typeface="Noto Sans CJK SC"/>
              </a:rPr>
              <a:t>片区问题汇总</a:t>
            </a:r>
            <a:r>
              <a:rPr lang="en-US">
                <a:latin typeface="Noto Sans CJK SC"/>
                <a:ea typeface="Noto Sans CJK SC"/>
                <a:cs typeface="Noto Sans CJK SC"/>
              </a:rPr>
              <a:t>——</a:t>
            </a:r>
            <a:r>
              <a:rPr lang="zh-CN" altLang="en-US">
                <a:latin typeface="Noto Sans CJK SC"/>
                <a:ea typeface="Noto Sans CJK SC"/>
                <a:cs typeface="Noto Sans CJK SC"/>
              </a:rPr>
              <a:t>总体概况</a:t>
            </a:r>
            <a:endParaRPr lang="zh-CN" altLang="en-US"/>
          </a:p>
        </p:txBody>
      </p:sp>
      <p:grpSp>
        <p:nvGrpSpPr>
          <p:cNvPr id="40" name="组合 24"/>
          <p:cNvGrpSpPr/>
          <p:nvPr/>
        </p:nvGrpSpPr>
        <p:grpSpPr>
          <a:xfrm>
            <a:off x="7451852" y="1912509"/>
            <a:ext cx="2742543" cy="3673084"/>
            <a:chOff x="486495" y="1440651"/>
            <a:chExt cx="2057175" cy="2754813"/>
          </a:xfrm>
        </p:grpSpPr>
        <p:sp>
          <p:nvSpPr>
            <p:cNvPr id="41" name="圆角矩形 25"/>
            <p:cNvSpPr/>
            <p:nvPr/>
          </p:nvSpPr>
          <p:spPr>
            <a:xfrm>
              <a:off x="7451852" y="1912509"/>
              <a:ext cx="2742543" cy="3673084"/>
            </a:xfrm>
            <a:prstGeom prst="round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">
                  <a:schemeClr val="bg1"/>
                </a:gs>
                <a:gs pos="70000">
                  <a:schemeClr val="bg1">
                    <a:lumMod val="85000"/>
                  </a:schemeClr>
                </a:gs>
              </a:gsLst>
              <a:lin ang="8400000" scaled="0"/>
            </a:gradFill>
            <a:ln w="19050">
              <a:noFill/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圆角矩形 26"/>
            <p:cNvSpPr/>
            <p:nvPr/>
          </p:nvSpPr>
          <p:spPr>
            <a:xfrm>
              <a:off x="7522585" y="2007242"/>
              <a:ext cx="2601077" cy="3483620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文本框 87"/>
          <p:cNvSpPr txBox="1"/>
          <p:nvPr/>
        </p:nvSpPr>
        <p:spPr>
          <a:xfrm>
            <a:off x="205666" y="4851436"/>
            <a:ext cx="11541575" cy="16986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692785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1600" b="1" i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本次非油巡检共发现5项问题。</a:t>
            </a:r>
            <a:endParaRPr lang="en-US" sz="1600" b="1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  <a:cs typeface="+mn-ea"/>
              <a:sym typeface="+mn-ea"/>
            </a:endParaRPr>
          </a:p>
        </p:txBody>
      </p:sp>
      <p:pic>
        <p:nvPicPr>
          <p:cNvPr id="44" name="图片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4785281"/>
            <a:ext cx="12192000" cy="77200"/>
          </a:xfrm>
          <a:prstGeom prst="rect">
            <a:avLst/>
          </a:prstGeom>
        </p:spPr>
      </p:pic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228600" y="960120"/>
          <a:ext cx="6903720" cy="379476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7178040" y="987552"/>
          <a:ext cx="4709160" cy="370332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144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5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6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PA-矩形 3"/>
          <p:cNvSpPr/>
          <p:nvPr/>
        </p:nvSpPr>
        <p:spPr>
          <a:xfrm>
            <a:off x="2212646" y="2494193"/>
            <a:ext cx="1739900" cy="157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03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重点问题分析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152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1.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检查总体情况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153" name="文本框 2"/>
          <p:cNvSpPr txBox="1"/>
          <p:nvPr/>
        </p:nvSpPr>
        <p:spPr>
          <a:xfrm>
            <a:off x="683895" y="3699726"/>
            <a:ext cx="10515600" cy="2521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defTabSz="266700">
              <a:lnSpc>
                <a:spcPts val="3200"/>
              </a:lnSpc>
            </a:pPr>
            <a:r>
              <a:rPr sz="2000">
                <a:latin typeface="Noto Sans CJK SC"/>
                <a:ea typeface="Noto Sans CJK SC"/>
                <a:cs typeface="Noto Sans CJK SC"/>
              </a:rPr>
              <a:t>本期共统计5项审核通过问题，覆盖2个非油检查领域。本次分析旨在识别便利店运营流程中的潜在风险，使用的方法包括：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  <a:p>
            <a:pPr/>
            <a:r>
              <a:rPr sz="2000">
                <a:latin typeface="Noto Sans CJK SC"/>
                <a:ea typeface="Noto Sans CJK SC"/>
                <a:cs typeface="Noto Sans CJK SC"/>
              </a:rPr>
              <a:t>定量评估：统计各类问题发生频次，识别高风险问题领域</a:t>
            </a:r>
          </a:p>
          <a:p>
            <a:pPr/>
            <a:r>
              <a:rPr sz="2000">
                <a:latin typeface="Noto Sans CJK SC"/>
                <a:ea typeface="Noto Sans CJK SC"/>
                <a:cs typeface="Noto Sans CJK SC"/>
              </a:rPr>
              <a:t>关联分析：建立重点问题与检查项目的映射关系，掌握重点问题的发生阶段</a:t>
            </a:r>
          </a:p>
          <a:p>
            <a:pPr/>
            <a:r>
              <a:rPr sz="2000">
                <a:latin typeface="Noto Sans CJK SC"/>
                <a:ea typeface="Noto Sans CJK SC"/>
                <a:cs typeface="Noto Sans CJK SC"/>
              </a:rPr>
              <a:t>风险识别：结合外部信息识别典型问题的风险及影响，依据风险与频次展示典型问题</a:t>
            </a:r>
          </a:p>
          <a:p>
            <a:pPr/>
            <a:r>
              <a:rPr sz="2000">
                <a:latin typeface="Noto Sans CJK SC"/>
                <a:ea typeface="Noto Sans CJK SC"/>
                <a:cs typeface="Noto Sans CJK SC"/>
              </a:rPr>
              <a:t>归因优化：探究数据之后的共性缺失，提出流程化改善建议</a:t>
            </a:r>
          </a:p>
        </p:txBody>
      </p:sp>
      <p:sp>
        <p:nvSpPr>
          <p:cNvPr id="154" name="矩形 8"/>
          <p:cNvSpPr/>
          <p:nvPr/>
        </p:nvSpPr>
        <p:spPr>
          <a:xfrm>
            <a:off x="863599" y="3209067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2.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分析方法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155" name="文本框 14"/>
          <p:cNvSpPr txBox="1"/>
          <p:nvPr/>
        </p:nvSpPr>
        <p:spPr>
          <a:xfrm>
            <a:off x="1295075" y="1895287"/>
            <a:ext cx="2032000" cy="646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grpSp>
        <p:nvGrpSpPr>
          <p:cNvPr id="156" name="组合 15"/>
          <p:cNvGrpSpPr/>
          <p:nvPr/>
        </p:nvGrpSpPr>
        <p:grpSpPr>
          <a:xfrm>
            <a:off x="1036742" y="1755915"/>
            <a:ext cx="2400939" cy="1047436"/>
            <a:chOff x="1164067" y="4869508"/>
            <a:chExt cx="2670977" cy="1047436"/>
          </a:xfrm>
        </p:grpSpPr>
        <p:grpSp>
          <p:nvGrpSpPr>
            <p:cNvPr id="157" name="组合 12"/>
            <p:cNvGrpSpPr/>
            <p:nvPr/>
          </p:nvGrpSpPr>
          <p:grpSpPr>
            <a:xfrm>
              <a:off x="1164067" y="4869508"/>
              <a:ext cx="2670977" cy="1047436"/>
              <a:chOff x="1428750" y="4981575"/>
              <a:chExt cx="2670977" cy="1047436"/>
            </a:xfrm>
          </p:grpSpPr>
          <p:sp>
            <p:nvSpPr>
              <p:cNvPr id="158" name="矩形: 圆角 10"/>
              <p:cNvSpPr/>
              <p:nvPr/>
            </p:nvSpPr>
            <p:spPr>
              <a:xfrm>
                <a:off x="1428750" y="4981575"/>
                <a:ext cx="2670977" cy="1047436"/>
              </a:xfrm>
              <a:prstGeom prst="roundRect">
                <a:avLst>
                  <a:gd name="adj" fmla="val 947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59" name="矩形: 圆角 11"/>
              <p:cNvSpPr/>
              <p:nvPr/>
            </p:nvSpPr>
            <p:spPr>
              <a:xfrm>
                <a:off x="1428750" y="4981575"/>
                <a:ext cx="60073" cy="1047436"/>
              </a:xfrm>
              <a:prstGeom prst="roundRect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60" name="文本框 13"/>
            <p:cNvSpPr txBox="1"/>
            <p:nvPr/>
          </p:nvSpPr>
          <p:spPr>
            <a:xfrm>
              <a:off x="1338957" y="4960948"/>
              <a:ext cx="2324120" cy="850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3200">
                  <a:solidFill>
                    <a:srgbClr val="FFC000">
                      <a:alpha val="100000"/>
                    </a:srgbClr>
                  </a:solidFill>
                  <a:latin typeface="Noto Sans CJK SC"/>
                  <a:ea typeface="Noto Sans CJK SC"/>
                  <a:cs typeface="Noto Sans CJK SC"/>
                </a:rPr>
                <a:t>198
</a:t>
              </a:r>
              <a:r>
                <a:rPr lang="zh-CN" b="1"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问题总数</a:t>
              </a:r>
              <a:endParaRPr lang="zh-CN" b="1">
                <a:latin typeface="方正仿宋简体" panose="02000000000000000000" charset="-122"/>
                <a:ea typeface="方正仿宋简体" panose="02000000000000000000" charset="-122"/>
              </a:endParaRPr>
            </a:p>
          </p:txBody>
        </p:sp>
      </p:grpSp>
      <p:grpSp>
        <p:nvGrpSpPr>
          <p:cNvPr id="161" name="组合 16"/>
          <p:cNvGrpSpPr/>
          <p:nvPr/>
        </p:nvGrpSpPr>
        <p:grpSpPr>
          <a:xfrm>
            <a:off x="6286494" y="1754524"/>
            <a:ext cx="2400940" cy="1047436"/>
            <a:chOff x="1164067" y="4869508"/>
            <a:chExt cx="2670977" cy="1047436"/>
          </a:xfrm>
        </p:grpSpPr>
        <p:grpSp>
          <p:nvGrpSpPr>
            <p:cNvPr id="162" name="组合 17"/>
            <p:cNvGrpSpPr/>
            <p:nvPr/>
          </p:nvGrpSpPr>
          <p:grpSpPr>
            <a:xfrm>
              <a:off x="1164067" y="4869508"/>
              <a:ext cx="2670977" cy="1047436"/>
              <a:chOff x="1428750" y="4981575"/>
              <a:chExt cx="2670977" cy="1047436"/>
            </a:xfrm>
          </p:grpSpPr>
          <p:sp>
            <p:nvSpPr>
              <p:cNvPr id="163" name="矩形: 圆角 19"/>
              <p:cNvSpPr/>
              <p:nvPr/>
            </p:nvSpPr>
            <p:spPr>
              <a:xfrm>
                <a:off x="1428750" y="4981575"/>
                <a:ext cx="2670977" cy="1047436"/>
              </a:xfrm>
              <a:prstGeom prst="roundRect">
                <a:avLst>
                  <a:gd name="adj" fmla="val 947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64" name="矩形: 圆角 20"/>
              <p:cNvSpPr/>
              <p:nvPr/>
            </p:nvSpPr>
            <p:spPr>
              <a:xfrm>
                <a:off x="1428750" y="4981575"/>
                <a:ext cx="60073" cy="1047436"/>
              </a:xfrm>
              <a:prstGeom prst="roundRect">
                <a:avLst>
                  <a:gd name="adj" fmla="val 50000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65" name="文本框 18"/>
            <p:cNvSpPr txBox="1"/>
            <p:nvPr/>
          </p:nvSpPr>
          <p:spPr>
            <a:xfrm>
              <a:off x="1338957" y="4960948"/>
              <a:ext cx="2324119" cy="860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3200">
                  <a:solidFill>
                    <a:srgbClr val="FF0000">
                      <a:alpha val="100000"/>
                    </a:srgbClr>
                  </a:solidFill>
                  <a:latin typeface="Noto Sans CJK SC"/>
                  <a:ea typeface="Noto Sans CJK SC"/>
                  <a:cs typeface="Noto Sans CJK SC"/>
                </a:rPr>
                <a:t>21
</a:t>
              </a:r>
              <a:r>
                <a:rPr lang="zh-CN" b="1"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重点问题数</a:t>
              </a:r>
              <a:endParaRPr lang="zh-CN" b="1">
                <a:latin typeface="方正仿宋简体" panose="02000000000000000000" charset="-122"/>
                <a:ea typeface="方正仿宋简体" panose="02000000000000000000" charset="-122"/>
              </a:endParaRPr>
            </a:p>
          </p:txBody>
        </p:sp>
      </p:grpSp>
      <p:grpSp>
        <p:nvGrpSpPr>
          <p:cNvPr id="166" name="组合 21"/>
          <p:cNvGrpSpPr/>
          <p:nvPr/>
        </p:nvGrpSpPr>
        <p:grpSpPr>
          <a:xfrm>
            <a:off x="8911370" y="1754524"/>
            <a:ext cx="2400940" cy="1047436"/>
            <a:chOff x="1164067" y="4869508"/>
            <a:chExt cx="2670977" cy="1047436"/>
          </a:xfrm>
        </p:grpSpPr>
        <p:grpSp>
          <p:nvGrpSpPr>
            <p:cNvPr id="167" name="组合 22"/>
            <p:cNvGrpSpPr/>
            <p:nvPr/>
          </p:nvGrpSpPr>
          <p:grpSpPr>
            <a:xfrm>
              <a:off x="1164067" y="4869508"/>
              <a:ext cx="2670977" cy="1047436"/>
              <a:chOff x="1428750" y="4981575"/>
              <a:chExt cx="2670977" cy="1047436"/>
            </a:xfrm>
          </p:grpSpPr>
          <p:sp>
            <p:nvSpPr>
              <p:cNvPr id="168" name="矩形: 圆角 24"/>
              <p:cNvSpPr/>
              <p:nvPr/>
            </p:nvSpPr>
            <p:spPr>
              <a:xfrm>
                <a:off x="1428750" y="4981575"/>
                <a:ext cx="2670977" cy="1047436"/>
              </a:xfrm>
              <a:prstGeom prst="roundRect">
                <a:avLst>
                  <a:gd name="adj" fmla="val 947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69" name="矩形: 圆角 25"/>
              <p:cNvSpPr/>
              <p:nvPr/>
            </p:nvSpPr>
            <p:spPr>
              <a:xfrm>
                <a:off x="1428750" y="4981575"/>
                <a:ext cx="60073" cy="1047436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70" name="文本框 23"/>
            <p:cNvSpPr txBox="1"/>
            <p:nvPr/>
          </p:nvSpPr>
          <p:spPr>
            <a:xfrm>
              <a:off x="1338958" y="4960948"/>
              <a:ext cx="2324119" cy="850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3200">
                  <a:solidFill>
                    <a:srgbClr val="002060">
                      <a:alpha val="100000"/>
                    </a:srgbClr>
                  </a:solidFill>
                  <a:latin typeface="Noto Sans CJK SC"/>
                  <a:ea typeface="Noto Sans CJK SC"/>
                  <a:cs typeface="Noto Sans CJK SC"/>
                </a:rPr>
                <a:t>13%
</a:t>
              </a:r>
              <a:r>
                <a:rPr lang="zh-CN" b="1"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重点问题占比</a:t>
              </a:r>
              <a:endParaRPr lang="zh-CN" b="1">
                <a:latin typeface="方正仿宋简体" panose="02000000000000000000" charset="-122"/>
                <a:ea typeface="方正仿宋简体" panose="02000000000000000000" charset="-122"/>
              </a:endParaRPr>
            </a:p>
          </p:txBody>
        </p:sp>
      </p:grpSp>
      <p:grpSp>
        <p:nvGrpSpPr>
          <p:cNvPr id="171" name="组合 26"/>
          <p:cNvGrpSpPr/>
          <p:nvPr/>
        </p:nvGrpSpPr>
        <p:grpSpPr>
          <a:xfrm>
            <a:off x="3661618" y="1754524"/>
            <a:ext cx="2400940" cy="1047436"/>
            <a:chOff x="1164067" y="4869508"/>
            <a:chExt cx="2670977" cy="1047436"/>
          </a:xfrm>
        </p:grpSpPr>
        <p:grpSp>
          <p:nvGrpSpPr>
            <p:cNvPr id="172" name="组合 27"/>
            <p:cNvGrpSpPr/>
            <p:nvPr/>
          </p:nvGrpSpPr>
          <p:grpSpPr>
            <a:xfrm>
              <a:off x="1164067" y="4869508"/>
              <a:ext cx="2670977" cy="1047436"/>
              <a:chOff x="1428750" y="4981575"/>
              <a:chExt cx="2670977" cy="1047436"/>
            </a:xfrm>
          </p:grpSpPr>
          <p:sp>
            <p:nvSpPr>
              <p:cNvPr id="173" name="矩形: 圆角 29"/>
              <p:cNvSpPr/>
              <p:nvPr/>
            </p:nvSpPr>
            <p:spPr>
              <a:xfrm>
                <a:off x="1428750" y="4981575"/>
                <a:ext cx="2670977" cy="1047436"/>
              </a:xfrm>
              <a:prstGeom prst="roundRect">
                <a:avLst>
                  <a:gd name="adj" fmla="val 947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74" name="矩形: 圆角 30"/>
              <p:cNvSpPr/>
              <p:nvPr/>
            </p:nvSpPr>
            <p:spPr>
              <a:xfrm>
                <a:off x="1428750" y="4981575"/>
                <a:ext cx="60073" cy="1047436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75" name="文本框 28"/>
            <p:cNvSpPr txBox="1"/>
            <p:nvPr/>
          </p:nvSpPr>
          <p:spPr>
            <a:xfrm>
              <a:off x="1338958" y="4960948"/>
              <a:ext cx="2321196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TW" sz="3200" dirty="0">
                  <a:solidFill>
                    <a:srgbClr val="00B050"/>
                  </a:solidFill>
                  <a:latin typeface="Noto Sans CJK SC"/>
                  <a:ea typeface="Noto Sans CJK SC"/>
                  <a:cs typeface="Noto Sans CJK SC"/>
                </a:rPr>
                <a:t>20+</a:t>
              </a:r>
              <a:br>
                <a:rPr lang="en-US" altLang="zh-TW" dirty="0"/>
              </a:br>
              <a:r>
                <a:rPr lang="zh-CN" altLang="en-US" b="1" dirty="0"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问题覆盖领域</a:t>
              </a:r>
              <a:endParaRPr lang="zh-TW" altLang="en-US" b="1" dirty="0">
                <a:latin typeface="方正仿宋简体" panose="02000000000000000000" charset="-122"/>
                <a:ea typeface="方正仿宋简体" panose="020000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178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3.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重点问题概述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179" name="文本框 2"/>
          <p:cNvSpPr txBox="1"/>
          <p:nvPr/>
        </p:nvSpPr>
        <p:spPr>
          <a:xfrm>
            <a:off x="683895" y="1651000"/>
            <a:ext cx="10515600" cy="469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defTabSz="266700">
              <a:lnSpc>
                <a:spcPts val="3200"/>
              </a:lnSpc>
            </a:pP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本次分析对</a:t>
            </a:r>
            <a:r>
              <a:rPr lang="en-US" altLang="zh-CN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4</a:t>
            </a: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类关键问题的定义，以及问题内部占比如图所示：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pSp>
        <p:nvGrpSpPr>
          <p:cNvPr id="180" name="组合 30"/>
          <p:cNvGrpSpPr/>
          <p:nvPr/>
        </p:nvGrpSpPr>
        <p:grpSpPr>
          <a:xfrm>
            <a:off x="747508" y="2356898"/>
            <a:ext cx="3531286" cy="1826192"/>
            <a:chOff x="863258" y="2380048"/>
            <a:chExt cx="3708742" cy="182619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81" name="矩形: 圆角 11"/>
            <p:cNvSpPr/>
            <p:nvPr/>
          </p:nvSpPr>
          <p:spPr>
            <a:xfrm>
              <a:off x="863600" y="2391991"/>
              <a:ext cx="3700780" cy="1814249"/>
            </a:xfrm>
            <a:prstGeom prst="roundRect">
              <a:avLst>
                <a:gd name="adj" fmla="val 2809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endParaRPr>
            </a:p>
          </p:txBody>
        </p:sp>
        <p:sp>
          <p:nvSpPr>
            <p:cNvPr id="182" name="文本框 12"/>
            <p:cNvSpPr txBox="1"/>
            <p:nvPr/>
          </p:nvSpPr>
          <p:spPr>
            <a:xfrm>
              <a:off x="1199065" y="2942466"/>
              <a:ext cx="2424188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dirty="0">
                  <a:latin typeface="Noto Sans CJK SC"/>
                  <a:ea typeface="Noto Sans CJK SC"/>
                  <a:cs typeface="Noto Sans CJK SC"/>
                </a:rPr>
                <a:t>烟酒等高价值货品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83" name="文本框 14"/>
            <p:cNvSpPr txBox="1"/>
            <p:nvPr/>
          </p:nvSpPr>
          <p:spPr>
            <a:xfrm>
              <a:off x="1199065" y="3322912"/>
              <a:ext cx="3073059" cy="61144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聚焦货品的账实相符率、陈列与推广情况，以及仓储存放安全。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endParaRPr>
            </a:p>
          </p:txBody>
        </p:sp>
        <p:grpSp>
          <p:nvGrpSpPr>
            <p:cNvPr id="184" name="组合 21"/>
            <p:cNvGrpSpPr/>
            <p:nvPr/>
          </p:nvGrpSpPr>
          <p:grpSpPr>
            <a:xfrm>
              <a:off x="1229545" y="2537007"/>
              <a:ext cx="1118244" cy="307479"/>
              <a:chOff x="1182776" y="3490972"/>
              <a:chExt cx="1294664" cy="307479"/>
            </a:xfrm>
          </p:grpSpPr>
          <p:sp>
            <p:nvSpPr>
              <p:cNvPr id="185" name="矩形: 圆角 18"/>
              <p:cNvSpPr/>
              <p:nvPr/>
            </p:nvSpPr>
            <p:spPr>
              <a:xfrm>
                <a:off x="1182776" y="3490972"/>
                <a:ext cx="1294664" cy="307479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sysClr val="window" lastClr="FFFFFF">
                    <a:alpha val="50000"/>
                  </a:sys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186" name="文本框 19"/>
              <p:cNvSpPr txBox="1"/>
              <p:nvPr/>
            </p:nvSpPr>
            <p:spPr>
              <a:xfrm>
                <a:off x="1424153" y="3536692"/>
                <a:ext cx="83144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 rtl="0">
                  <a:lnSpc>
                    <a:spcPct val="100000"/>
                  </a:lnSpc>
                  <a:defRPr/>
                </a:pPr>
                <a:r>
                  <a:rPr sz="900" b="1">
                    <a:latin typeface="Noto Sans CJK SC"/>
                    <a:ea typeface="Noto Sans CJK SC"/>
                    <a:cs typeface="Noto Sans CJK SC"/>
                  </a:rPr>
                  <a:t>重点商品</a:t>
                </a:r>
                <a:endParaRPr lang="zh-CN" altLang="en-US" sz="1400" b="1" dirty="0">
                  <a:solidFill>
                    <a:prstClr val="white"/>
                  </a:solidFill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187" name="矩形: 圆角 22"/>
            <p:cNvSpPr/>
            <p:nvPr/>
          </p:nvSpPr>
          <p:spPr>
            <a:xfrm>
              <a:off x="863258" y="2380048"/>
              <a:ext cx="3708742" cy="45719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88" name="组合 31"/>
          <p:cNvGrpSpPr/>
          <p:nvPr/>
        </p:nvGrpSpPr>
        <p:grpSpPr>
          <a:xfrm>
            <a:off x="739660" y="4332637"/>
            <a:ext cx="3539134" cy="1826192"/>
            <a:chOff x="863258" y="2380048"/>
            <a:chExt cx="3708742" cy="182619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89" name="矩形: 圆角 32"/>
            <p:cNvSpPr/>
            <p:nvPr/>
          </p:nvSpPr>
          <p:spPr>
            <a:xfrm>
              <a:off x="863600" y="2391991"/>
              <a:ext cx="3700780" cy="1814249"/>
            </a:xfrm>
            <a:prstGeom prst="roundRect">
              <a:avLst>
                <a:gd name="adj" fmla="val 2809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endParaRPr>
            </a:p>
          </p:txBody>
        </p:sp>
        <p:sp>
          <p:nvSpPr>
            <p:cNvPr id="190" name="文本框 33"/>
            <p:cNvSpPr txBox="1"/>
            <p:nvPr/>
          </p:nvSpPr>
          <p:spPr>
            <a:xfrm>
              <a:off x="1199065" y="2942466"/>
              <a:ext cx="2424188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dirty="0">
                  <a:latin typeface="Noto Sans CJK SC"/>
                  <a:ea typeface="Noto Sans CJK SC"/>
                  <a:cs typeface="Noto Sans CJK SC"/>
                </a:rPr>
                <a:t>食品安全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91" name="文本框 34"/>
            <p:cNvSpPr txBox="1"/>
            <p:nvPr/>
          </p:nvSpPr>
          <p:spPr>
            <a:xfrm>
              <a:off x="1199066" y="3322912"/>
              <a:ext cx="3003896" cy="61542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抽查过期商品的检查、登记及销毁处理情况。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endParaRPr>
            </a:p>
          </p:txBody>
        </p:sp>
        <p:grpSp>
          <p:nvGrpSpPr>
            <p:cNvPr id="192" name="组合 35"/>
            <p:cNvGrpSpPr/>
            <p:nvPr/>
          </p:nvGrpSpPr>
          <p:grpSpPr>
            <a:xfrm>
              <a:off x="1229545" y="2537007"/>
              <a:ext cx="1118244" cy="307479"/>
              <a:chOff x="1182776" y="3490972"/>
              <a:chExt cx="1294664" cy="307479"/>
            </a:xfrm>
          </p:grpSpPr>
          <p:sp>
            <p:nvSpPr>
              <p:cNvPr id="193" name="矩形: 圆角 37"/>
              <p:cNvSpPr/>
              <p:nvPr/>
            </p:nvSpPr>
            <p:spPr>
              <a:xfrm>
                <a:off x="1182776" y="3490972"/>
                <a:ext cx="1294664" cy="307479"/>
              </a:xfrm>
              <a:prstGeom prst="roundRect">
                <a:avLst>
                  <a:gd name="adj" fmla="val 50000"/>
                </a:avLst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sysClr val="window" lastClr="FFFFFF">
                    <a:alpha val="50000"/>
                  </a:sys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194" name="文本框 38"/>
              <p:cNvSpPr txBox="1"/>
              <p:nvPr/>
            </p:nvSpPr>
            <p:spPr>
              <a:xfrm>
                <a:off x="1424153" y="3536692"/>
                <a:ext cx="83144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 rtl="0">
                  <a:lnSpc>
                    <a:spcPct val="100000"/>
                  </a:lnSpc>
                  <a:defRPr/>
                </a:pPr>
                <a:r>
                  <a:rPr sz="900" b="1">
                    <a:latin typeface="Noto Sans CJK SC"/>
                    <a:ea typeface="Noto Sans CJK SC"/>
                    <a:cs typeface="Noto Sans CJK SC"/>
                  </a:rPr>
                  <a:t>商品过期</a:t>
                </a:r>
                <a:endParaRPr lang="zh-CN" altLang="en-US" sz="1400" b="1" dirty="0">
                  <a:solidFill>
                    <a:schemeClr val="bg1"/>
                  </a:solidFill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195" name="矩形: 圆角 36"/>
            <p:cNvSpPr/>
            <p:nvPr/>
          </p:nvSpPr>
          <p:spPr>
            <a:xfrm>
              <a:off x="863258" y="2380048"/>
              <a:ext cx="3708742" cy="45719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6" name="组合 39"/>
          <p:cNvGrpSpPr/>
          <p:nvPr/>
        </p:nvGrpSpPr>
        <p:grpSpPr>
          <a:xfrm>
            <a:off x="4519307" y="4332637"/>
            <a:ext cx="3539134" cy="1826192"/>
            <a:chOff x="863258" y="2380048"/>
            <a:chExt cx="3708742" cy="182619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97" name="矩形: 圆角 40"/>
            <p:cNvSpPr/>
            <p:nvPr/>
          </p:nvSpPr>
          <p:spPr>
            <a:xfrm>
              <a:off x="863600" y="2391991"/>
              <a:ext cx="3700780" cy="1814249"/>
            </a:xfrm>
            <a:prstGeom prst="roundRect">
              <a:avLst>
                <a:gd name="adj" fmla="val 2809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endParaRPr>
            </a:p>
          </p:txBody>
        </p:sp>
        <p:sp>
          <p:nvSpPr>
            <p:cNvPr id="198" name="文本框 41"/>
            <p:cNvSpPr txBox="1"/>
            <p:nvPr/>
          </p:nvSpPr>
          <p:spPr>
            <a:xfrm>
              <a:off x="1199065" y="2942466"/>
              <a:ext cx="2424188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dirty="0">
                  <a:latin typeface="Noto Sans CJK SC"/>
                  <a:ea typeface="Noto Sans CJK SC"/>
                  <a:cs typeface="Noto Sans CJK SC"/>
                </a:rPr>
                <a:t>资金与流程合规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99" name="文本框 42"/>
            <p:cNvSpPr txBox="1"/>
            <p:nvPr/>
          </p:nvSpPr>
          <p:spPr>
            <a:xfrm>
              <a:off x="1199065" y="3322912"/>
              <a:ext cx="3077537" cy="61542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审查团购审批手续的合规性，以及资金滞留风险。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endParaRPr>
            </a:p>
          </p:txBody>
        </p:sp>
        <p:grpSp>
          <p:nvGrpSpPr>
            <p:cNvPr id="200" name="组合 43"/>
            <p:cNvGrpSpPr/>
            <p:nvPr/>
          </p:nvGrpSpPr>
          <p:grpSpPr>
            <a:xfrm>
              <a:off x="1229545" y="2537007"/>
              <a:ext cx="1118244" cy="307479"/>
              <a:chOff x="1182776" y="3490972"/>
              <a:chExt cx="1294664" cy="307479"/>
            </a:xfrm>
          </p:grpSpPr>
          <p:sp>
            <p:nvSpPr>
              <p:cNvPr id="201" name="矩形: 圆角 45"/>
              <p:cNvSpPr/>
              <p:nvPr/>
            </p:nvSpPr>
            <p:spPr>
              <a:xfrm>
                <a:off x="1182776" y="3490972"/>
                <a:ext cx="1294664" cy="307479"/>
              </a:xfrm>
              <a:prstGeom prst="roundRect">
                <a:avLst>
                  <a:gd name="adj" fmla="val 50000"/>
                </a:avLst>
              </a:prstGeom>
              <a:solidFill>
                <a:srgbClr val="7030A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sysClr val="window" lastClr="FFFFFF">
                    <a:alpha val="50000"/>
                  </a:sys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202" name="文本框 46"/>
              <p:cNvSpPr txBox="1"/>
              <p:nvPr/>
            </p:nvSpPr>
            <p:spPr>
              <a:xfrm>
                <a:off x="1424155" y="3536692"/>
                <a:ext cx="83144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 rtl="0">
                  <a:lnSpc>
                    <a:spcPct val="100000"/>
                  </a:lnSpc>
                  <a:defRPr/>
                </a:pPr>
                <a:r>
                  <a:rPr sz="900" b="1">
                    <a:latin typeface="Noto Sans CJK SC"/>
                    <a:ea typeface="Noto Sans CJK SC"/>
                    <a:cs typeface="Noto Sans CJK SC"/>
                  </a:rPr>
                  <a:t>团购问题</a:t>
                </a:r>
                <a:endParaRPr lang="zh-CN" altLang="en-US" sz="1400" b="1" dirty="0">
                  <a:solidFill>
                    <a:prstClr val="white"/>
                  </a:solidFill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203" name="矩形: 圆角 44"/>
            <p:cNvSpPr/>
            <p:nvPr/>
          </p:nvSpPr>
          <p:spPr>
            <a:xfrm>
              <a:off x="863258" y="2380048"/>
              <a:ext cx="3708742" cy="45719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04" name="组合 47"/>
          <p:cNvGrpSpPr/>
          <p:nvPr/>
        </p:nvGrpSpPr>
        <p:grpSpPr>
          <a:xfrm>
            <a:off x="4536982" y="2351561"/>
            <a:ext cx="3539134" cy="1826192"/>
            <a:chOff x="863258" y="2380048"/>
            <a:chExt cx="3708742" cy="182619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05" name="矩形: 圆角 48"/>
            <p:cNvSpPr/>
            <p:nvPr/>
          </p:nvSpPr>
          <p:spPr>
            <a:xfrm>
              <a:off x="863600" y="2391991"/>
              <a:ext cx="3700780" cy="1814249"/>
            </a:xfrm>
            <a:prstGeom prst="roundRect">
              <a:avLst>
                <a:gd name="adj" fmla="val 2809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endParaRPr>
            </a:p>
          </p:txBody>
        </p:sp>
        <p:sp>
          <p:nvSpPr>
            <p:cNvPr id="206" name="文本框 49"/>
            <p:cNvSpPr txBox="1"/>
            <p:nvPr/>
          </p:nvSpPr>
          <p:spPr>
            <a:xfrm>
              <a:off x="1199065" y="2942466"/>
              <a:ext cx="2424188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dirty="0">
                  <a:latin typeface="Noto Sans CJK SC"/>
                  <a:ea typeface="Noto Sans CJK SC"/>
                  <a:cs typeface="Noto Sans CJK SC"/>
                </a:rPr>
                <a:t>库存交接与盘点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07" name="文本框 50"/>
            <p:cNvSpPr txBox="1"/>
            <p:nvPr/>
          </p:nvSpPr>
          <p:spPr>
            <a:xfrm>
              <a:off x="1199066" y="3322912"/>
              <a:ext cx="3000082" cy="61542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核实交接班盘点记录，盘点覆盖率及签字完整性。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endParaRPr>
            </a:p>
          </p:txBody>
        </p:sp>
        <p:grpSp>
          <p:nvGrpSpPr>
            <p:cNvPr id="208" name="组合 51"/>
            <p:cNvGrpSpPr/>
            <p:nvPr/>
          </p:nvGrpSpPr>
          <p:grpSpPr>
            <a:xfrm>
              <a:off x="1229545" y="2537007"/>
              <a:ext cx="1118244" cy="307479"/>
              <a:chOff x="1182776" y="3490972"/>
              <a:chExt cx="1294664" cy="307479"/>
            </a:xfrm>
          </p:grpSpPr>
          <p:sp>
            <p:nvSpPr>
              <p:cNvPr id="209" name="矩形: 圆角 53"/>
              <p:cNvSpPr/>
              <p:nvPr/>
            </p:nvSpPr>
            <p:spPr>
              <a:xfrm>
                <a:off x="1182776" y="3490972"/>
                <a:ext cx="1294664" cy="307479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sysClr val="window" lastClr="FFFFFF">
                    <a:alpha val="50000"/>
                  </a:sys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210" name="文本框 54"/>
              <p:cNvSpPr txBox="1"/>
              <p:nvPr/>
            </p:nvSpPr>
            <p:spPr>
              <a:xfrm>
                <a:off x="1424151" y="3536692"/>
                <a:ext cx="83144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 rtl="0">
                  <a:lnSpc>
                    <a:spcPct val="100000"/>
                  </a:lnSpc>
                  <a:defRPr/>
                </a:pPr>
                <a:r>
                  <a:rPr sz="900" b="1">
                    <a:latin typeface="Noto Sans CJK SC"/>
                    <a:ea typeface="Noto Sans CJK SC"/>
                    <a:cs typeface="Noto Sans CJK SC"/>
                  </a:rPr>
                  <a:t>月度盘点</a:t>
                </a:r>
                <a:endParaRPr lang="zh-CN" altLang="en-US" sz="1400" b="1" dirty="0">
                  <a:solidFill>
                    <a:schemeClr val="bg1"/>
                  </a:solidFill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211" name="矩形: 圆角 52"/>
            <p:cNvSpPr/>
            <p:nvPr/>
          </p:nvSpPr>
          <p:spPr>
            <a:xfrm>
              <a:off x="863258" y="2380048"/>
              <a:ext cx="3708742" cy="45719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aphicFrame>
        <p:nvGraphicFramePr>
          <p:cNvPr id="212" name="Chart 211"/>
          <p:cNvGraphicFramePr>
            <a:graphicFrameLocks noGrp="1"/>
          </p:cNvGraphicFramePr>
          <p:nvPr/>
        </p:nvGraphicFramePr>
        <p:xfrm>
          <a:off x="8065008" y="2578608"/>
          <a:ext cx="3840480" cy="3246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215" name="矩形 1"/>
          <p:cNvSpPr/>
          <p:nvPr/>
        </p:nvSpPr>
        <p:spPr>
          <a:xfrm>
            <a:off x="863600" y="1203008"/>
            <a:ext cx="5292725" cy="43473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4.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重点问题发生环节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16" name="文本框 2"/>
          <p:cNvSpPr txBox="1"/>
          <p:nvPr/>
        </p:nvSpPr>
        <p:spPr>
          <a:xfrm>
            <a:off x="683895" y="1651000"/>
            <a:ext cx="10515600" cy="1920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457200" algn="l" defTabSz="266700">
              <a:lnSpc>
                <a:spcPts val="3200"/>
              </a:lnSpc>
              <a:spcAft>
                <a:spcPts val="1000"/>
              </a:spcAft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1600">
                <a:latin typeface="Noto Sans CJK SC"/>
                <a:ea typeface="Noto Sans CJK SC"/>
                <a:cs typeface="Noto Sans CJK SC"/>
              </a:rPr>
              <a:t>根据问题定义，将重点问题与检查环节做关联性分析，可以得出：</a:t>
            </a:r>
            <a:endParaRPr lang="en-US" sz="2000">
              <a:solidFill>
                <a:schemeClr val="tx1">
                  <a:alpha val="100000"/>
                </a:scheme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algn="l"/>
            <a:r>
              <a:rPr sz="1600">
                <a:latin typeface="Noto Sans CJK SC"/>
                <a:ea typeface="Noto Sans CJK SC"/>
                <a:cs typeface="Noto Sans CJK SC"/>
              </a:rPr>
              <a:t>·重点商品发生在商品盘点（100.0%）。</a:t>
            </a:r>
          </a:p>
          <a:p>
            <a:pPr algn="l"/>
            <a:r>
              <a:rPr sz="1600">
                <a:latin typeface="Noto Sans CJK SC"/>
                <a:ea typeface="Noto Sans CJK SC"/>
                <a:cs typeface="Noto Sans CJK SC"/>
              </a:rPr>
              <a:t>·月度盘点发生在商品盘点（100.0%）。</a:t>
            </a:r>
          </a:p>
        </p:txBody>
      </p: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804672" y="4069080"/>
          <a:ext cx="68351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28066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latin typeface="Noto Sans CJK SC"/>
                          <a:ea typeface="Noto Sans CJK SC"/>
                          <a:cs typeface="Noto Sans CJK SC"/>
                        </a:rPr>
                        <a:t>重点问题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latin typeface="Noto Sans CJK SC"/>
                          <a:ea typeface="Noto Sans CJK SC"/>
                          <a:cs typeface="Noto Sans CJK SC"/>
                        </a:rPr>
                        <a:t>商品盘点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latin typeface="Noto Sans CJK SC"/>
                          <a:ea typeface="Noto Sans CJK SC"/>
                          <a:cs typeface="Noto Sans CJK SC"/>
                        </a:rPr>
                        <a:t>重点商品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latin typeface="Noto Sans CJK SC"/>
                          <a:ea typeface="Noto Sans CJK SC"/>
                          <a:cs typeface="Noto Sans CJK SC"/>
                        </a:rPr>
                        <a:t>100.0%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latin typeface="Noto Sans CJK SC"/>
                          <a:ea typeface="Noto Sans CJK SC"/>
                          <a:cs typeface="Noto Sans CJK SC"/>
                        </a:rPr>
                        <a:t>月度盘点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latin typeface="Noto Sans CJK SC"/>
                          <a:ea typeface="Noto Sans CJK SC"/>
                          <a:cs typeface="Noto Sans CJK SC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latin typeface="Noto Sans CJK SC"/>
                          <a:ea typeface="Noto Sans CJK SC"/>
                          <a:cs typeface="Noto Sans CJK SC"/>
                        </a:rPr>
                        <a:t>商品过期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latin typeface="Noto Sans CJK SC"/>
                          <a:ea typeface="Noto Sans CJK SC"/>
                          <a:cs typeface="Noto Sans CJK SC"/>
                        </a:rPr>
                        <a:t>团购问题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220" name="矩形 1"/>
          <p:cNvSpPr/>
          <p:nvPr/>
        </p:nvSpPr>
        <p:spPr>
          <a:xfrm>
            <a:off x="863600" y="90836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5.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重点商品问题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21" name="文本框 2"/>
          <p:cNvSpPr txBox="1"/>
          <p:nvPr/>
        </p:nvSpPr>
        <p:spPr>
          <a:xfrm>
            <a:off x="683895" y="1356360"/>
            <a:ext cx="10515600" cy="25438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sz="1500">
                <a:latin typeface="Noto Sans CJK SC"/>
                <a:ea typeface="Noto Sans CJK SC"/>
                <a:cs typeface="Noto Sans CJK SC"/>
              </a:rPr>
              <a:t>重点商品问题共1项，占全部问题20.0%</a:t>
            </a:r>
            <a:endParaRPr lang="zh-CN" sz="2000">
              <a:solidFill>
                <a:schemeClr val="tx1">
                  <a:alpha val="100000"/>
                </a:scheme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lvl="1"/>
            <a:r>
              <a:rPr sz="1500">
                <a:latin typeface="Noto Sans CJK SC"/>
                <a:ea typeface="Noto Sans CJK SC"/>
                <a:cs typeface="Noto Sans CJK SC"/>
              </a:rPr>
              <a:t>主要发生于商品盘点（100.0%）</a:t>
            </a:r>
          </a:p>
          <a:p>
            <a:pPr lvl="1"/>
            <a:r>
              <a:rPr sz="1500">
                <a:latin typeface="Noto Sans CJK SC"/>
                <a:ea typeface="Noto Sans CJK SC"/>
                <a:cs typeface="Noto Sans CJK SC"/>
              </a:rPr>
              <a:t>涉及商品：中华烟（1项）</a:t>
            </a:r>
          </a:p>
          <a:p>
            <a:pPr lvl="1"/>
            <a:r>
              <a:rPr sz="1500">
                <a:latin typeface="Noto Sans CJK SC"/>
                <a:ea typeface="Noto Sans CJK SC"/>
                <a:cs typeface="Noto Sans CJK SC"/>
              </a:rPr>
              <a:t>具体表现：盘亏（1项）</a:t>
            </a:r>
          </a:p>
        </p:txBody>
      </p:sp>
      <p:graphicFrame>
        <p:nvGraphicFramePr>
          <p:cNvPr id="222" name="Chart 221"/>
          <p:cNvGraphicFramePr>
            <a:graphicFrameLocks noGrp="1"/>
          </p:cNvGraphicFramePr>
          <p:nvPr/>
        </p:nvGraphicFramePr>
        <p:xfrm>
          <a:off x="502920" y="3493008"/>
          <a:ext cx="3657600" cy="278892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23" name="Chart 222"/>
          <p:cNvGraphicFramePr>
            <a:graphicFrameLocks noGrp="1"/>
          </p:cNvGraphicFramePr>
          <p:nvPr/>
        </p:nvGraphicFramePr>
        <p:xfrm>
          <a:off x="4251960" y="3493008"/>
          <a:ext cx="3657600" cy="278892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224" name="Chart 223"/>
          <p:cNvGraphicFramePr>
            <a:graphicFrameLocks noGrp="1"/>
          </p:cNvGraphicFramePr>
          <p:nvPr/>
        </p:nvGraphicFramePr>
        <p:xfrm>
          <a:off x="8001000" y="3493008"/>
          <a:ext cx="3657600" cy="278892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227" name="矩形 1"/>
          <p:cNvSpPr/>
          <p:nvPr/>
        </p:nvSpPr>
        <p:spPr>
          <a:xfrm>
            <a:off x="1243965" y="896303"/>
            <a:ext cx="5292725" cy="424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5.1 重点商品典型问题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28" name="文本框 2"/>
          <p:cNvSpPr txBox="1"/>
          <p:nvPr/>
        </p:nvSpPr>
        <p:spPr>
          <a:xfrm>
            <a:off x="924560" y="1258570"/>
            <a:ext cx="10495915" cy="4864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defTabSz="266700">
              <a:lnSpc>
                <a:spcPts val="3200"/>
              </a:lnSpc>
            </a:pPr>
            <a:r>
              <a:rPr sz="1500">
                <a:latin typeface="Noto Sans CJK SC"/>
                <a:ea typeface="Noto Sans CJK SC"/>
                <a:cs typeface="Noto Sans CJK SC"/>
              </a:rPr>
              <a:t>重点商品问题主要涉及账实、陈列、销售过机和价签管理。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29" name="表格 10"/>
          <p:cNvGraphicFramePr/>
          <p:nvPr/>
        </p:nvGraphicFramePr>
        <p:xfrm>
          <a:off x="542290" y="1744980"/>
          <a:ext cx="11271250" cy="46913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68400"/>
                <a:gridCol w="1206500"/>
                <a:gridCol w="8896350"/>
              </a:tblGrid>
              <a:tr h="43891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检查项目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站点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问题描述</a:t>
                      </a:r>
                      <a:endParaRPr lang="zh-CN" altLang="en-US" sz="1600" dirty="0"/>
                    </a:p>
                  </a:txBody>
                  <a:tcPr/>
                </a:tc>
              </a:tr>
              <a:tr h="4252468">
                <a:tc>
                  <a:txBody>
                    <a:bodyPr wrap="square" anchor="ctr"/>
                    <a:lstStyle/>
                    <a:p>
                      <a:pPr algn="ctr" rtl="0" fontAlgn="ctr">
                        <a:buNone/>
                      </a:pPr>
                      <a:r>
                        <a:rPr sz="1000" b="0">
                          <a:latin typeface="Noto Sans CJK SC"/>
                          <a:ea typeface="Noto Sans CJK SC"/>
                          <a:cs typeface="Noto Sans CJK SC"/>
                        </a:rPr>
                        <a:t>现场抽盘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latin typeface="Noto Sans CJK SC"/>
                          <a:ea typeface="Noto Sans CJK SC"/>
                          <a:cs typeface="Noto Sans CJK SC"/>
                        </a:rPr>
                        <a:t>测试一站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latin typeface="Noto Sans CJK SC"/>
                          <a:ea typeface="Noto Sans CJK SC"/>
                          <a:cs typeface="Noto Sans CJK SC"/>
                        </a:rPr>
                        <a:t>软中华盘亏10包。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232" name="矩形 1"/>
          <p:cNvSpPr/>
          <p:nvPr/>
        </p:nvSpPr>
        <p:spPr>
          <a:xfrm>
            <a:off x="1243965" y="896303"/>
            <a:ext cx="5292725" cy="424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5.2 重点商品典型问题（续）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graphicFrame>
        <p:nvGraphicFramePr>
          <p:cNvPr id="233" name="表格 10"/>
          <p:cNvGraphicFramePr/>
          <p:nvPr/>
        </p:nvGraphicFramePr>
        <p:xfrm>
          <a:off x="542290" y="1366520"/>
          <a:ext cx="11270615" cy="225996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62050"/>
                <a:gridCol w="967740"/>
                <a:gridCol w="9140825"/>
              </a:tblGrid>
              <a:tr h="361594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检查项目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站点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问题描述</a:t>
                      </a:r>
                      <a:endParaRPr lang="zh-CN" altLang="en-US" sz="1600" dirty="0"/>
                    </a:p>
                  </a:txBody>
                  <a:tcPr/>
                </a:tc>
              </a:tr>
              <a:tr h="1898371"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0">
                          <a:latin typeface="Noto Sans CJK SC"/>
                          <a:ea typeface="Noto Sans CJK SC"/>
                          <a:cs typeface="Noto Sans CJK SC"/>
                        </a:rPr>
                        <a:t>-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微软雅黑" panose="020B0503020204020204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0">
                          <a:latin typeface="Noto Sans CJK SC"/>
                          <a:ea typeface="Noto Sans CJK SC"/>
                          <a:cs typeface="Noto Sans CJK SC"/>
                        </a:rPr>
                        <a:t>-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微软雅黑" panose="020B0503020204020204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70C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当前范围暂无该类重点问题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微软雅黑" panose="020B0503020204020204" charset="-122"/>
                      </a:endParaRPr>
                    </a:p>
                  </a:txBody>
                  <a:tcPr marL="53340" marR="53340" marT="22860" marB="2286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236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6. 月度盘点问题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37" name="文本框 2"/>
          <p:cNvSpPr txBox="1"/>
          <p:nvPr/>
        </p:nvSpPr>
        <p:spPr>
          <a:xfrm>
            <a:off x="683895" y="1651000"/>
            <a:ext cx="10515600" cy="911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sz="1500">
                <a:latin typeface="Noto Sans CJK SC"/>
                <a:ea typeface="Noto Sans CJK SC"/>
                <a:cs typeface="Noto Sans CJK SC"/>
              </a:rPr>
              <a:t>共1项，占全部问题20.0%</a:t>
            </a:r>
            <a:endParaRPr lang="en-US" sz="2000" b="1">
              <a:solidFill>
                <a:srgbClr val="FFC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lvl="1"/>
            <a:r>
              <a:rPr sz="1500">
                <a:latin typeface="Noto Sans CJK SC"/>
                <a:ea typeface="Noto Sans CJK SC"/>
                <a:cs typeface="Noto Sans CJK SC"/>
              </a:rPr>
              <a:t>重点核实交接班盘点记录、盘点覆盖率及签字完整性。</a:t>
            </a:r>
          </a:p>
        </p:txBody>
      </p:sp>
      <p:graphicFrame>
        <p:nvGraphicFramePr>
          <p:cNvPr id="238" name="表格 10"/>
          <p:cNvGraphicFramePr/>
          <p:nvPr/>
        </p:nvGraphicFramePr>
        <p:xfrm>
          <a:off x="1163955" y="2781300"/>
          <a:ext cx="10034905" cy="42849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02080"/>
                <a:gridCol w="1376045"/>
                <a:gridCol w="7256780"/>
              </a:tblGrid>
              <a:tr h="43891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检查项目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站点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问题描述</a:t>
                      </a:r>
                      <a:endParaRPr lang="zh-CN" altLang="en-US" sz="1600" dirty="0"/>
                    </a:p>
                  </a:txBody>
                  <a:tcPr/>
                </a:tc>
              </a:tr>
              <a:tr h="3846068">
                <a:tc>
                  <a:txBody>
                    <a:bodyPr wrap="square" anchor="ctr"/>
                    <a:lstStyle/>
                    <a:p>
                      <a:pPr algn="ctr" rtl="0" fontAlgn="ctr">
                        <a:buNone/>
                      </a:pPr>
                      <a:r>
                        <a:rPr sz="1000" b="0">
                          <a:latin typeface="Noto Sans CJK SC"/>
                          <a:ea typeface="Noto Sans CJK SC"/>
                          <a:cs typeface="Noto Sans CJK SC"/>
                        </a:rPr>
                        <a:t>-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0">
                          <a:latin typeface="Noto Sans CJK SC"/>
                          <a:ea typeface="Noto Sans CJK SC"/>
                          <a:cs typeface="Noto Sans CJK SC"/>
                        </a:rPr>
                        <a:t>-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0">
                          <a:latin typeface="Noto Sans CJK SC"/>
                          <a:ea typeface="Noto Sans CJK SC"/>
                          <a:cs typeface="Noto Sans CJK SC"/>
                        </a:rPr>
                        <a:t>当前范围暂无该类重点问题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264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5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66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PA-矩形 3"/>
          <p:cNvSpPr/>
          <p:nvPr/>
        </p:nvSpPr>
        <p:spPr>
          <a:xfrm>
            <a:off x="2212646" y="2494193"/>
            <a:ext cx="1739900" cy="157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04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具体结果分析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四、具体问题分析</a:t>
            </a:r>
            <a:endParaRPr lang="zh-CN" altLang="en-US" dirty="0"/>
          </a:p>
        </p:txBody>
      </p:sp>
      <p:sp>
        <p:nvSpPr>
          <p:cNvPr id="272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1.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问题分布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73" name="文本框 7"/>
          <p:cNvSpPr txBox="1"/>
          <p:nvPr/>
        </p:nvSpPr>
        <p:spPr>
          <a:xfrm>
            <a:off x="683895" y="1651000"/>
            <a:ext cx="10515600" cy="469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按照</a:t>
            </a:r>
            <a:r>
              <a:rPr lang="zh-CN" altLang="en-US" sz="2000" b="1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检查内容大类</a:t>
            </a: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（即问题出现在运营过程中的环节），所有具体问题分布如图：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74" name="Chart 273"/>
          <p:cNvGraphicFramePr>
            <a:graphicFrameLocks noGrp="1"/>
          </p:cNvGraphicFramePr>
          <p:nvPr/>
        </p:nvGraphicFramePr>
        <p:xfrm>
          <a:off x="777240" y="2057400"/>
          <a:ext cx="1069848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四、</a:t>
            </a:r>
            <a:r>
              <a:rPr lang="zh-CN" altLang="en-US" dirty="0">
                <a:latin typeface="Noto Sans CJK SC"/>
                <a:sym typeface="+mn-ea"/>
                <a:ea typeface="Noto Sans CJK SC"/>
                <a:cs typeface="Noto Sans CJK SC"/>
              </a:rPr>
              <a:t>具体问题分析</a:t>
            </a:r>
            <a:endParaRPr lang="zh-CN" altLang="en-US" dirty="0"/>
          </a:p>
        </p:txBody>
      </p:sp>
      <p:sp>
        <p:nvSpPr>
          <p:cNvPr id="277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2.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分析方法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78" name="文本框 7"/>
          <p:cNvSpPr txBox="1"/>
          <p:nvPr/>
        </p:nvSpPr>
        <p:spPr>
          <a:xfrm>
            <a:off x="683895" y="1560195"/>
            <a:ext cx="10515600" cy="1289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旨在从问题的</a:t>
            </a:r>
            <a:r>
              <a:rPr lang="zh-CN" altLang="en-US" sz="2000" b="1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具体描述</a:t>
            </a: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中</a:t>
            </a:r>
            <a:r>
              <a:rPr lang="zh-CN" altLang="en-US" sz="2000" b="1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提取问题特征</a:t>
            </a: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，识别</a:t>
            </a:r>
            <a:r>
              <a:rPr lang="zh-CN" altLang="en-US" sz="2000" b="1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共性问题。</a:t>
            </a:r>
            <a:endParaRPr lang="en-US" altLang="zh-CN" sz="2000" b="1" dirty="0"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有时一条问题记录可能包含多个关键词，也就是具有</a:t>
            </a:r>
            <a:r>
              <a:rPr lang="zh-CN" altLang="en-US" sz="2000" b="1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多个特征</a:t>
            </a: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，因而关键词分析相比于问题类别分析更能够洞察共性。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279" name="Rounded Rectangle 278"/>
          <p:cNvSpPr/>
          <p:nvPr/>
        </p:nvSpPr>
        <p:spPr>
          <a:xfrm>
            <a:off x="1005840" y="2907792"/>
            <a:ext cx="2423160" cy="59436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价签标识  2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3749039" y="2907792"/>
            <a:ext cx="2423160" cy="5943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货架积灰 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标题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/>
            <a:r>
              <a:rPr>
                <a:latin typeface="Noto Sans CJK SC"/>
                <a:ea typeface="Noto Sans CJK SC"/>
                <a:cs typeface="Noto Sans CJK SC"/>
              </a:rPr>
              <a:t>四、具体问题分析</a:t>
            </a:r>
            <a:endParaRPr dirty="0"/>
          </a:p>
        </p:txBody>
      </p:sp>
      <p:sp>
        <p:nvSpPr>
          <p:cNvPr id="282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3. 商品摆放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83" name="文本框 3"/>
          <p:cNvSpPr txBox="1"/>
          <p:nvPr/>
        </p:nvSpPr>
        <p:spPr>
          <a:xfrm>
            <a:off x="683895" y="1651000"/>
            <a:ext cx="10515600" cy="501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sz="1500">
                <a:latin typeface="Noto Sans CJK SC"/>
                <a:ea typeface="Noto Sans CJK SC"/>
                <a:cs typeface="Noto Sans CJK SC"/>
              </a:rPr>
              <a:t>共3项，占全部问题60.0%，典型问题如下：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84" name="Table 283"/>
          <p:cNvGraphicFramePr>
            <a:graphicFrameLocks noGrp="1"/>
          </p:cNvGraphicFramePr>
          <p:nvPr/>
        </p:nvGraphicFramePr>
        <p:xfrm>
          <a:off x="640080" y="2578608"/>
          <a:ext cx="480060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783080"/>
                <a:gridCol w="178308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高频特征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数量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典型表现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</a:tr>
              <a:tr h="969264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价签标识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商品无价签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285" name="TextBox 284"/>
          <p:cNvSpPr txBox="1"/>
          <p:nvPr/>
        </p:nvSpPr>
        <p:spPr>
          <a:xfrm>
            <a:off x="713232" y="4663440"/>
            <a:ext cx="5230368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>
                <a:latin typeface="Noto Sans CJK SC"/>
                <a:ea typeface="Noto Sans CJK SC"/>
                <a:cs typeface="Noto Sans CJK SC"/>
              </a:rPr>
              <a:t>·测试一站：商品无价签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6263640" y="2578608"/>
            <a:ext cx="2560320" cy="1243584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6263640" y="382219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测试一站：商品无价签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8979408" y="2578608"/>
            <a:ext cx="2560320" cy="1243584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8979408" y="382219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暂无更多典型问题</a:t>
            </a:r>
          </a:p>
        </p:txBody>
      </p:sp>
      <p:sp>
        <p:nvSpPr>
          <p:cNvPr id="290" name="Rounded Rectangle 289"/>
          <p:cNvSpPr/>
          <p:nvPr/>
        </p:nvSpPr>
        <p:spPr>
          <a:xfrm>
            <a:off x="6263640" y="4498848"/>
            <a:ext cx="2560320" cy="1243584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6263640" y="574243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暂无更多典型问题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8979408" y="4498848"/>
            <a:ext cx="2560320" cy="1243584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8979408" y="574243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暂无更多典型问题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标题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/>
            <a:r>
              <a:rPr>
                <a:latin typeface="Noto Sans CJK SC"/>
                <a:ea typeface="Noto Sans CJK SC"/>
                <a:cs typeface="Noto Sans CJK SC"/>
              </a:rPr>
              <a:t>四、具体问题分析</a:t>
            </a:r>
            <a:endParaRPr dirty="0"/>
          </a:p>
        </p:txBody>
      </p:sp>
      <p:sp>
        <p:nvSpPr>
          <p:cNvPr id="299" name="矩形 1"/>
          <p:cNvSpPr/>
          <p:nvPr/>
        </p:nvSpPr>
        <p:spPr>
          <a:xfrm>
            <a:off x="839470" y="1062038"/>
            <a:ext cx="5292725" cy="8197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4. 便利店卫生</a:t>
            </a:r>
            <a:endParaRPr lang="zh-CN" altLang="en-US" sz="2000" b="1" dirty="0">
              <a:latin typeface="方正小标宋简体" panose="02000000000000000000" pitchFamily="2" charset="-122"/>
              <a:ea typeface="方正小标宋简体" panose="02000000000000000000" pitchFamily="2" charset="-122"/>
              <a:sym typeface="+mn-ea"/>
            </a:endParaRPr>
          </a:p>
        </p:txBody>
      </p:sp>
      <p:sp>
        <p:nvSpPr>
          <p:cNvPr id="300" name="矩形 7"/>
          <p:cNvSpPr/>
          <p:nvPr/>
        </p:nvSpPr>
        <p:spPr>
          <a:xfrm>
            <a:off x="862965" y="3697964"/>
            <a:ext cx="5292725" cy="8864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rtl="0"/>
            <a:r>
              <a:rPr sz="1500" b="1">
                <a:latin typeface="Noto Sans CJK SC"/>
                <a:ea typeface="Noto Sans CJK SC"/>
                <a:cs typeface="Noto Sans CJK SC"/>
              </a:rPr>
              <a:t>共2项，占全部问题40.0%，典型问题如下：</a:t>
            </a:r>
            <a:endParaRPr lang="zh-CN" altLang="en-US" sz="2000" b="1" dirty="0">
              <a:latin typeface="方正小标宋简体" panose="02000000000000000000" pitchFamily="2" charset="-122"/>
              <a:ea typeface="方正小标宋简体" panose="02000000000000000000" pitchFamily="2" charset="-122"/>
              <a:sym typeface="+mn-ea"/>
            </a:endParaRP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640080" y="2578608"/>
          <a:ext cx="480060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783080"/>
                <a:gridCol w="178308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高频特征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数量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典型表现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</a:tr>
              <a:tr h="969264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货架积灰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货架有灰尘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302" name="TextBox 301"/>
          <p:cNvSpPr txBox="1"/>
          <p:nvPr/>
        </p:nvSpPr>
        <p:spPr>
          <a:xfrm>
            <a:off x="713232" y="4663440"/>
            <a:ext cx="5230368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>
                <a:latin typeface="Noto Sans CJK SC"/>
                <a:ea typeface="Noto Sans CJK SC"/>
                <a:cs typeface="Noto Sans CJK SC"/>
              </a:rPr>
              <a:t>·测试二站：货架有灰尘</a:t>
            </a:r>
          </a:p>
        </p:txBody>
      </p:sp>
      <p:sp>
        <p:nvSpPr>
          <p:cNvPr id="303" name="Rounded Rectangle 302"/>
          <p:cNvSpPr/>
          <p:nvPr/>
        </p:nvSpPr>
        <p:spPr>
          <a:xfrm>
            <a:off x="6263640" y="2578608"/>
            <a:ext cx="2560320" cy="1243584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6263640" y="382219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测试二站：货架有灰尘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8979408" y="2578608"/>
            <a:ext cx="2560320" cy="1243584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8979408" y="382219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暂无更多典型问题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6263640" y="4498848"/>
            <a:ext cx="2560320" cy="1243584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6263640" y="574243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暂无更多典型问题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8979408" y="4498848"/>
            <a:ext cx="2560320" cy="1243584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8979408" y="574243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暂无更多典型问题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>
                <a:latin typeface="Noto Sans CJK SC"/>
                <a:ea typeface="Noto Sans CJK SC"/>
                <a:cs typeface="Noto Sans CJK SC"/>
              </a:rPr>
              <a:t>二、片区问题汇总——浦东片区</a:t>
            </a:r>
          </a:p>
        </p:txBody>
      </p:sp>
      <p:sp>
        <p:nvSpPr>
          <p:cNvPr id="43" name="文本框 87"/>
          <p:cNvSpPr txBox="1"/>
          <p:nvPr/>
        </p:nvSpPr>
        <p:spPr>
          <a:xfrm>
            <a:off x="685800" y="4892040"/>
            <a:ext cx="10881360" cy="1600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92785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2000" b="1" i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涉及站点数：2座（测试一站、测试二站）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  <a:cs typeface="+mn-cs"/>
            </a:endParaRPr>
          </a:p>
          <a:p>
            <a:pPr algn="l"/>
            <a:r>
              <a:rPr sz="2000" b="1" i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问题总计：5项（占本次全盘通报问题总量的100.0%，主要集中于店销商品摆放情况）</a:t>
            </a:r>
          </a:p>
          <a:p>
            <a:pPr algn="l"/>
            <a:r>
              <a:rPr sz="2000" b="1" i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站平均问题数：2.5项/站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773168"/>
            <a:ext cx="12192000" cy="5486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411480" y="1051560"/>
          <a:ext cx="64008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6903720" y="1051560"/>
          <a:ext cx="4800600" cy="3520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383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4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85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" name="PA-矩形 3"/>
          <p:cNvSpPr/>
          <p:nvPr/>
        </p:nvSpPr>
        <p:spPr>
          <a:xfrm>
            <a:off x="2212646" y="2494193"/>
            <a:ext cx="1739900" cy="1581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05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7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检查结果分析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标题 2"/>
          <p:cNvSpPr txBox="1">
            <a:spLocks noGrp="1"/>
          </p:cNvSpPr>
          <p:nvPr/>
        </p:nvSpPr>
        <p:spPr>
          <a:xfrm>
            <a:off x="1164067" y="307939"/>
            <a:ext cx="10515600" cy="685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l" defTabSz="914400" hangingPunct="1"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defRPr>
            </a:pPr>
            <a:r>
              <a:rPr lang="zh-CN" sz="2800" b="1" dirty="0">
                <a:solidFill>
                  <a:srgbClr val="BE0000">
                    <a:alpha val="100000"/>
                  </a:srgbClr>
                </a:solidFill>
                <a:latin typeface="Noto Sans CJK SC" panose="020B0A04020102020204"/>
                <a:ea typeface="Noto Sans CJK SC" panose="020B0503020204020204" charset="-122"/>
                <a:cs typeface="Noto Sans CJK SC"/>
              </a:rPr>
              <a:t>五、检查结果</a:t>
            </a:r>
            <a:r>
              <a:rPr lang="zh-CN" sz="2800" b="1" dirty="0">
                <a:solidFill>
                  <a:srgbClr val="BE0000">
                    <a:alpha val="100000"/>
                  </a:srgbClr>
                </a:solidFill>
                <a:latin typeface="Noto Sans CJK SC" panose="020B0A04020102020204"/>
                <a:ea typeface="Noto Sans CJK SC" panose="020B0503020204020204" charset="-122"/>
                <a:cs typeface="Noto Sans CJK SC"/>
                <a:sym typeface="微软雅黑" panose="020B0503020204020204" charset="-122"/>
              </a:rPr>
              <a:t>分析</a:t>
            </a:r>
            <a:endParaRPr lang="zh-CN" sz="2800" b="1" dirty="0">
              <a:solidFill>
                <a:srgbClr val="BE0000">
                  <a:alpha val="100000"/>
                </a:srgbClr>
              </a:solidFill>
              <a:latin typeface="Arial Black" panose="020B0A04020102020204"/>
              <a:ea typeface="微软雅黑" panose="020B0503020204020204" charset="-122"/>
              <a:cs typeface="+mj-cs"/>
              <a:sym typeface="微软雅黑" panose="020B0503020204020204" charset="-122"/>
            </a:endParaRPr>
          </a:p>
        </p:txBody>
      </p:sp>
      <p:sp>
        <p:nvSpPr>
          <p:cNvPr id="391" name="AutoShape 5"/>
          <p:cNvSpPr/>
          <p:nvPr/>
        </p:nvSpPr>
        <p:spPr>
          <a:xfrm>
            <a:off x="711200" y="13970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C00000"/>
                </a:solidFill>
                <a:latin typeface="Noto Sans CJK SC" panose="020B0200000000000000" charset="-122"/>
                <a:ea typeface="Noto Sans CJK SC" panose="020B0200000000000000" charset="-122"/>
                <a:cs typeface="Noto Sans CJK SC" panose="020B0200000000000000" charset="-122"/>
                <a:sym typeface="Noto Sans SC" panose="020B0200000000000000" charset="-122"/>
              </a:rPr>
              <a:t>01 </a:t>
            </a:r>
            <a:r>
              <a:rPr lang="en-US" sz="2000" b="1" i="0" u="none" strike="noStrike" dirty="0" err="1">
                <a:solidFill>
                  <a:srgbClr val="C00000"/>
                </a:solidFill>
                <a:latin typeface="Noto Sans CJK SC" panose="020B0200000000000000" charset="-122"/>
                <a:ea typeface="Noto Sans CJK SC" panose="020B0200000000000000" charset="-122"/>
                <a:cs typeface="Noto Sans CJK SC" panose="020B0200000000000000" charset="-122"/>
                <a:sym typeface="Noto Sans SC" panose="020B0200000000000000" charset="-122"/>
              </a:rPr>
              <a:t>核心特征：问题聚焦与区域分化</a:t>
            </a:r>
            <a:endParaRPr lang="en-US" sz="1100" dirty="0">
              <a:solidFill>
                <a:srgbClr val="C00000"/>
              </a:solidFill>
            </a:endParaRPr>
          </a:p>
        </p:txBody>
      </p:sp>
      <p:cxnSp>
        <p:nvCxnSpPr>
          <p:cNvPr id="392" name="Connector 6"/>
          <p:cNvCxnSpPr/>
          <p:nvPr/>
        </p:nvCxnSpPr>
        <p:spPr>
          <a:xfrm rot="21595947">
            <a:off x="711204" y="1898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3" name="AutoShape 7"/>
          <p:cNvSpPr/>
          <p:nvPr/>
        </p:nvSpPr>
        <p:spPr>
          <a:xfrm>
            <a:off x="711200" y="2095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FFDFDF"/>
              </a:solidFill>
            </a:endParaRPr>
          </a:p>
        </p:txBody>
      </p:sp>
      <p:pic>
        <p:nvPicPr>
          <p:cNvPr id="394" name="Picture 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298700"/>
            <a:ext cx="304800" cy="304800"/>
          </a:xfrm>
          <a:prstGeom prst="rect">
            <a:avLst/>
          </a:prstGeom>
        </p:spPr>
      </p:pic>
      <p:sp>
        <p:nvSpPr>
          <p:cNvPr id="395" name="AutoShape 9"/>
          <p:cNvSpPr/>
          <p:nvPr/>
        </p:nvSpPr>
        <p:spPr>
          <a:xfrm>
            <a:off x="1320800" y="2286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500" b="1" i="0">
                <a:latin typeface="Noto Sans CJK SC"/>
                <a:ea typeface="Noto Sans CJK SC"/>
                <a:cs typeface="Noto Sans CJK SC"/>
              </a:rPr>
              <a:t>问题集中化</a:t>
            </a:r>
            <a:endParaRPr lang="en-US" sz="1100" dirty="0"/>
          </a:p>
        </p:txBody>
      </p:sp>
      <p:sp>
        <p:nvSpPr>
          <p:cNvPr id="396" name="AutoShape 10"/>
          <p:cNvSpPr/>
          <p:nvPr/>
        </p:nvSpPr>
        <p:spPr>
          <a:xfrm>
            <a:off x="914400" y="2730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sz="1300" b="0" i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问题主要集中在商品摆放。</a:t>
            </a:r>
            <a:endParaRPr lang="en-US" sz="1100"/>
          </a:p>
        </p:txBody>
      </p:sp>
      <p:sp>
        <p:nvSpPr>
          <p:cNvPr id="397" name="AutoShape 11"/>
          <p:cNvSpPr/>
          <p:nvPr/>
        </p:nvSpPr>
        <p:spPr>
          <a:xfrm>
            <a:off x="4368800" y="2095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solidFill>
                <a:srgbClr val="FFDFDF"/>
              </a:solidFill>
            </a:endParaRPr>
          </a:p>
        </p:txBody>
      </p:sp>
      <p:pic>
        <p:nvPicPr>
          <p:cNvPr id="398" name="Picture 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298700"/>
            <a:ext cx="304800" cy="304800"/>
          </a:xfrm>
          <a:prstGeom prst="rect">
            <a:avLst/>
          </a:prstGeom>
        </p:spPr>
      </p:pic>
      <p:sp>
        <p:nvSpPr>
          <p:cNvPr id="399" name="AutoShape 13"/>
          <p:cNvSpPr/>
          <p:nvPr/>
        </p:nvSpPr>
        <p:spPr>
          <a:xfrm>
            <a:off x="4978400" y="2286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500" b="1" i="0">
                <a:latin typeface="Noto Sans CJK SC"/>
                <a:ea typeface="Noto Sans CJK SC"/>
                <a:cs typeface="Noto Sans CJK SC"/>
              </a:rPr>
              <a:t>区域差异化</a:t>
            </a:r>
            <a:endParaRPr lang="en-US" sz="1100"/>
          </a:p>
        </p:txBody>
      </p:sp>
      <p:sp>
        <p:nvSpPr>
          <p:cNvPr id="400" name="AutoShape 14"/>
          <p:cNvSpPr/>
          <p:nvPr/>
        </p:nvSpPr>
        <p:spPr>
          <a:xfrm>
            <a:off x="4572000" y="2730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1300" b="0" i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不同站点存在差异。</a:t>
            </a:r>
            <a:endParaRPr lang="en-US" sz="1300" b="0" i="0" u="none" strike="noStrike">
              <a:solidFill>
                <a:srgbClr val="6B7280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1" name="AutoShape 15"/>
          <p:cNvSpPr/>
          <p:nvPr/>
        </p:nvSpPr>
        <p:spPr>
          <a:xfrm>
            <a:off x="8026400" y="2095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2" name="Picture 1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0" y="2298700"/>
            <a:ext cx="304800" cy="304800"/>
          </a:xfrm>
          <a:prstGeom prst="rect">
            <a:avLst/>
          </a:prstGeom>
        </p:spPr>
      </p:pic>
      <p:sp>
        <p:nvSpPr>
          <p:cNvPr id="403" name="AutoShape 17"/>
          <p:cNvSpPr/>
          <p:nvPr/>
        </p:nvSpPr>
        <p:spPr>
          <a:xfrm>
            <a:off x="8636000" y="2286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500" b="1" i="0">
                <a:latin typeface="Noto Sans CJK SC"/>
                <a:ea typeface="Noto Sans CJK SC"/>
                <a:cs typeface="Noto Sans CJK SC"/>
              </a:rPr>
              <a:t>风险同质化</a:t>
            </a:r>
            <a:endParaRPr lang="en-US" sz="1100"/>
          </a:p>
        </p:txBody>
      </p:sp>
      <p:sp>
        <p:nvSpPr>
          <p:cNvPr id="404" name="AutoShape 18"/>
          <p:cNvSpPr/>
          <p:nvPr/>
        </p:nvSpPr>
        <p:spPr>
          <a:xfrm>
            <a:off x="8229600" y="2730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sz="1300" b="0" i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价签问题重复出现。</a:t>
            </a:r>
            <a:endParaRPr lang="en-US" sz="1100"/>
          </a:p>
        </p:txBody>
      </p:sp>
      <p:sp>
        <p:nvSpPr>
          <p:cNvPr id="405" name="AutoShape 19"/>
          <p:cNvSpPr/>
          <p:nvPr/>
        </p:nvSpPr>
        <p:spPr>
          <a:xfrm>
            <a:off x="711200" y="40640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C00000"/>
                </a:solidFill>
                <a:latin typeface="Noto Sans CJK SC" panose="020B0200000000000000" charset="-122"/>
                <a:ea typeface="Noto Sans CJK SC" panose="020B0200000000000000" charset="-122"/>
                <a:cs typeface="Noto Sans CJK SC" panose="020B0200000000000000" charset="-122"/>
                <a:sym typeface="Noto Sans SC" panose="020B0200000000000000" charset="-122"/>
              </a:rPr>
              <a:t>02 </a:t>
            </a:r>
            <a:r>
              <a:rPr lang="en-US" sz="2000" b="1" i="0" u="none" strike="noStrike" dirty="0" err="1">
                <a:solidFill>
                  <a:srgbClr val="C00000"/>
                </a:solidFill>
                <a:latin typeface="Noto Sans CJK SC" panose="020B0200000000000000" charset="-122"/>
                <a:ea typeface="Noto Sans CJK SC" panose="020B0200000000000000" charset="-122"/>
                <a:cs typeface="Noto Sans CJK SC" panose="020B0200000000000000" charset="-122"/>
                <a:sym typeface="Noto Sans SC" panose="020B0200000000000000" charset="-122"/>
              </a:rPr>
              <a:t>核心根源：执行、意识与机制的三重缺失</a:t>
            </a:r>
            <a:endParaRPr lang="en-US" sz="1100" dirty="0">
              <a:solidFill>
                <a:srgbClr val="C00000"/>
              </a:solidFill>
            </a:endParaRPr>
          </a:p>
        </p:txBody>
      </p:sp>
      <p:cxnSp>
        <p:nvCxnSpPr>
          <p:cNvPr id="406" name="Connector 20"/>
          <p:cNvCxnSpPr/>
          <p:nvPr/>
        </p:nvCxnSpPr>
        <p:spPr>
          <a:xfrm rot="21595947">
            <a:off x="711204" y="4565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7" name="AutoShape 21"/>
          <p:cNvSpPr/>
          <p:nvPr/>
        </p:nvSpPr>
        <p:spPr>
          <a:xfrm>
            <a:off x="711200" y="4762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8" name="Picture 2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4965700"/>
            <a:ext cx="304800" cy="304800"/>
          </a:xfrm>
          <a:prstGeom prst="rect">
            <a:avLst/>
          </a:prstGeom>
        </p:spPr>
      </p:pic>
      <p:sp>
        <p:nvSpPr>
          <p:cNvPr id="409" name="AutoShape 23"/>
          <p:cNvSpPr/>
          <p:nvPr/>
        </p:nvSpPr>
        <p:spPr>
          <a:xfrm>
            <a:off x="1320800" y="4953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500" b="1" i="0">
                <a:latin typeface="Noto Sans CJK SC"/>
                <a:ea typeface="Noto Sans CJK SC"/>
                <a:cs typeface="Noto Sans CJK SC"/>
              </a:rPr>
              <a:t>流程执行</a:t>
            </a:r>
            <a:endParaRPr lang="en-US" sz="1100"/>
          </a:p>
        </p:txBody>
      </p:sp>
      <p:sp>
        <p:nvSpPr>
          <p:cNvPr id="410" name="AutoShape 24"/>
          <p:cNvSpPr/>
          <p:nvPr/>
        </p:nvSpPr>
        <p:spPr>
          <a:xfrm>
            <a:off x="914400" y="5397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sz="1300" b="0" i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基础流程落地不足。</a:t>
            </a:r>
            <a:endParaRPr lang="en-US" sz="1100"/>
          </a:p>
        </p:txBody>
      </p:sp>
      <p:sp>
        <p:nvSpPr>
          <p:cNvPr id="411" name="AutoShape 25"/>
          <p:cNvSpPr/>
          <p:nvPr/>
        </p:nvSpPr>
        <p:spPr>
          <a:xfrm>
            <a:off x="4368800" y="4762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2" name="Picture 26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4965700"/>
            <a:ext cx="304800" cy="304800"/>
          </a:xfrm>
          <a:prstGeom prst="rect">
            <a:avLst/>
          </a:prstGeom>
        </p:spPr>
      </p:pic>
      <p:sp>
        <p:nvSpPr>
          <p:cNvPr id="413" name="AutoShape 27"/>
          <p:cNvSpPr/>
          <p:nvPr/>
        </p:nvSpPr>
        <p:spPr>
          <a:xfrm>
            <a:off x="4978400" y="4953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500" b="1" i="0">
                <a:latin typeface="Noto Sans CJK SC"/>
                <a:ea typeface="Noto Sans CJK SC"/>
                <a:cs typeface="Noto Sans CJK SC"/>
              </a:rPr>
              <a:t>风险认知</a:t>
            </a:r>
            <a:endParaRPr lang="en-US" sz="1100"/>
          </a:p>
        </p:txBody>
      </p:sp>
      <p:sp>
        <p:nvSpPr>
          <p:cNvPr id="414" name="AutoShape 28"/>
          <p:cNvSpPr/>
          <p:nvPr/>
        </p:nvSpPr>
        <p:spPr>
          <a:xfrm>
            <a:off x="4572000" y="5397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sz="1300" b="0" i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风险认知需提升。</a:t>
            </a:r>
            <a:endParaRPr lang="en-US" sz="1100"/>
          </a:p>
        </p:txBody>
      </p:sp>
      <p:sp>
        <p:nvSpPr>
          <p:cNvPr id="415" name="AutoShape 29"/>
          <p:cNvSpPr/>
          <p:nvPr/>
        </p:nvSpPr>
        <p:spPr>
          <a:xfrm>
            <a:off x="8026400" y="4762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6" name="Picture 30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0" y="4965700"/>
            <a:ext cx="304800" cy="304800"/>
          </a:xfrm>
          <a:prstGeom prst="rect">
            <a:avLst/>
          </a:prstGeom>
        </p:spPr>
      </p:pic>
      <p:sp>
        <p:nvSpPr>
          <p:cNvPr id="417" name="AutoShape 31"/>
          <p:cNvSpPr/>
          <p:nvPr/>
        </p:nvSpPr>
        <p:spPr>
          <a:xfrm>
            <a:off x="8636000" y="4953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500" b="1" i="0">
                <a:latin typeface="Noto Sans CJK SC"/>
                <a:ea typeface="Noto Sans CJK SC"/>
                <a:cs typeface="Noto Sans CJK SC"/>
              </a:rPr>
              <a:t>监督机制</a:t>
            </a:r>
            <a:endParaRPr lang="en-US" sz="1100"/>
          </a:p>
        </p:txBody>
      </p:sp>
      <p:sp>
        <p:nvSpPr>
          <p:cNvPr id="418" name="AutoShape 32"/>
          <p:cNvSpPr/>
          <p:nvPr/>
        </p:nvSpPr>
        <p:spPr>
          <a:xfrm>
            <a:off x="8229600" y="5397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sz="1300" b="0" i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监督复核仍需强化。</a:t>
            </a:r>
            <a:endParaRPr lang="en-US" sz="1100"/>
          </a:p>
        </p:txBody>
      </p:sp>
      <p:sp>
        <p:nvSpPr>
          <p:cNvPr id="419" name="Rounded Rectangle 418"/>
          <p:cNvSpPr/>
          <p:nvPr/>
        </p:nvSpPr>
        <p:spPr>
          <a:xfrm>
            <a:off x="10469880" y="1024128"/>
            <a:ext cx="1024128" cy="310896"/>
          </a:xfrm>
          <a:prstGeom prst="round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D4ED8"/>
                </a:solidFill>
                <a:latin typeface="Noto Sans CJK SC"/>
                <a:ea typeface="Noto Sans CJK SC"/>
                <a:cs typeface="Noto Sans CJK SC"/>
              </a:rPr>
              <a:t>AI 生成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标题 2"/>
          <p:cNvSpPr txBox="1">
            <a:spLocks noGrp="1"/>
          </p:cNvSpPr>
          <p:nvPr/>
        </p:nvSpPr>
        <p:spPr>
          <a:xfrm>
            <a:off x="1164067" y="307939"/>
            <a:ext cx="10515600" cy="685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l" defTabSz="914400" hangingPunct="1"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defRPr>
            </a:pP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Noto Sans CJK SC" panose="020B0A04020102020204"/>
                <a:ea typeface="Noto Sans CJK SC" panose="020B0503020204020204" charset="-122"/>
                <a:cs typeface="Noto Sans CJK SC"/>
              </a:rPr>
              <a:t>五、检查结果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Noto Sans CJK SC" panose="020B0A04020102020204"/>
                <a:ea typeface="Noto Sans CJK SC" panose="020B0503020204020204" charset="-122"/>
                <a:cs typeface="Noto Sans CJK SC"/>
                <a:sym typeface="微软雅黑" panose="020B0503020204020204" charset="-122"/>
              </a:rPr>
              <a:t>分析</a:t>
            </a:r>
            <a:endParaRPr lang="zh-CN" sz="2800" b="1">
              <a:solidFill>
                <a:srgbClr val="BE0000">
                  <a:alpha val="100000"/>
                </a:srgbClr>
              </a:solidFill>
              <a:latin typeface="Arial Black" panose="020B0A04020102020204"/>
              <a:ea typeface="微软雅黑" panose="020B0503020204020204" charset="-122"/>
              <a:cs typeface="+mj-cs"/>
              <a:sym typeface="微软雅黑" panose="020B0503020204020204" charset="-122"/>
            </a:endParaRPr>
          </a:p>
        </p:txBody>
      </p:sp>
      <p:sp>
        <p:nvSpPr>
          <p:cNvPr id="421" name="Rounded Rectangle 420"/>
          <p:cNvSpPr/>
          <p:nvPr/>
        </p:nvSpPr>
        <p:spPr>
          <a:xfrm>
            <a:off x="658368" y="1600200"/>
            <a:ext cx="3456432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658368" y="1600200"/>
            <a:ext cx="345643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822959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1316736" y="1810512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1">
                <a:latin typeface="Noto Sans CJK SC"/>
                <a:ea typeface="Noto Sans CJK SC"/>
                <a:cs typeface="Noto Sans CJK SC"/>
              </a:rPr>
              <a:t>固化流程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886968" y="2578608"/>
            <a:ext cx="299923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Noto Sans CJK SC"/>
                <a:ea typeface="Noto Sans CJK SC"/>
                <a:cs typeface="Noto Sans CJK SC"/>
              </a:rPr>
              <a:t>固化基础检查流程。</a:t>
            </a:r>
          </a:p>
        </p:txBody>
      </p:sp>
      <p:sp>
        <p:nvSpPr>
          <p:cNvPr id="426" name="Rounded Rectangle 425"/>
          <p:cNvSpPr/>
          <p:nvPr/>
        </p:nvSpPr>
        <p:spPr>
          <a:xfrm>
            <a:off x="4453128" y="1600200"/>
            <a:ext cx="3456432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4453128" y="1600200"/>
            <a:ext cx="345643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4617720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5111496" y="1810512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1">
                <a:latin typeface="Noto Sans CJK SC"/>
                <a:ea typeface="Noto Sans CJK SC"/>
                <a:cs typeface="Noto Sans CJK SC"/>
              </a:rPr>
              <a:t>优化培训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4681728" y="2578608"/>
            <a:ext cx="299923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Noto Sans CJK SC"/>
                <a:ea typeface="Noto Sans CJK SC"/>
                <a:cs typeface="Noto Sans CJK SC"/>
              </a:rPr>
              <a:t>开展案例化培训。</a:t>
            </a:r>
          </a:p>
        </p:txBody>
      </p:sp>
      <p:sp>
        <p:nvSpPr>
          <p:cNvPr id="431" name="Rounded Rectangle 430"/>
          <p:cNvSpPr/>
          <p:nvPr/>
        </p:nvSpPr>
        <p:spPr>
          <a:xfrm>
            <a:off x="8247888" y="1600200"/>
            <a:ext cx="3456432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8247888" y="1600200"/>
            <a:ext cx="345643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8412480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8906256" y="1810512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1">
                <a:latin typeface="Noto Sans CJK SC"/>
                <a:ea typeface="Noto Sans CJK SC"/>
                <a:cs typeface="Noto Sans CJK SC"/>
              </a:rPr>
              <a:t>闭环复核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8476488" y="2578608"/>
            <a:ext cx="299923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Noto Sans CJK SC"/>
                <a:ea typeface="Noto Sans CJK SC"/>
                <a:cs typeface="Noto Sans CJK SC"/>
              </a:rPr>
              <a:t>建立整改复核机制。</a:t>
            </a:r>
          </a:p>
        </p:txBody>
      </p:sp>
      <p:sp>
        <p:nvSpPr>
          <p:cNvPr id="436" name="Rounded Rectangle 435"/>
          <p:cNvSpPr/>
          <p:nvPr/>
        </p:nvSpPr>
        <p:spPr>
          <a:xfrm>
            <a:off x="10469880" y="1024128"/>
            <a:ext cx="1024128" cy="310896"/>
          </a:xfrm>
          <a:prstGeom prst="round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D4ED8"/>
                </a:solidFill>
                <a:latin typeface="Noto Sans CJK SC"/>
                <a:ea typeface="Noto Sans CJK SC"/>
                <a:cs typeface="Noto Sans CJK SC"/>
              </a:rPr>
              <a:t>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文本框 15"/>
          <p:cNvSpPr txBox="1"/>
          <p:nvPr/>
        </p:nvSpPr>
        <p:spPr>
          <a:xfrm>
            <a:off x="1439020" y="2740010"/>
            <a:ext cx="9442450" cy="1096698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zh-CN" altLang="en-US" sz="5400" dirty="0">
                <a:ln w="12700">
                  <a:noFill/>
                  <a:prstDash val="solid"/>
                </a:ln>
                <a:solidFill>
                  <a:schemeClr val="tx2">
                    <a:alpha val="100000"/>
                  </a:schemeClr>
                </a:solidFill>
                <a:latin typeface="Noto Sans CJK SC"/>
                <a:ea typeface="Noto Sans CJK SC"/>
                <a:cs typeface="Noto Sans CJK SC"/>
              </a:rPr>
              <a:t>精细运营 品质非油</a:t>
            </a:r>
            <a:endParaRPr dirty="0"/>
          </a:p>
        </p:txBody>
      </p:sp>
      <p:pic>
        <p:nvPicPr>
          <p:cNvPr id="424" name="图片 13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5058406" y="752906"/>
            <a:ext cx="2201126" cy="2201126"/>
          </a:xfrm>
          <a:prstGeom prst="rect">
            <a:avLst/>
          </a:prstGeom>
        </p:spPr>
      </p:pic>
      <p:pic>
        <p:nvPicPr>
          <p:cNvPr id="425" name="图片 14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275089" y="184768"/>
            <a:ext cx="2396625" cy="622056"/>
          </a:xfrm>
          <a:prstGeom prst="rect">
            <a:avLst/>
          </a:prstGeom>
        </p:spPr>
      </p:pic>
      <p:pic>
        <p:nvPicPr>
          <p:cNvPr id="426" name="图片 1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-19106" y="4777496"/>
            <a:ext cx="12301928" cy="21067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33830"/>
      </a:accent1>
      <a:accent2>
        <a:srgbClr val="A0202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"/>
        <a:ea typeface="等线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5221</Words>
  <Application>WPS 演示</Application>
  <PresentationFormat>宽屏</PresentationFormat>
  <Paragraphs>1003</Paragraphs>
  <Slides>45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38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45</vt:i4>
      </vt:variant>
    </vt:vector>
  </HeadingPairs>
  <TitlesOfParts>
    <vt:vector size="91" baseType="lpstr">
      <vt:lpstr>Arial</vt:lpstr>
      <vt:lpstr>宋体</vt:lpstr>
      <vt:lpstr>Wingdings</vt:lpstr>
      <vt:lpstr>Arial</vt:lpstr>
      <vt:lpstr>微软雅黑</vt:lpstr>
      <vt:lpstr>方正雅意黑 GB18030L2</vt:lpstr>
      <vt:lpstr>等线 Light</vt:lpstr>
      <vt:lpstr>汉仪中等线KW</vt:lpstr>
      <vt:lpstr>等线</vt:lpstr>
      <vt:lpstr>方正正中黑简体</vt:lpstr>
      <vt:lpstr>Impact</vt:lpstr>
      <vt:lpstr>方正兰亭黑_GBK</vt:lpstr>
      <vt:lpstr>汉仪中黑KW</vt:lpstr>
      <vt:lpstr>Wingdings</vt:lpstr>
      <vt:lpstr>方正仿宋简体</vt:lpstr>
      <vt:lpstr>Arial Black</vt:lpstr>
      <vt:lpstr>宋体</vt:lpstr>
      <vt:lpstr>Arial Unicode MS</vt:lpstr>
      <vt:lpstr>Times New Roman</vt:lpstr>
      <vt:lpstr>方正小标宋简体</vt:lpstr>
      <vt:lpstr>Roboto</vt:lpstr>
      <vt:lpstr>HarmonyOS Sans SC</vt:lpstr>
      <vt:lpstr>PMingLiU</vt:lpstr>
      <vt:lpstr>PMingLiU</vt:lpstr>
      <vt:lpstr>Thonburi</vt:lpstr>
      <vt:lpstr>Noto Sans SC</vt:lpstr>
      <vt:lpstr>汉仪书宋二KW</vt:lpstr>
      <vt:lpstr>宋体-繁</vt:lpstr>
      <vt:lpstr>PMingLiU</vt:lpstr>
      <vt:lpstr>冬青黑体简体中文</vt:lpstr>
      <vt:lpstr>Arial Black</vt:lpstr>
      <vt:lpstr>HarmonyOS Sans SC</vt:lpstr>
      <vt:lpstr>Noto Sans SC</vt:lpstr>
      <vt:lpstr>Roboto</vt:lpstr>
      <vt:lpstr>微软雅黑</vt:lpstr>
      <vt:lpstr>方正正中黑简体</vt:lpstr>
      <vt:lpstr>等线</vt:lpstr>
      <vt:lpstr>苹方-简</vt:lpstr>
      <vt:lpstr>Office 主题​​</vt:lpstr>
      <vt:lpstr>Office 主题</vt:lpstr>
      <vt:lpstr>Office 主题</vt:lpstr>
      <vt:lpstr>Office 主题​​</vt:lpstr>
      <vt:lpstr>Office 主题</vt:lpstr>
      <vt:lpstr>Office 主题</vt:lpstr>
      <vt:lpstr>Office 主题</vt:lpstr>
      <vt:lpstr>Office 主题</vt:lpstr>
      <vt:lpstr>PowerPoint 演示文稿</vt:lpstr>
      <vt:lpstr>中国石油上海销售</vt:lpstr>
      <vt:lpstr>PowerPoint 演示文稿</vt:lpstr>
      <vt:lpstr>一、总体情况概述</vt:lpstr>
      <vt:lpstr>一、总体情况概述</vt:lpstr>
      <vt:lpstr>一、总体情况概述</vt:lpstr>
      <vt:lpstr>一、总体情况概述</vt:lpstr>
      <vt:lpstr>PowerPoint 演示文稿</vt:lpstr>
      <vt:lpstr>二、片区问题汇总——总体概况</vt:lpstr>
      <vt:lpstr>二、片区问题汇总——浦东片区</vt:lpstr>
      <vt:lpstr>二、片区问题汇总——闵普徐片区</vt:lpstr>
      <vt:lpstr>二、片区问题汇总——松金片区</vt:lpstr>
      <vt:lpstr>PowerPoint 演示文稿</vt:lpstr>
      <vt:lpstr>二、片区问题汇总——南汇片区</vt:lpstr>
      <vt:lpstr>PowerPoint 演示文稿</vt:lpstr>
      <vt:lpstr>二、片区问题汇总——崇明片区</vt:lpstr>
      <vt:lpstr>二、片区问题汇总—中油奉贤</vt:lpstr>
      <vt:lpstr>二、片区问题汇总—中油同盛</vt:lpstr>
      <vt:lpstr>二、片区问题汇总—中油农工商</vt:lpstr>
      <vt:lpstr>二、片区问题汇总—中油浦东</vt:lpstr>
      <vt:lpstr>PowerPoint 演示文稿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PowerPoint 演示文稿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SZJ</dc:creator>
  <cp:lastModifiedBy>左翰承</cp:lastModifiedBy>
  <cp:revision>22</cp:revision>
  <dcterms:created xsi:type="dcterms:W3CDTF">2026-08-24T02:44:56Z</dcterms:created>
  <dcterms:modified xsi:type="dcterms:W3CDTF">2026-08-24T02:44:56Z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7F52D118CACD47AF8374A6B2EC94D27F_12</vt:lpwstr>
  </property>
  <property fmtid="{D5CDD505-2E9C-101B-9397-08002B2CF9AE}" pid="3" name="KSOProductBuildVer">
    <vt:lpwstr>2052-12.1.26055.26055</vt:lpwstr>
  </property>
</Properties>
</file>