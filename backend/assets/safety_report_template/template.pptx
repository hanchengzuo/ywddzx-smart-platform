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</p:sldMasterIdLst>
  <p:notesMasterIdLst>
    <p:notesMasterId r:id="rId6"/>
  </p:notesMasterIdLst>
  <p:handoutMasterIdLst>
    <p:handoutMasterId r:id="rId37"/>
  </p:handoutMasterIdLst>
  <p:sldIdLst>
    <p:sldId id="2658" r:id="rId5"/>
    <p:sldId id="2761" r:id="rId7"/>
    <p:sldId id="3383" r:id="rId8"/>
    <p:sldId id="3374" r:id="rId9"/>
    <p:sldId id="3143" r:id="rId10"/>
    <p:sldId id="3378" r:id="rId11"/>
    <p:sldId id="3193" r:id="rId12"/>
    <p:sldId id="3376" r:id="rId13"/>
    <p:sldId id="3382" r:id="rId14"/>
    <p:sldId id="3180" r:id="rId15"/>
    <p:sldId id="3380" r:id="rId16"/>
    <p:sldId id="3381" r:id="rId17"/>
    <p:sldId id="3367" r:id="rId18"/>
    <p:sldId id="3368" r:id="rId19"/>
    <p:sldId id="3369" r:id="rId20"/>
    <p:sldId id="3370" r:id="rId21"/>
    <p:sldId id="3371" r:id="rId22"/>
    <p:sldId id="3372" r:id="rId23"/>
    <p:sldId id="3360" r:id="rId24"/>
    <p:sldId id="3361" r:id="rId25"/>
    <p:sldId id="3362" r:id="rId26"/>
    <p:sldId id="3363" r:id="rId27"/>
    <p:sldId id="3364" r:id="rId28"/>
    <p:sldId id="3365" r:id="rId29"/>
    <p:sldId id="3182" r:id="rId30"/>
    <p:sldId id="3373" r:id="rId31"/>
    <p:sldId id="3318" r:id="rId32"/>
    <p:sldId id="3315" r:id="rId33"/>
    <p:sldId id="3375" r:id="rId34"/>
    <p:sldId id="3317" r:id="rId35"/>
    <p:sldId id="3104" r:id="rId36"/>
  </p:sldIdLst>
  <p:sldSz cx="12192000" cy="6858000"/>
  <p:notesSz cx="6797675" cy="9928225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" initials="w" lastIdx="3" clrIdx="0"/>
  <p:cmAuthor id="2" name="lihm6" initials="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95D2"/>
    <a:srgbClr val="FFFFFF"/>
    <a:srgbClr val="0000FF"/>
    <a:srgbClr val="88E4F6"/>
    <a:srgbClr val="1F23C7"/>
    <a:srgbClr val="FF0066"/>
    <a:srgbClr val="4F0FBD"/>
    <a:srgbClr val="1C3DCA"/>
    <a:srgbClr val="1D41D5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78" autoAdjust="0"/>
    <p:restoredTop sz="93995" autoAdjust="0"/>
  </p:normalViewPr>
  <p:slideViewPr>
    <p:cSldViewPr snapToGrid="0" showGuides="1">
      <p:cViewPr varScale="1">
        <p:scale>
          <a:sx n="110" d="100"/>
          <a:sy n="110" d="100"/>
        </p:scale>
        <p:origin x="384" y="108"/>
      </p:cViewPr>
      <p:guideLst>
        <p:guide orient="horz" pos="2065"/>
        <p:guide pos="3795"/>
      </p:guideLst>
    </p:cSldViewPr>
  </p:slideViewPr>
  <p:outlineViewPr>
    <p:cViewPr>
      <p:scale>
        <a:sx n="33" d="100"/>
        <a:sy n="33" d="100"/>
      </p:scale>
      <p:origin x="0" y="1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2" Type="http://schemas.openxmlformats.org/officeDocument/2006/relationships/tags" Target="tags/tag56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各管理片区及合资公司</a:t>
            </a:r>
            <a:r>
              <a:rPr lang="en-US" altLang="zh-CN"/>
              <a:t>（</a:t>
            </a:r>
            <a:r>
              <a:rPr altLang="en-US"/>
              <a:t>现场</a:t>
            </a:r>
            <a:r>
              <a:rPr lang="en-US" altLang="zh-CN"/>
              <a:t>）</a:t>
            </a:r>
            <a:r>
              <a:t>问题数量分布图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奉贤</c:v>
                </c:pt>
                <c:pt idx="1">
                  <c:v>松金</c:v>
                </c:pt>
                <c:pt idx="2">
                  <c:v>嘉青</c:v>
                </c:pt>
                <c:pt idx="3">
                  <c:v>南汇</c:v>
                </c:pt>
                <c:pt idx="4">
                  <c:v>崇明</c:v>
                </c:pt>
                <c:pt idx="5">
                  <c:v>中油农工商</c:v>
                </c:pt>
                <c:pt idx="6">
                  <c:v>中油奉贤</c:v>
                </c:pt>
                <c:pt idx="7">
                  <c:v>中油浦江</c:v>
                </c:pt>
                <c:pt idx="8">
                  <c:v>中油申能</c:v>
                </c:pt>
                <c:pt idx="9">
                  <c:v>中油同盛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2</c:v>
                </c:pt>
                <c:pt idx="9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问题数量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奉贤</c:v>
                </c:pt>
                <c:pt idx="1">
                  <c:v>松金</c:v>
                </c:pt>
                <c:pt idx="2">
                  <c:v>嘉青</c:v>
                </c:pt>
                <c:pt idx="3">
                  <c:v>南汇</c:v>
                </c:pt>
                <c:pt idx="4">
                  <c:v>崇明</c:v>
                </c:pt>
                <c:pt idx="5">
                  <c:v>中油农工商</c:v>
                </c:pt>
                <c:pt idx="6">
                  <c:v>中油奉贤</c:v>
                </c:pt>
                <c:pt idx="7">
                  <c:v>中油浦江</c:v>
                </c:pt>
                <c:pt idx="8">
                  <c:v>中油申能</c:v>
                </c:pt>
                <c:pt idx="9">
                  <c:v>中油同盛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</c:v>
                </c:pt>
                <c:pt idx="1">
                  <c:v>10</c:v>
                </c:pt>
                <c:pt idx="2">
                  <c:v>4</c:v>
                </c:pt>
                <c:pt idx="3">
                  <c:v>1</c:v>
                </c:pt>
                <c:pt idx="4">
                  <c:v>7</c:v>
                </c:pt>
                <c:pt idx="5">
                  <c:v>16</c:v>
                </c:pt>
                <c:pt idx="6">
                  <c:v>17</c:v>
                </c:pt>
                <c:pt idx="7">
                  <c:v>1</c:v>
                </c:pt>
                <c:pt idx="8">
                  <c:v>11</c:v>
                </c:pt>
                <c:pt idx="9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149787572"/>
        <c:axId val="237094233"/>
      </c:barChart>
      <c:catAx>
        <c:axId val="14978757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37094233"/>
        <c:crosses val="autoZero"/>
        <c:auto val="1"/>
        <c:lblAlgn val="ctr"/>
        <c:lblOffset val="100"/>
        <c:noMultiLvlLbl val="0"/>
      </c:catAx>
      <c:valAx>
        <c:axId val="23709423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97875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各管理片区及合资公司</a:t>
            </a:r>
            <a:r>
              <a:rPr lang="en-US" altLang="zh-CN"/>
              <a:t>（</a:t>
            </a:r>
            <a:r>
              <a:rPr altLang="en-US"/>
              <a:t>视频</a:t>
            </a:r>
            <a:r>
              <a:rPr lang="en-US" altLang="zh-CN"/>
              <a:t>）</a:t>
            </a:r>
            <a:r>
              <a:t>问题数量分布图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浦东</c:v>
                </c:pt>
                <c:pt idx="1">
                  <c:v>闵浦徐</c:v>
                </c:pt>
                <c:pt idx="2">
                  <c:v>松金</c:v>
                </c:pt>
                <c:pt idx="3">
                  <c:v>嘉青</c:v>
                </c:pt>
                <c:pt idx="4">
                  <c:v>南汇</c:v>
                </c:pt>
                <c:pt idx="5">
                  <c:v>宝静</c:v>
                </c:pt>
                <c:pt idx="6">
                  <c:v>奉贤</c:v>
                </c:pt>
                <c:pt idx="7">
                  <c:v>崇明</c:v>
                </c:pt>
                <c:pt idx="8">
                  <c:v>中油奉贤</c:v>
                </c:pt>
                <c:pt idx="9">
                  <c:v>中油康桥</c:v>
                </c:pt>
                <c:pt idx="10">
                  <c:v>中油同盛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</c:v>
                </c:pt>
                <c:pt idx="1">
                  <c:v>12</c:v>
                </c:pt>
                <c:pt idx="2">
                  <c:v>20</c:v>
                </c:pt>
                <c:pt idx="3">
                  <c:v>10</c:v>
                </c:pt>
                <c:pt idx="4">
                  <c:v>11</c:v>
                </c:pt>
                <c:pt idx="5">
                  <c:v>10</c:v>
                </c:pt>
                <c:pt idx="6">
                  <c:v>15</c:v>
                </c:pt>
                <c:pt idx="7">
                  <c:v>15</c:v>
                </c:pt>
                <c:pt idx="8">
                  <c:v>8</c:v>
                </c:pt>
                <c:pt idx="9">
                  <c:v>1</c:v>
                </c:pt>
                <c:pt idx="10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问题数量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浦东</c:v>
                </c:pt>
                <c:pt idx="1">
                  <c:v>闵浦徐</c:v>
                </c:pt>
                <c:pt idx="2">
                  <c:v>松金</c:v>
                </c:pt>
                <c:pt idx="3">
                  <c:v>嘉青</c:v>
                </c:pt>
                <c:pt idx="4">
                  <c:v>南汇</c:v>
                </c:pt>
                <c:pt idx="5">
                  <c:v>宝静</c:v>
                </c:pt>
                <c:pt idx="6">
                  <c:v>奉贤</c:v>
                </c:pt>
                <c:pt idx="7">
                  <c:v>崇明</c:v>
                </c:pt>
                <c:pt idx="8">
                  <c:v>中油奉贤</c:v>
                </c:pt>
                <c:pt idx="9">
                  <c:v>中油康桥</c:v>
                </c:pt>
                <c:pt idx="10">
                  <c:v>中油同盛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25</c:v>
                </c:pt>
                <c:pt idx="1">
                  <c:v>22</c:v>
                </c:pt>
                <c:pt idx="2">
                  <c:v>32</c:v>
                </c:pt>
                <c:pt idx="3">
                  <c:v>15</c:v>
                </c:pt>
                <c:pt idx="4">
                  <c:v>18</c:v>
                </c:pt>
                <c:pt idx="5">
                  <c:v>16</c:v>
                </c:pt>
                <c:pt idx="6">
                  <c:v>25</c:v>
                </c:pt>
                <c:pt idx="7">
                  <c:v>33</c:v>
                </c:pt>
                <c:pt idx="8">
                  <c:v>10</c:v>
                </c:pt>
                <c:pt idx="9">
                  <c:v>3</c:v>
                </c:pt>
                <c:pt idx="10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149787572"/>
        <c:axId val="237094233"/>
      </c:barChart>
      <c:catAx>
        <c:axId val="14978757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37094233"/>
        <c:crosses val="autoZero"/>
        <c:auto val="1"/>
        <c:lblAlgn val="ctr"/>
        <c:lblOffset val="100"/>
        <c:noMultiLvlLbl val="0"/>
      </c:catAx>
      <c:valAx>
        <c:axId val="23709423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97875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29727973261536"/>
          <c:y val="0.0034916201117318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8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effectLst/>
      </c:spPr>
    </c:floor>
    <c:sideWall>
      <c:thickness val="0"/>
      <c:spPr>
        <a:noFill/>
        <a:effectLst/>
      </c:spPr>
    </c:sideWall>
    <c:backWall>
      <c:thickness val="0"/>
      <c:spPr>
        <a:noFill/>
        <a:effectLst/>
      </c:spPr>
    </c:backWall>
    <c:plotArea>
      <c:layout>
        <c:manualLayout>
          <c:layoutTarget val="inner"/>
          <c:xMode val="edge"/>
          <c:yMode val="edge"/>
          <c:x val="0.0380651750069631"/>
          <c:y val="0.226302060889941"/>
          <c:w val="0.95914956828521"/>
          <c:h val="0.769884541372675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现场巡查问题汇总分析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 contourW="9525"/>
          </c:spPr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Lbls>
            <c:dLbl>
              <c:idx val="0"/>
              <c:layout>
                <c:manualLayout>
                  <c:x val="0.0130907065267849"/>
                  <c:y val="0.0181618051733627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设备设施</c:v>
                </c:pt>
                <c:pt idx="1">
                  <c:v>污染防治</c:v>
                </c:pt>
                <c:pt idx="2">
                  <c:v>风险隐患</c:v>
                </c:pt>
                <c:pt idx="3">
                  <c:v>能力意识和培训</c:v>
                </c:pt>
                <c:pt idx="4">
                  <c:v>其他对生产经营有影响的问题隐患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0.619718309859155</c:v>
                </c:pt>
                <c:pt idx="1">
                  <c:v>0.0845070422535211</c:v>
                </c:pt>
                <c:pt idx="2">
                  <c:v>0.0845070422535211</c:v>
                </c:pt>
                <c:pt idx="3">
                  <c:v>0.0563380281690141</c:v>
                </c:pt>
                <c:pt idx="4">
                  <c:v>0.154929577464789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9330609971219"/>
          <c:y val="0.0769400110071547"/>
          <c:w val="0.480642465880605"/>
          <c:h val="0.19988992845349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12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16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effectLst/>
      </c:spPr>
    </c:floor>
    <c:sideWall>
      <c:thickness val="0"/>
      <c:spPr>
        <a:noFill/>
        <a:effectLst/>
      </c:spPr>
    </c:sideWall>
    <c:backWall>
      <c:thickness val="0"/>
      <c:spPr>
        <a:noFill/>
        <a:effectLst/>
      </c:spPr>
    </c:backWall>
    <c:plotArea>
      <c:layout>
        <c:manualLayout>
          <c:layoutTarget val="inner"/>
          <c:xMode val="edge"/>
          <c:yMode val="edge"/>
          <c:x val="0.0182898523813945"/>
          <c:y val="0.194469223907226"/>
          <c:w val="0.95914956828521"/>
          <c:h val="0.801707658977953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视频巡查问题汇总分析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 contourW="9525"/>
          </c:spPr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设备维修作业</c:v>
                </c:pt>
                <c:pt idx="1">
                  <c:v>卸油作业</c:v>
                </c:pt>
                <c:pt idx="2">
                  <c:v>现场加油作业</c:v>
                </c:pt>
                <c:pt idx="3">
                  <c:v>油品质量控制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0.442786069651741</c:v>
                </c:pt>
                <c:pt idx="1">
                  <c:v>0.36318407960199</c:v>
                </c:pt>
                <c:pt idx="2">
                  <c:v>0.0646766169154229</c:v>
                </c:pt>
                <c:pt idx="3">
                  <c:v>0.0746268656716418</c:v>
                </c:pt>
                <c:pt idx="4">
                  <c:v>0.054726368159204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282889239624919"/>
          <c:y val="0.115967885816236"/>
          <c:w val="0.501439049299044"/>
          <c:h val="0.18860711099783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4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40" dirty="0"/>
              <a:t>设备设施类问题分析</a:t>
            </a:r>
            <a:endParaRPr lang="zh-CN" sz="1440" dirty="0"/>
          </a:p>
        </c:rich>
      </c:tx>
      <c:layout>
        <c:manualLayout>
          <c:xMode val="edge"/>
          <c:yMode val="edge"/>
          <c:x val="0.294675216057987"/>
          <c:y val="0.0399137001078749"/>
        </c:manualLayout>
      </c:layout>
      <c:overlay val="0"/>
      <c:spPr>
        <a:noFill/>
        <a:ln>
          <a:noFill/>
        </a:ln>
        <a:effectLst/>
      </c:spPr>
    </c:title>
    <c:autoTitleDeleted val="0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>
        <c:manualLayout>
          <c:layoutTarget val="inner"/>
          <c:xMode val="edge"/>
          <c:yMode val="edge"/>
          <c:x val="0.0841078066914498"/>
          <c:y val="0.104634217429321"/>
          <c:w val="0.831900557620818"/>
          <c:h val="0.524919848440688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系列1</c:v>
                </c:pt>
              </c:strCache>
            </c:strRef>
          </c:tx>
          <c:explosion val="0"/>
          <c:dPt>
            <c:idx val="0"/>
            <c:bubble3D val="0"/>
            <c:explosion val="15"/>
            <c:spPr>
              <a:solidFill>
                <a:srgbClr val="FF000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1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2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3"/>
            <c:bubble3D val="0"/>
            <c:spPr>
              <a:solidFill>
                <a:srgbClr val="FFFF0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4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5"/>
            <c:bubble3D val="0"/>
            <c:spPr>
              <a:solidFill>
                <a:srgbClr val="00206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6"/>
            <c:bubble3D val="0"/>
          </c:dPt>
          <c:dPt>
            <c:idx val="7"/>
            <c:bubble3D val="0"/>
          </c:dPt>
          <c:dPt>
            <c:idx val="8"/>
            <c:bubble3D val="0"/>
          </c:dPt>
          <c:dPt>
            <c:idx val="9"/>
            <c:bubble3D val="0"/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zh-CN" sz="12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656740226532535"/>
                      <c:h val="0.0960318664687177"/>
                    </c:manualLayout>
                  </c15:layout>
                </c:ext>
              </c:extLst>
            </c:dLbl>
            <c:dLbl>
              <c:idx val="9"/>
              <c:layout>
                <c:manualLayout>
                  <c:x val="0.00999184260452863"/>
                  <c:y val="-0.0358690228112374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加油机及相关设备设施</c:v>
                </c:pt>
                <c:pt idx="1">
                  <c:v>油罐操作井</c:v>
                </c:pt>
                <c:pt idx="2">
                  <c:v>油罐区其他相关设备设施</c:v>
                </c:pt>
                <c:pt idx="3">
                  <c:v>配发电</c:v>
                </c:pt>
                <c:pt idx="4">
                  <c:v>罩棚及相关设备设施</c:v>
                </c:pt>
                <c:pt idx="5">
                  <c:v>卸油静电接地报警器、卸油人体静电释放器、接地桩</c:v>
                </c:pt>
                <c:pt idx="6">
                  <c:v>通气管</c:v>
                </c:pt>
                <c:pt idx="7">
                  <c:v>卸油口</c:v>
                </c:pt>
                <c:pt idx="8">
                  <c:v>出入口标识</c:v>
                </c:pt>
                <c:pt idx="9">
                  <c:v>其他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</c:v>
                </c:pt>
                <c:pt idx="1">
                  <c:v>11</c:v>
                </c:pt>
                <c:pt idx="2">
                  <c:v>4</c:v>
                </c:pt>
                <c:pt idx="3">
                  <c:v>11</c:v>
                </c:pt>
                <c:pt idx="4">
                  <c:v>1</c:v>
                </c:pt>
                <c:pt idx="5">
                  <c:v>5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  <c:pt idx="9">
                  <c:v>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</c:pie3DChart>
      <c:spPr>
        <a:solidFill>
          <a:schemeClr val="bg2"/>
        </a:solidFill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方正黑体简体" panose="02000000000000000000" pitchFamily="2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方正黑体简体" panose="02000000000000000000" pitchFamily="2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方正黑体简体" panose="02000000000000000000" pitchFamily="2" charset="-122"/>
              </a:defRPr>
            </a:pPr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方正黑体简体" panose="02000000000000000000" pitchFamily="2" charset="-122"/>
              </a:defRPr>
            </a:pPr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方正黑体简体" panose="02000000000000000000" pitchFamily="2" charset="-122"/>
              </a:defRPr>
            </a:pPr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方正黑体简体" panose="02000000000000000000" pitchFamily="2" charset="-122"/>
              </a:defRPr>
            </a:pPr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方正黑体简体" panose="02000000000000000000" pitchFamily="2" charset="-122"/>
              </a:defRPr>
            </a:pPr>
          </a:p>
        </c:txPr>
      </c:legendEntry>
      <c:legendEntry>
        <c:idx val="7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方正黑体简体" panose="02000000000000000000" pitchFamily="2" charset="-122"/>
              </a:defRPr>
            </a:pPr>
          </a:p>
        </c:txPr>
      </c:legendEntry>
      <c:legendEntry>
        <c:idx val="8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方正黑体简体" panose="02000000000000000000" pitchFamily="2" charset="-122"/>
              </a:defRPr>
            </a:pPr>
          </a:p>
        </c:txPr>
      </c:legendEntry>
      <c:legendEntry>
        <c:idx val="9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方正黑体简体" panose="02000000000000000000" pitchFamily="2" charset="-122"/>
              </a:defRPr>
            </a:pPr>
          </a:p>
        </c:txPr>
      </c:legendEntry>
      <c:layout>
        <c:manualLayout>
          <c:xMode val="edge"/>
          <c:yMode val="edge"/>
          <c:x val="0.102599179206566"/>
          <c:y val="0.635606189423567"/>
          <c:w val="0.803507026489243"/>
          <c:h val="0.343989117497024"/>
        </c:manualLayout>
      </c:layout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方正黑体简体" panose="02000000000000000000" pitchFamily="2" charset="-122"/>
            </a:defRPr>
          </a:pPr>
        </a:p>
      </c:txPr>
    </c:legend>
    <c:plotVisOnly val="1"/>
    <c:dispBlanksAs val="gap"/>
    <c:showDLblsOverMax val="0"/>
  </c:chart>
  <c:spPr>
    <a:solidFill>
      <a:schemeClr val="bg2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12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200" dirty="0"/>
              <a:t>设备检维修作业类问题分析</a:t>
            </a:r>
            <a:endParaRPr lang="zh-CN" sz="1200" dirty="0"/>
          </a:p>
        </c:rich>
      </c:tx>
      <c:layout>
        <c:manualLayout>
          <c:xMode val="edge"/>
          <c:yMode val="edge"/>
          <c:x val="0.276020819838611"/>
          <c:y val="0.0416140911978256"/>
        </c:manualLayout>
      </c:layout>
      <c:overlay val="0"/>
      <c:spPr>
        <a:noFill/>
        <a:ln>
          <a:noFill/>
        </a:ln>
        <a:effectLst/>
      </c:spPr>
    </c:title>
    <c:autoTitleDeleted val="0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>
        <c:manualLayout>
          <c:layoutTarget val="inner"/>
          <c:xMode val="edge"/>
          <c:yMode val="edge"/>
          <c:x val="0.0382886632262361"/>
          <c:y val="0.191935483870968"/>
          <c:w val="0.926752122523722"/>
          <c:h val="0.534677419354839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系列1</c:v>
                </c:pt>
              </c:strCache>
            </c:strRef>
          </c:tx>
          <c:explosion val="0"/>
          <c:dPt>
            <c:idx val="0"/>
            <c:bubble3D val="0"/>
            <c:explosion val="15"/>
            <c:spPr>
              <a:solidFill>
                <a:srgbClr val="FF000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1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Lbls>
            <c:dLbl>
              <c:idx val="0"/>
              <c:layout>
                <c:manualLayout>
                  <c:x val="0.00926580018060676"/>
                  <c:y val="-0.030695491137955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zh-CN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805726652239054"/>
                      <c:h val="0.0954301075268817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263726195535744"/>
                  <c:y val="-0.0463609074143189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消防器材、隔离警示装置摆放不规范</c:v>
                </c:pt>
                <c:pt idx="1">
                  <c:v>其他检维修作业不规范行为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76</c:v>
                </c:pt>
                <c:pt idx="1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1">
                  <a:shade val="5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1"/>
            <c:bubble3D val="0"/>
            <c:spPr>
              <a:solidFill>
                <a:schemeClr val="accent1">
                  <a:shade val="7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2"/>
            <c:bubble3D val="0"/>
            <c:spPr>
              <a:solidFill>
                <a:schemeClr val="accent1">
                  <a:shade val="9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3"/>
            <c:bubble3D val="0"/>
            <c:spPr>
              <a:solidFill>
                <a:schemeClr val="accent1">
                  <a:tint val="9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4"/>
            <c:bubble3D val="0"/>
            <c:spPr>
              <a:solidFill>
                <a:schemeClr val="accent1">
                  <a:tint val="7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5"/>
            <c:bubble3D val="0"/>
            <c:spPr>
              <a:solidFill>
                <a:schemeClr val="accent1">
                  <a:tint val="5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消防器材、隔离警示装置摆放不规范</c:v>
                </c:pt>
                <c:pt idx="1">
                  <c:v>其他检维修作业不规范行为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系列3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1">
                  <a:shade val="5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1"/>
            <c:bubble3D val="0"/>
            <c:spPr>
              <a:solidFill>
                <a:schemeClr val="accent1">
                  <a:shade val="7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2"/>
            <c:bubble3D val="0"/>
            <c:spPr>
              <a:solidFill>
                <a:schemeClr val="accent1">
                  <a:shade val="9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3"/>
            <c:bubble3D val="0"/>
            <c:spPr>
              <a:solidFill>
                <a:schemeClr val="accent1">
                  <a:tint val="9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4"/>
            <c:bubble3D val="0"/>
            <c:spPr>
              <a:solidFill>
                <a:schemeClr val="accent1">
                  <a:tint val="7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5"/>
            <c:bubble3D val="0"/>
            <c:spPr>
              <a:solidFill>
                <a:schemeClr val="accent1">
                  <a:tint val="5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消防器材、隔离警示装置摆放不规范</c:v>
                </c:pt>
                <c:pt idx="1">
                  <c:v>其他检维修作业不规范行为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</c:dLbls>
      </c:pie3DChart>
      <c:spPr>
        <a:solidFill>
          <a:schemeClr val="bg2"/>
        </a:solidFill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方正黑体简体" panose="02000000000000000000" pitchFamily="2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方正黑体简体" panose="02000000000000000000" pitchFamily="2" charset="-122"/>
              </a:defRPr>
            </a:pPr>
          </a:p>
        </c:txPr>
      </c:legendEntry>
      <c:layout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方正黑体简体" panose="02000000000000000000" pitchFamily="2" charset="-122"/>
            </a:defRPr>
          </a:pPr>
        </a:p>
      </c:txPr>
    </c:legend>
    <c:plotVisOnly val="1"/>
    <c:dispBlanksAs val="gap"/>
    <c:showDLblsOverMax val="0"/>
  </c:chart>
  <c:spPr>
    <a:solidFill>
      <a:schemeClr val="bg2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1000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200" dirty="0"/>
              <a:t>卸油作业类问题分析</a:t>
            </a:r>
            <a:endParaRPr lang="zh-CN" sz="1200" dirty="0"/>
          </a:p>
        </c:rich>
      </c:tx>
      <c:layout>
        <c:manualLayout>
          <c:xMode val="edge"/>
          <c:yMode val="edge"/>
          <c:x val="0.339289832338993"/>
          <c:y val="0.0424069004705222"/>
        </c:manualLayout>
      </c:layout>
      <c:overlay val="0"/>
      <c:spPr>
        <a:noFill/>
        <a:ln>
          <a:noFill/>
        </a:ln>
        <a:effectLst/>
      </c:spPr>
    </c:title>
    <c:autoTitleDeleted val="0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>
        <c:manualLayout>
          <c:layoutTarget val="inner"/>
          <c:xMode val="edge"/>
          <c:yMode val="edge"/>
          <c:x val="0.0402863326119527"/>
          <c:y val="0.180870353581142"/>
          <c:w val="0.926752122523722"/>
          <c:h val="0.53921124206709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系列1</c:v>
                </c:pt>
              </c:strCache>
            </c:strRef>
          </c:tx>
          <c:explosion val="0"/>
          <c:dPt>
            <c:idx val="0"/>
            <c:bubble3D val="0"/>
            <c:explosion val="15"/>
            <c:spPr>
              <a:solidFill>
                <a:srgbClr val="FF000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1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Pt>
            <c:idx val="2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</c:dPt>
          <c:dLbls>
            <c:dLbl>
              <c:idx val="0"/>
              <c:layout>
                <c:manualLayout>
                  <c:x val="0.00926580018060676"/>
                  <c:y val="-0.030695491137955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zh-CN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784085233893791"/>
                      <c:h val="0.104487760652765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0.00891953959408666"/>
                  <c:y val="-0.00828293823934154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16226654944767"/>
                  <c:y val="0.0104303739376677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连接管线顺序不规范</c:v>
                </c:pt>
                <c:pt idx="1">
                  <c:v>卸前应急准备</c:v>
                </c:pt>
                <c:pt idx="2">
                  <c:v>操作与着装规范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25</c:v>
                </c:pt>
                <c:pt idx="2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</c:dLbls>
      </c:pie3DChart>
      <c:spPr>
        <a:solidFill>
          <a:schemeClr val="bg2"/>
        </a:solidFill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方正黑体简体" panose="02000000000000000000" pitchFamily="2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方正黑体简体" panose="02000000000000000000" pitchFamily="2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方正黑体简体" panose="02000000000000000000" pitchFamily="2" charset="-122"/>
              </a:defRPr>
            </a:pPr>
          </a:p>
        </c:txPr>
      </c:legendEntry>
      <c:layout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方正黑体简体" panose="02000000000000000000" pitchFamily="2" charset="-122"/>
            </a:defRPr>
          </a:pPr>
        </a:p>
      </c:txPr>
    </c:legend>
    <c:plotVisOnly val="1"/>
    <c:dispBlanksAs val="gap"/>
    <c:showDLblsOverMax val="0"/>
  </c:chart>
  <c:spPr>
    <a:solidFill>
      <a:schemeClr val="bg2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8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  <a:r>
              <a:rPr sz="168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各管理片区及合资公司现场问题整改情况</a:t>
            </a:r>
            <a:endParaRPr sz="168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待签名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中油农工商</c:v>
                </c:pt>
                <c:pt idx="10">
                  <c:v>中油申能</c:v>
                </c:pt>
                <c:pt idx="11">
                  <c:v>中油同盛</c:v>
                </c:pt>
                <c:pt idx="12">
                  <c:v>中油浦东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4</c:v>
                </c:pt>
                <c:pt idx="4">
                  <c:v>3</c:v>
                </c:pt>
                <c:pt idx="5">
                  <c:v>10</c:v>
                </c:pt>
                <c:pt idx="6">
                  <c:v>20</c:v>
                </c:pt>
                <c:pt idx="7">
                  <c:v>12</c:v>
                </c:pt>
                <c:pt idx="8">
                  <c:v>2</c:v>
                </c:pt>
                <c:pt idx="9">
                  <c:v>21</c:v>
                </c:pt>
                <c:pt idx="10">
                  <c:v>3</c:v>
                </c:pt>
                <c:pt idx="11">
                  <c:v>3</c:v>
                </c:pt>
                <c:pt idx="1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待整改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中油农工商</c:v>
                </c:pt>
                <c:pt idx="10">
                  <c:v>中油申能</c:v>
                </c:pt>
                <c:pt idx="11">
                  <c:v>中油同盛</c:v>
                </c:pt>
                <c:pt idx="12">
                  <c:v>中油浦东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10</c:v>
                </c:pt>
                <c:pt idx="1">
                  <c:v>6</c:v>
                </c:pt>
                <c:pt idx="2">
                  <c:v>24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23</c:v>
                </c:pt>
                <c:pt idx="7">
                  <c:v>4</c:v>
                </c:pt>
                <c:pt idx="8">
                  <c:v>11</c:v>
                </c:pt>
                <c:pt idx="9">
                  <c:v>0</c:v>
                </c:pt>
                <c:pt idx="10">
                  <c:v>8</c:v>
                </c:pt>
                <c:pt idx="11">
                  <c:v>1</c:v>
                </c:pt>
                <c:pt idx="12">
                  <c:v>12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190264427"/>
        <c:axId val="212570137"/>
      </c:barChart>
      <c:catAx>
        <c:axId val="19026442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  <c:crossAx val="212570137"/>
        <c:crosses val="autoZero"/>
        <c:auto val="1"/>
        <c:lblAlgn val="ctr"/>
        <c:lblOffset val="100"/>
        <c:noMultiLvlLbl val="0"/>
      </c:catAx>
      <c:valAx>
        <c:axId val="21257013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  <c:crossAx val="1902644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1400"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8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  <a:r>
              <a:rPr sz="168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各管理片区及合资公司视频问题整改情况</a:t>
            </a:r>
            <a:endParaRPr sz="168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待签名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中油康桥</c:v>
                </c:pt>
                <c:pt idx="10">
                  <c:v>中油同盛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58</c:v>
                </c:pt>
                <c:pt idx="1">
                  <c:v>41</c:v>
                </c:pt>
                <c:pt idx="2">
                  <c:v>48</c:v>
                </c:pt>
                <c:pt idx="3">
                  <c:v>30</c:v>
                </c:pt>
                <c:pt idx="4">
                  <c:v>22</c:v>
                </c:pt>
                <c:pt idx="5">
                  <c:v>20</c:v>
                </c:pt>
                <c:pt idx="6">
                  <c:v>25</c:v>
                </c:pt>
                <c:pt idx="7">
                  <c:v>31</c:v>
                </c:pt>
                <c:pt idx="8">
                  <c:v>9</c:v>
                </c:pt>
                <c:pt idx="9">
                  <c:v>6</c:v>
                </c:pt>
                <c:pt idx="10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待整改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中油康桥</c:v>
                </c:pt>
                <c:pt idx="10">
                  <c:v>中油同盛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</c:v>
                </c:pt>
                <c:pt idx="1">
                  <c:v>1</c:v>
                </c:pt>
                <c:pt idx="2">
                  <c:v>5</c:v>
                </c:pt>
                <c:pt idx="3">
                  <c:v>2</c:v>
                </c:pt>
                <c:pt idx="4">
                  <c:v>11</c:v>
                </c:pt>
                <c:pt idx="5">
                  <c:v>1</c:v>
                </c:pt>
                <c:pt idx="6">
                  <c:v>11</c:v>
                </c:pt>
                <c:pt idx="7">
                  <c:v>12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190264427"/>
        <c:axId val="212570137"/>
      </c:barChart>
      <c:catAx>
        <c:axId val="19026442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  <c:crossAx val="212570137"/>
        <c:crosses val="autoZero"/>
        <c:auto val="1"/>
        <c:lblAlgn val="ctr"/>
        <c:lblOffset val="100"/>
        <c:noMultiLvlLbl val="0"/>
      </c:catAx>
      <c:valAx>
        <c:axId val="21257013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  <c:crossAx val="1902644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1400"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9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9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CA71FE-8971-4D74-9272-9C9A93D4A6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DEE9F-1CCE-41D8-8A51-3D9B60F9F10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CD8D86-5925-47D8-A5E2-D26CEFBA41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F958C-D14A-4441-9288-0BD220FCC46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F958C-D14A-4441-9288-0BD220FCC4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C37F958C-D14A-4441-9288-0BD220FCC4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C37F958C-D14A-4441-9288-0BD220FCC4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C37F958C-D14A-4441-9288-0BD220FCC4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6"/>
          <p:cNvSpPr/>
          <p:nvPr userDrawn="1"/>
        </p:nvSpPr>
        <p:spPr>
          <a:xfrm>
            <a:off x="0" y="808041"/>
            <a:ext cx="12192000" cy="71437"/>
          </a:xfrm>
          <a:prstGeom prst="rect">
            <a:avLst/>
          </a:prstGeom>
          <a:solidFill>
            <a:srgbClr val="3F9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5" name="Picture 2" descr="C:\Users\Administrator\Desktop\PetroChinaLOGO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7481" y="187325"/>
            <a:ext cx="596432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8584" y="224290"/>
            <a:ext cx="8256917" cy="49006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>
                <a:solidFill>
                  <a:srgbClr val="3F95D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A0FF7F-0E72-4A1C-B7B6-8937909F40F6}" type="datetimeFigureOut">
              <a:rPr lang="zh-CN" altLang="en-US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E7ADB-BB5C-4762-ADD8-CD87FB72F45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CC2C58F-8D65-4878-AFD5-2A93B7EE44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CC2C58F-8D65-4878-AFD5-2A93B7EE44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CC2C58F-8D65-4878-AFD5-2A93B7EE44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CC2C58F-8D65-4878-AFD5-2A93B7EE44AF}" type="slidenum">
              <a:rPr lang="zh-CN" altLang="en-US" smtClean="0"/>
            </a:fld>
            <a:endParaRPr lang="zh-CN" altLang="en-US"/>
          </a:p>
        </p:txBody>
      </p:sp>
      <p:sp>
        <p:nvSpPr>
          <p:cNvPr id="17" name="TextBox 16"/>
          <p:cNvSpPr txBox="1"/>
          <p:nvPr userDrawn="1">
            <p:custDataLst>
              <p:tags r:id="rId2"/>
            </p:custDataLst>
          </p:nvPr>
        </p:nvSpPr>
        <p:spPr>
          <a:xfrm>
            <a:off x="1005836" y="341313"/>
            <a:ext cx="4674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1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中国石油销售公司</a:t>
            </a:r>
            <a:endParaRPr lang="zh-CN" altLang="en-US" b="1" spc="1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 userDrawn="1">
            <p:custDataLst>
              <p:tags r:id="rId3"/>
            </p:custDataLst>
          </p:nvPr>
        </p:nvCxnSpPr>
        <p:spPr>
          <a:xfrm>
            <a:off x="1116588" y="692150"/>
            <a:ext cx="433139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" descr="C:\Users\Administrator\Desktop\PetroChinaLOGO.png"/>
          <p:cNvPicPr preferRelativeResize="0">
            <a:picLocks noChangeArrowheads="1"/>
          </p:cNvPicPr>
          <p:nvPr userDrawn="1">
            <p:custDataLst>
              <p:tags r:id="rId4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0825" y="230189"/>
            <a:ext cx="787200" cy="722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6" name="直接连接符 25"/>
          <p:cNvCxnSpPr/>
          <p:nvPr userDrawn="1">
            <p:custDataLst>
              <p:tags r:id="rId6"/>
            </p:custDataLst>
          </p:nvPr>
        </p:nvCxnSpPr>
        <p:spPr>
          <a:xfrm>
            <a:off x="1038025" y="241745"/>
            <a:ext cx="0" cy="60801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CC2C58F-8D65-4878-AFD5-2A93B7EE44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CC2C58F-8D65-4878-AFD5-2A93B7EE44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CC2C58F-8D65-4878-AFD5-2A93B7EE44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CC2C58F-8D65-4878-AFD5-2A93B7EE44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08C3-4142-4DF8-8FC5-9C81922275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22B1-C6AB-4ED7-A60C-90AA57B72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08C3-4142-4DF8-8FC5-9C81922275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22B1-C6AB-4ED7-A60C-90AA57B72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08C3-4142-4DF8-8FC5-9C81922275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22B1-C6AB-4ED7-A60C-90AA57B72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08C3-4142-4DF8-8FC5-9C81922275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22B1-C6AB-4ED7-A60C-90AA57B72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08C3-4142-4DF8-8FC5-9C81922275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22B1-C6AB-4ED7-A60C-90AA57B72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08C3-4142-4DF8-8FC5-9C81922275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22B1-C6AB-4ED7-A60C-90AA57B72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08C3-4142-4DF8-8FC5-9C81922275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22B1-C6AB-4ED7-A60C-90AA57B72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08C3-4142-4DF8-8FC5-9C81922275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22B1-C6AB-4ED7-A60C-90AA57B72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08C3-4142-4DF8-8FC5-9C81922275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22B1-C6AB-4ED7-A60C-90AA57B72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08C3-4142-4DF8-8FC5-9C81922275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22B1-C6AB-4ED7-A60C-90AA57B72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08C3-4142-4DF8-8FC5-9C81922275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22B1-C6AB-4ED7-A60C-90AA57B72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FE67-B797-4EE6-93C7-31412B2A11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F948-CD89-403F-8BB8-EFB2358661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FE67-B797-4EE6-93C7-31412B2A11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F948-CD89-403F-8BB8-EFB2358661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FE67-B797-4EE6-93C7-31412B2A11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F948-CD89-403F-8BB8-EFB2358661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FE67-B797-4EE6-93C7-31412B2A11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F948-CD89-403F-8BB8-EFB2358661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FE67-B797-4EE6-93C7-31412B2A11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F948-CD89-403F-8BB8-EFB2358661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FE67-B797-4EE6-93C7-31412B2A11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F948-CD89-403F-8BB8-EFB2358661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FE67-B797-4EE6-93C7-31412B2A11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F948-CD89-403F-8BB8-EFB2358661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FE67-B797-4EE6-93C7-31412B2A11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F948-CD89-403F-8BB8-EFB2358661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FE67-B797-4EE6-93C7-31412B2A11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F948-CD89-403F-8BB8-EFB2358661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FE67-B797-4EE6-93C7-31412B2A11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F948-CD89-403F-8BB8-EFB2358661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FE67-B797-4EE6-93C7-31412B2A11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F948-CD89-403F-8BB8-EFB2358661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FE67-B797-4EE6-93C7-31412B2A11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F948-CD89-403F-8BB8-EFB2358661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A08C3-4142-4DF8-8FC5-9C81922275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122B1-C6AB-4ED7-A60C-90AA57B722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2FE67-B797-4EE6-93C7-31412B2A11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7F948-CD89-403F-8BB8-EFB2358661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8.xml"/><Relationship Id="rId2" Type="http://schemas.openxmlformats.org/officeDocument/2006/relationships/chart" Target="../charts/chart7.xml"/><Relationship Id="rId1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5.jpe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5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2199640" y="2265680"/>
            <a:ext cx="7792720" cy="808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ts val="5600"/>
              </a:lnSpc>
            </a:pPr>
            <a:r>
              <a:rPr lang="zh-CN" sz="4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Arial" panose="020B0604020202020204" pitchFamily="34" charset="0"/>
              </a:rPr>
              <a:t>加油站安全质量</a:t>
            </a:r>
            <a:r>
              <a:rPr sz="4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Arial" panose="020B0604020202020204" pitchFamily="34" charset="0"/>
              </a:rPr>
              <a:t>检查月报</a:t>
            </a:r>
            <a:endParaRPr sz="4800" b="1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21" name="TextBox 10"/>
          <p:cNvSpPr txBox="1">
            <a:spLocks noChangeArrowheads="1"/>
          </p:cNvSpPr>
          <p:nvPr/>
        </p:nvSpPr>
        <p:spPr bwMode="auto">
          <a:xfrm>
            <a:off x="9044256" y="2918027"/>
            <a:ext cx="20088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4"/>
          <p:cNvSpPr txBox="1"/>
          <p:nvPr/>
        </p:nvSpPr>
        <p:spPr>
          <a:xfrm>
            <a:off x="4283075" y="4552950"/>
            <a:ext cx="3625850" cy="7137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b="1" spc="2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2026</a:t>
            </a:r>
            <a:r>
              <a:rPr lang="zh-CN" altLang="en-US" b="1" spc="2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年</a:t>
            </a:r>
            <a:r>
              <a:rPr lang="en-US" altLang="zh-CN" b="1" spc="2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09</a:t>
            </a:r>
            <a:r>
              <a:rPr lang="zh-CN" altLang="en-US" b="1" spc="2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月</a:t>
            </a:r>
            <a:endParaRPr lang="zh-CN" altLang="en-US" b="1" spc="2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圆角矩形 46"/>
          <p:cNvSpPr/>
          <p:nvPr/>
        </p:nvSpPr>
        <p:spPr>
          <a:xfrm>
            <a:off x="3588385" y="164673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一、总体情况</a:t>
            </a:r>
            <a:endParaRPr lang="zh-CN" altLang="en-US" sz="3000" dirty="0"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2" name="圆角矩形 46"/>
          <p:cNvSpPr/>
          <p:nvPr/>
        </p:nvSpPr>
        <p:spPr>
          <a:xfrm>
            <a:off x="3588385" y="290276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二、检查发现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3" name="圆角矩形 46"/>
          <p:cNvSpPr/>
          <p:nvPr/>
        </p:nvSpPr>
        <p:spPr>
          <a:xfrm>
            <a:off x="3588385" y="4158615"/>
            <a:ext cx="4489450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三、问题分析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5" name="圆角矩形 46"/>
          <p:cNvSpPr/>
          <p:nvPr/>
        </p:nvSpPr>
        <p:spPr>
          <a:xfrm>
            <a:off x="3588384" y="541482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/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四、工作</a:t>
            </a: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建议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633784" y="308372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一、总体情况</a:t>
            </a:r>
            <a:b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内容占位符 4"/>
          <p:cNvSpPr>
            <a:spLocks noGrp="1"/>
          </p:cNvSpPr>
          <p:nvPr>
            <p:ph idx="1"/>
          </p:nvPr>
        </p:nvSpPr>
        <p:spPr>
          <a:xfrm>
            <a:off x="272415" y="952500"/>
            <a:ext cx="11177905" cy="3503930"/>
          </a:xfrm>
          <a:ln>
            <a:noFill/>
          </a:ln>
        </p:spPr>
        <p:txBody>
          <a:bodyPr/>
          <a:lstStyle/>
          <a:p>
            <a:pPr marL="0" indent="542925" fontAlgn="auto">
              <a:lnSpc>
                <a:spcPts val="28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（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一）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四不两直现场检查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方面</a:t>
            </a:r>
            <a:endParaRPr lang="zh-CN" altLang="en-US" sz="20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marL="0" indent="542925" fontAlgn="auto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2026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年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09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月，对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5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个管理片区、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5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个合资公司开展现场检查，共计检查加油站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19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座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，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发现问题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71项，站均问题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3.7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个</a:t>
            </a:r>
            <a:r>
              <a:rPr lang="zh-CN" altLang="en-US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。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各管理片区及合资公司问题数量如下：奉贤片区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1.4%</a:t>
            </a:r>
            <a:r>
              <a:rPr lang="zh-CN" altLang="en-US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；松金片区</a:t>
            </a:r>
            <a:r>
              <a:rPr lang="en-US" altLang="zh-CN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</a:t>
            </a:r>
            <a:r>
              <a:rPr lang="zh-CN" altLang="en-US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10</a:t>
            </a:r>
            <a:r>
              <a:rPr lang="zh-CN" altLang="en-US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14.1%</a:t>
            </a:r>
            <a:r>
              <a:rPr lang="zh-CN" altLang="en-US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；嘉青片区</a:t>
            </a:r>
            <a:r>
              <a:rPr lang="en-US" altLang="zh-CN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</a:t>
            </a:r>
            <a:r>
              <a:rPr lang="zh-CN" altLang="en-US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4</a:t>
            </a:r>
            <a:r>
              <a:rPr lang="zh-CN" altLang="en-US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5.6%</a:t>
            </a:r>
            <a:r>
              <a:rPr lang="zh-CN" altLang="en-US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；南汇片区</a:t>
            </a:r>
            <a:r>
              <a:rPr lang="en-US" altLang="zh-CN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1.4%</a:t>
            </a:r>
            <a:r>
              <a:rPr lang="zh-CN" altLang="en-US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；崇明片区</a:t>
            </a:r>
            <a:r>
              <a:rPr lang="en-US" altLang="zh-CN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</a:t>
            </a:r>
            <a:r>
              <a:rPr lang="zh-CN" altLang="en-US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7</a:t>
            </a:r>
            <a:r>
              <a:rPr lang="zh-CN" altLang="en-US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9.9%</a:t>
            </a:r>
            <a:r>
              <a:rPr lang="zh-CN" altLang="en-US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；中油农工商</a:t>
            </a:r>
            <a:r>
              <a:rPr lang="en-US" altLang="zh-CN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</a:t>
            </a:r>
            <a:r>
              <a:rPr lang="zh-CN" altLang="en-US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16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22.5%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；中油奉贤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，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17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23.9；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中油浦江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1.4%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；中油申能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11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15.5%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；中油同盛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4.2%</a:t>
            </a:r>
            <a:endParaRPr lang="zh-CN" altLang="en-US" sz="18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1433195" y="3534410"/>
          <a:ext cx="8896350" cy="32111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633784" y="308372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一、总体情况</a:t>
            </a:r>
            <a:b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内容占位符 4"/>
          <p:cNvSpPr>
            <a:spLocks noGrp="1"/>
          </p:cNvSpPr>
          <p:nvPr>
            <p:ph idx="1"/>
          </p:nvPr>
        </p:nvSpPr>
        <p:spPr>
          <a:xfrm>
            <a:off x="272415" y="952500"/>
            <a:ext cx="11177905" cy="3503930"/>
          </a:xfrm>
          <a:ln>
            <a:noFill/>
          </a:ln>
        </p:spPr>
        <p:txBody>
          <a:bodyPr/>
          <a:lstStyle/>
          <a:p>
            <a:pPr marL="0" indent="542925" fontAlgn="auto">
              <a:lnSpc>
                <a:spcPts val="28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（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二）视频扫站方面</a:t>
            </a:r>
            <a:endParaRPr lang="zh-CN" altLang="en-US" sz="20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marL="0" indent="542925" fontAlgn="auto"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2026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年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09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月，对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8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个管理片区、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个合资公司开展视频扫站检查，共计检查加油站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119座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，发现问题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201项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，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站均问题1.7个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。各管理片区及合资公司问题数量如下：浦东片区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15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25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12.4%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；闵普徐片区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12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22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10.9%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；松金片区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20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32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15.9%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；嘉青片区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10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15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7.5%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；南汇片区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11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18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9.0%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；宝静片区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10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16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8.0%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；奉贤片区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15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25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12.4%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；崇明片区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15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33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16.4%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；中油奉贤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8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10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5.0%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；中油康桥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1.5%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；中油同盛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个站点，共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1.0%</a:t>
            </a:r>
            <a:r>
              <a:rPr lang="zh-CN" altLang="en-US" sz="18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。</a:t>
            </a:r>
            <a:endParaRPr lang="zh-CN" altLang="en-US" sz="18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1433195" y="3534410"/>
          <a:ext cx="8896350" cy="32111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885940" y="2498725"/>
            <a:ext cx="2095500" cy="1422400"/>
            <a:chOff x="10730" y="3490"/>
            <a:chExt cx="3300" cy="2240"/>
          </a:xfrm>
        </p:grpSpPr>
        <p:sp>
          <p:nvSpPr>
            <p:cNvPr id="4" name="左大括号 3"/>
            <p:cNvSpPr/>
            <p:nvPr/>
          </p:nvSpPr>
          <p:spPr>
            <a:xfrm>
              <a:off x="10730" y="3658"/>
              <a:ext cx="661" cy="1975"/>
            </a:xfrm>
            <a:prstGeom prst="leftBrace">
              <a:avLst>
                <a:gd name="adj1" fmla="val 8333"/>
                <a:gd name="adj2" fmla="val 50025"/>
              </a:avLst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圆角矩形 46"/>
            <p:cNvSpPr/>
            <p:nvPr/>
          </p:nvSpPr>
          <p:spPr>
            <a:xfrm>
              <a:off x="11612" y="3490"/>
              <a:ext cx="2418" cy="96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2" tIns="34281" rIns="68562" bIns="34281" rtlCol="0" anchor="ctr"/>
            <a:lstStyle/>
            <a:p>
              <a:pPr algn="l" fontAlgn="auto">
                <a:buClrTx/>
                <a:buSzTx/>
                <a:buFontTx/>
              </a:pPr>
              <a:r>
                <a:rPr lang="zh-CN" altLang="en-US" sz="2000" dirty="0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典型问题</a:t>
              </a:r>
              <a:endParaRPr lang="zh-CN" altLang="en-US" sz="20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endParaRPr>
            </a:p>
          </p:txBody>
        </p:sp>
        <p:sp>
          <p:nvSpPr>
            <p:cNvPr id="7" name="圆角矩形 46"/>
            <p:cNvSpPr/>
            <p:nvPr/>
          </p:nvSpPr>
          <p:spPr>
            <a:xfrm>
              <a:off x="11612" y="4764"/>
              <a:ext cx="2418" cy="96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2" tIns="34281" rIns="68562" bIns="34281" rtlCol="0" anchor="ctr"/>
            <a:lstStyle/>
            <a:p>
              <a:pPr algn="l" fontAlgn="auto">
                <a:buClrTx/>
                <a:buSzTx/>
                <a:buFontTx/>
              </a:pPr>
              <a:r>
                <a:rPr lang="zh-CN" altLang="en-US" sz="20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发现问题</a:t>
              </a:r>
              <a:endParaRPr lang="zh-CN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endParaRPr>
            </a:p>
          </p:txBody>
        </p:sp>
      </p:grpSp>
      <p:sp>
        <p:nvSpPr>
          <p:cNvPr id="9" name="圆角矩形 46"/>
          <p:cNvSpPr/>
          <p:nvPr>
            <p:custDataLst>
              <p:tags r:id="rId1"/>
            </p:custDataLst>
          </p:nvPr>
        </p:nvSpPr>
        <p:spPr>
          <a:xfrm>
            <a:off x="3588385" y="164673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一、总体情况</a:t>
            </a:r>
            <a:endParaRPr lang="zh-CN" altLang="en-US" sz="3000" dirty="0"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10" name="圆角矩形 46"/>
          <p:cNvSpPr/>
          <p:nvPr>
            <p:custDataLst>
              <p:tags r:id="rId2"/>
            </p:custDataLst>
          </p:nvPr>
        </p:nvSpPr>
        <p:spPr>
          <a:xfrm>
            <a:off x="3588385" y="290276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二、检查发现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11" name="圆角矩形 46"/>
          <p:cNvSpPr/>
          <p:nvPr>
            <p:custDataLst>
              <p:tags r:id="rId3"/>
            </p:custDataLst>
          </p:nvPr>
        </p:nvSpPr>
        <p:spPr>
          <a:xfrm>
            <a:off x="3588385" y="4158615"/>
            <a:ext cx="4489450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三、问题分析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5" name="圆角矩形 46"/>
          <p:cNvSpPr/>
          <p:nvPr/>
        </p:nvSpPr>
        <p:spPr>
          <a:xfrm>
            <a:off x="3588384" y="541482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/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四、工作</a:t>
            </a: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建议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633784" y="308372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二、检查发现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典型问题</a:t>
            </a:r>
            <a:endParaRPr lang="zh-CN" altLang="en-US" sz="2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4"/>
          <p:cNvSpPr>
            <a:spLocks noGrp="1"/>
          </p:cNvSpPr>
          <p:nvPr>
            <p:ph idx="1"/>
          </p:nvPr>
        </p:nvSpPr>
        <p:spPr>
          <a:xfrm>
            <a:off x="631190" y="1130935"/>
            <a:ext cx="5214620" cy="4343400"/>
          </a:xfrm>
          <a:ln>
            <a:noFill/>
          </a:ln>
        </p:spPr>
        <p:txBody>
          <a:bodyPr/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现场巡查典型问题：</a:t>
            </a:r>
            <a:endParaRPr lang="en-US" altLang="zh-CN" sz="2000" b="1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marL="0" indent="542925" fontAlgn="auto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b="1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marL="0" indent="542925" fontAlgn="auto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b="1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marL="0" indent="542925" fontAlgn="auto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8525" y="5337175"/>
            <a:ext cx="5040630" cy="92202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奉贤第六加油站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环保设施配置合规，并建立相应台账，内容完整准确：环保台账无一二季度噪音监测数据。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76975" y="1249045"/>
            <a:ext cx="37985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视频巡查典型问题：</a:t>
            </a:r>
            <a:endParaRPr lang="zh-CN" altLang="en-US" sz="2000" b="1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76975" y="5337175"/>
            <a:ext cx="5275580" cy="92202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9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月视频扫站巡查过程中，发现员工打开加油机、自检、开启卸油口、打开计量井</a:t>
            </a:r>
            <a:r>
              <a:rPr 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未放置围栏或消防用具，总计出现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72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次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6745" y="1136650"/>
            <a:ext cx="5243195" cy="5233035"/>
          </a:xfrm>
          <a:prstGeom prst="rect">
            <a:avLst/>
          </a:prstGeom>
          <a:noFill/>
          <a:ln w="1905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/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52210" y="1130935"/>
            <a:ext cx="5243195" cy="5233035"/>
          </a:xfrm>
          <a:prstGeom prst="rect">
            <a:avLst/>
          </a:prstGeom>
          <a:noFill/>
          <a:ln w="1905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/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249" r="249"/>
          <a:stretch>
            <a:fillRect/>
          </a:stretch>
        </p:blipFill>
        <p:spPr>
          <a:xfrm>
            <a:off x="1610995" y="1647825"/>
            <a:ext cx="3021330" cy="3702685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2"/>
          <a:srcRect l="8029" r="8029"/>
          <a:stretch>
            <a:fillRect/>
          </a:stretch>
        </p:blipFill>
        <p:spPr>
          <a:xfrm>
            <a:off x="7214235" y="1722755"/>
            <a:ext cx="3110230" cy="3448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885940" y="2498725"/>
            <a:ext cx="2095500" cy="1422400"/>
            <a:chOff x="10730" y="3490"/>
            <a:chExt cx="3300" cy="2240"/>
          </a:xfrm>
        </p:grpSpPr>
        <p:sp>
          <p:nvSpPr>
            <p:cNvPr id="9" name="左大括号 8"/>
            <p:cNvSpPr/>
            <p:nvPr>
              <p:custDataLst>
                <p:tags r:id="rId1"/>
              </p:custDataLst>
            </p:nvPr>
          </p:nvSpPr>
          <p:spPr>
            <a:xfrm>
              <a:off x="10730" y="3658"/>
              <a:ext cx="661" cy="1975"/>
            </a:xfrm>
            <a:prstGeom prst="leftBrace">
              <a:avLst>
                <a:gd name="adj1" fmla="val 8333"/>
                <a:gd name="adj2" fmla="val 50025"/>
              </a:avLst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46"/>
            <p:cNvSpPr/>
            <p:nvPr>
              <p:custDataLst>
                <p:tags r:id="rId2"/>
              </p:custDataLst>
            </p:nvPr>
          </p:nvSpPr>
          <p:spPr>
            <a:xfrm>
              <a:off x="11612" y="3490"/>
              <a:ext cx="2418" cy="96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2" tIns="34281" rIns="68562" bIns="34281" rtlCol="0" anchor="ctr"/>
            <a:lstStyle/>
            <a:p>
              <a:pPr algn="l" fontAlgn="auto">
                <a:buClrTx/>
                <a:buSzTx/>
                <a:buFontTx/>
              </a:pPr>
              <a:r>
                <a:rPr lang="zh-CN" altLang="en-US" sz="20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典型</a:t>
              </a:r>
              <a:r>
                <a:rPr lang="zh-CN" altLang="en-US" sz="20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问题</a:t>
              </a:r>
              <a:endParaRPr lang="zh-CN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endParaRPr>
            </a:p>
          </p:txBody>
        </p:sp>
        <p:sp>
          <p:nvSpPr>
            <p:cNvPr id="11" name="圆角矩形 46"/>
            <p:cNvSpPr/>
            <p:nvPr>
              <p:custDataLst>
                <p:tags r:id="rId3"/>
              </p:custDataLst>
            </p:nvPr>
          </p:nvSpPr>
          <p:spPr>
            <a:xfrm>
              <a:off x="11612" y="4764"/>
              <a:ext cx="2418" cy="96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2" tIns="34281" rIns="68562" bIns="34281" rtlCol="0" anchor="ctr"/>
            <a:lstStyle/>
            <a:p>
              <a:pPr algn="l" fontAlgn="auto">
                <a:buClrTx/>
                <a:buSzTx/>
                <a:buFontTx/>
              </a:pPr>
              <a:r>
                <a:rPr lang="zh-CN" altLang="en-US" sz="2000" dirty="0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发现问题</a:t>
              </a:r>
              <a:endParaRPr lang="zh-CN" altLang="en-US" sz="20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endParaRPr>
            </a:p>
          </p:txBody>
        </p:sp>
      </p:grpSp>
      <p:sp>
        <p:nvSpPr>
          <p:cNvPr id="12" name="圆角矩形 46"/>
          <p:cNvSpPr/>
          <p:nvPr>
            <p:custDataLst>
              <p:tags r:id="rId4"/>
            </p:custDataLst>
          </p:nvPr>
        </p:nvSpPr>
        <p:spPr>
          <a:xfrm>
            <a:off x="3588385" y="164673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一、总体情况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13" name="圆角矩形 46"/>
          <p:cNvSpPr/>
          <p:nvPr>
            <p:custDataLst>
              <p:tags r:id="rId5"/>
            </p:custDataLst>
          </p:nvPr>
        </p:nvSpPr>
        <p:spPr>
          <a:xfrm>
            <a:off x="3588385" y="290276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二、检查发现</a:t>
            </a:r>
            <a:endParaRPr lang="zh-CN" altLang="en-US" sz="3000" dirty="0"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14" name="圆角矩形 46"/>
          <p:cNvSpPr/>
          <p:nvPr>
            <p:custDataLst>
              <p:tags r:id="rId6"/>
            </p:custDataLst>
          </p:nvPr>
        </p:nvSpPr>
        <p:spPr>
          <a:xfrm>
            <a:off x="3588385" y="4158615"/>
            <a:ext cx="4489450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三、问题分析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5" name="圆角矩形 46"/>
          <p:cNvSpPr/>
          <p:nvPr/>
        </p:nvSpPr>
        <p:spPr>
          <a:xfrm>
            <a:off x="3588384" y="541482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/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四、工作</a:t>
            </a: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建议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4"/>
          <p:cNvSpPr>
            <a:spLocks noGrp="1"/>
          </p:cNvSpPr>
          <p:nvPr>
            <p:ph idx="1"/>
          </p:nvPr>
        </p:nvSpPr>
        <p:spPr>
          <a:xfrm>
            <a:off x="534670" y="1280160"/>
            <a:ext cx="5193665" cy="5019675"/>
          </a:xfrm>
          <a:ln>
            <a:noFill/>
          </a:ln>
        </p:spPr>
        <p:txBody>
          <a:bodyPr/>
          <a:lstStyle/>
          <a:p>
            <a:pPr marL="0" indent="542925" fontAlgn="auto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marL="0" lvl="0" indent="0" fontAlgn="auto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本月检查共发现现场问题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71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项：</a:t>
            </a:r>
            <a:endParaRPr lang="zh-CN" altLang="en-US" sz="2000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lvl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设备设施类问题：</a:t>
            </a:r>
            <a:r>
              <a:rPr lang="en-US" altLang="zh-CN" sz="2000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44</a:t>
            </a:r>
            <a:r>
              <a:rPr lang="en-US" altLang="zh-CN" sz="2000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项</a:t>
            </a:r>
            <a:r>
              <a:rPr lang="zh-CN" altLang="en-US" sz="2000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，占比</a:t>
            </a:r>
            <a:r>
              <a:rPr lang="en-US" altLang="zh-CN" sz="2000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61.97%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；</a:t>
            </a:r>
            <a:endParaRPr lang="zh-CN" altLang="en-US" sz="2000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lvl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其他隐患类问题：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11项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，占比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15.49%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</a:t>
            </a:r>
            <a:endParaRPr lang="zh-CN" altLang="en-US" sz="2000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lvl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污染防治类问题：6项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，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占比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8.45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% 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</a:t>
            </a:r>
            <a:endParaRPr lang="zh-CN" altLang="en-US" sz="2000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lvl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风险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隐患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类问题：6项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，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占比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8.45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%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</a:t>
            </a:r>
            <a:endParaRPr lang="zh-CN" altLang="en-US" sz="2000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lvl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能力培训和意识类问题：4项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占比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5.63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%</a:t>
            </a:r>
            <a:endParaRPr lang="zh-CN" altLang="en-US" sz="2000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lvl="0" fontAlgn="auto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2000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33784" y="308372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二、检查发现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发现问题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现场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5120" y="1504315"/>
            <a:ext cx="5193665" cy="4795520"/>
          </a:xfrm>
          <a:prstGeom prst="rect">
            <a:avLst/>
          </a:prstGeom>
          <a:noFill/>
          <a:ln w="1905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/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5162550" y="942340"/>
          <a:ext cx="6839585" cy="5768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4"/>
          <p:cNvSpPr>
            <a:spLocks noGrp="1"/>
          </p:cNvSpPr>
          <p:nvPr>
            <p:ph idx="1"/>
          </p:nvPr>
        </p:nvSpPr>
        <p:spPr>
          <a:xfrm>
            <a:off x="548005" y="1148080"/>
            <a:ext cx="5194300" cy="4676775"/>
          </a:xfrm>
          <a:ln>
            <a:noFill/>
          </a:ln>
        </p:spPr>
        <p:txBody>
          <a:bodyPr/>
          <a:lstStyle/>
          <a:p>
            <a:pPr marL="0" indent="542925" fontAlgn="auto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marL="0" lvl="0" indent="0" fontAlgn="auto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本月检查共发现视频问题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201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项：</a:t>
            </a:r>
            <a:endParaRPr lang="zh-CN" altLang="en-US" sz="2000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lvl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设备维修作业</a:t>
            </a:r>
            <a:r>
              <a:rPr 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问题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：</a:t>
            </a:r>
            <a:r>
              <a:rPr lang="en-US" altLang="zh-CN" sz="2000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89</a:t>
            </a:r>
            <a:r>
              <a:rPr lang="zh-CN" altLang="en-US" sz="2000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2000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44.28%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</a:t>
            </a:r>
            <a:endParaRPr lang="zh-CN" altLang="en-US" sz="2000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lvl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卸油作业</a:t>
            </a:r>
            <a:r>
              <a:rPr 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问题：</a:t>
            </a:r>
            <a:r>
              <a:rPr lang="en-US" altLang="zh-CN" sz="2000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73项</a:t>
            </a:r>
            <a:r>
              <a:rPr lang="zh-CN" altLang="en-US" sz="2000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，占比</a:t>
            </a:r>
            <a:r>
              <a:rPr lang="en-US" altLang="zh-CN" sz="2000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36.32%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</a:t>
            </a:r>
            <a:endParaRPr lang="zh-CN" altLang="en-US" sz="2000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lvl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现场加油作业</a:t>
            </a:r>
            <a:r>
              <a:rPr 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问题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15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项，占比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6.47%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</a:t>
            </a:r>
            <a:endParaRPr lang="zh-CN" altLang="en-US" sz="2000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lvl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其他隐患类问题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11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项，占比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5.47%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；</a:t>
            </a:r>
            <a:endParaRPr lang="zh-CN" altLang="en-US" sz="2000" dirty="0">
              <a:solidFill>
                <a:srgbClr val="C00000"/>
              </a:solidFill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lvl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油品质量控制</a:t>
            </a:r>
            <a:r>
              <a:rPr 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问题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15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项，占比</a:t>
            </a:r>
            <a:r>
              <a:rPr lang="en-US" altLang="zh-CN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7.46%</a:t>
            </a:r>
            <a:r>
              <a:rPr lang="zh-CN" altLang="en-US" sz="2000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。</a:t>
            </a:r>
            <a:endParaRPr lang="zh-CN" altLang="en-US" sz="2000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lvl="0" fontAlgn="auto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2000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33784" y="308372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二、检查发现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发现问题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视频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）</a:t>
            </a:r>
            <a:endParaRPr lang="zh-CN" altLang="en-US" sz="2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3380" y="1504315"/>
            <a:ext cx="5171440" cy="3933825"/>
          </a:xfrm>
          <a:prstGeom prst="rect">
            <a:avLst/>
          </a:prstGeom>
          <a:noFill/>
          <a:ln w="1905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/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5126355" y="1449070"/>
          <a:ext cx="6839585" cy="4982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46"/>
          <p:cNvSpPr/>
          <p:nvPr>
            <p:custDataLst>
              <p:tags r:id="rId1"/>
            </p:custDataLst>
          </p:nvPr>
        </p:nvSpPr>
        <p:spPr>
          <a:xfrm>
            <a:off x="3588385" y="164673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一、总体情况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6" name="圆角矩形 46"/>
          <p:cNvSpPr/>
          <p:nvPr>
            <p:custDataLst>
              <p:tags r:id="rId2"/>
            </p:custDataLst>
          </p:nvPr>
        </p:nvSpPr>
        <p:spPr>
          <a:xfrm>
            <a:off x="3588385" y="290276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二、检查发现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7" name="圆角矩形 46"/>
          <p:cNvSpPr/>
          <p:nvPr>
            <p:custDataLst>
              <p:tags r:id="rId3"/>
            </p:custDataLst>
          </p:nvPr>
        </p:nvSpPr>
        <p:spPr>
          <a:xfrm>
            <a:off x="3588385" y="4158615"/>
            <a:ext cx="4489450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三、</a:t>
            </a:r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问题分析</a:t>
            </a:r>
            <a:endParaRPr lang="zh-CN" altLang="en-US" sz="3000" dirty="0"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5" name="圆角矩形 46"/>
          <p:cNvSpPr/>
          <p:nvPr/>
        </p:nvSpPr>
        <p:spPr>
          <a:xfrm>
            <a:off x="3588384" y="541482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/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四、工作</a:t>
            </a: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建议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3"/>
          <p:cNvSpPr>
            <a:spLocks noGrp="1"/>
          </p:cNvSpPr>
          <p:nvPr>
            <p:ph type="title"/>
          </p:nvPr>
        </p:nvSpPr>
        <p:spPr>
          <a:xfrm>
            <a:off x="582324" y="356380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三、问题分析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现场重点问题</a:t>
            </a:r>
            <a:b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内容占位符 4"/>
          <p:cNvSpPr>
            <a:spLocks noGrp="1"/>
          </p:cNvSpPr>
          <p:nvPr>
            <p:ph idx="1"/>
          </p:nvPr>
        </p:nvSpPr>
        <p:spPr>
          <a:xfrm>
            <a:off x="415290" y="1144905"/>
            <a:ext cx="5851525" cy="5160645"/>
          </a:xfrm>
          <a:ln>
            <a:noFill/>
          </a:ln>
        </p:spPr>
        <p:txBody>
          <a:bodyPr/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Char char="p"/>
            </a:pP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占比较高问题分析（设备设施类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44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项问题）</a:t>
            </a:r>
            <a:endParaRPr lang="zh-CN" altLang="en-US" sz="1600" b="1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marL="446405" indent="-194310" algn="just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Char char="n"/>
            </a:pP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问题分布：如右图所示，设备设施类问题主要集中在加油机及相关设施（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6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项）、操作井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（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11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项）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、油罐区其他相关设备设施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（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4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项）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、配发电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（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11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项）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、卸油区静电接地释放设施（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5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项）、通气管（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3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项）、卸油口（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2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项）、罩棚及相关设备设施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（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项）、出入口设施（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项）九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个方面。</a:t>
            </a:r>
            <a:endParaRPr lang="zh-CN" altLang="en-US" sz="1600" b="1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marL="446405" indent="-194310" algn="just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Char char="n"/>
            </a:pP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产生原因：</a:t>
            </a:r>
            <a:endParaRPr lang="zh-CN" altLang="en-US" sz="16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marL="252095" indent="0" algn="just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（1）一线人员设备专业素养不足，对防雷接地、防爆封堵、油罐管线标识等规范要求的领会和运用不够，日常巡查保养时执行标准不严。</a:t>
            </a:r>
            <a:endParaRPr lang="en-US" altLang="zh-CN" sz="16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marL="252095" indent="0" algn="just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（2）场站设备的例行巡检和养护常停留在表面，锈蚀、积水、器材缺失等风险未能及时被发现和整改，同类低老坏问问题屡禁不止。</a:t>
            </a:r>
            <a:endParaRPr lang="en-US" altLang="zh-CN" sz="16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marL="252095" indent="0" algn="just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（3）设备档案与器具管控尚有盲点，设备验收、周期校验、更新替换的闭环管理不健全，历史遗留缺陷难以彻底解决。</a:t>
            </a:r>
            <a:endParaRPr lang="zh-CN" altLang="en-US" sz="16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6510655" y="1948815"/>
          <a:ext cx="5466080" cy="4630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3"/>
          <p:cNvSpPr>
            <a:spLocks noGrp="1"/>
          </p:cNvSpPr>
          <p:nvPr>
            <p:ph type="title"/>
          </p:nvPr>
        </p:nvSpPr>
        <p:spPr>
          <a:xfrm>
            <a:off x="582324" y="356380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三、问题分析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视频重点问题</a:t>
            </a:r>
            <a:b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内容占位符 4"/>
          <p:cNvSpPr>
            <a:spLocks noGrp="1"/>
          </p:cNvSpPr>
          <p:nvPr>
            <p:ph idx="1"/>
          </p:nvPr>
        </p:nvSpPr>
        <p:spPr>
          <a:xfrm>
            <a:off x="469900" y="1322070"/>
            <a:ext cx="6223635" cy="5160645"/>
          </a:xfrm>
          <a:ln>
            <a:noFill/>
          </a:ln>
        </p:spPr>
        <p:txBody>
          <a:bodyPr/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Char char="p"/>
            </a:pP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占比较高问题分析（设备检维修作业类问题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89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项、卸油作业类问题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73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项）</a:t>
            </a:r>
            <a:endParaRPr lang="zh-CN" altLang="en-US" sz="1600" b="1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marL="446405" indent="-194310" algn="just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Char char="n"/>
            </a:pP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问题分布：如右图所示，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设备检维修作业类问题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主要集中在消防器材、隔离警示装置摆放不规范（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76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项）、操作与着装规范（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11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项）；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卸油作业类问题主要集中在连接管线顺序不规范（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28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项）、卸前应急准备（2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5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项）、操作与着装规范（</a:t>
            </a:r>
            <a:r>
              <a:rPr lang="en-US" altLang="zh-CN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13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项）</a:t>
            </a: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。</a:t>
            </a:r>
            <a:endParaRPr lang="zh-CN" altLang="en-US" sz="1600" b="1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marL="446405" indent="-194310" algn="just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Char char="n"/>
            </a:pP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产生原因：</a:t>
            </a:r>
            <a:endParaRPr lang="zh-CN" altLang="en-US" sz="16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marL="252095" indent="0" algn="just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 （1）一线人员对油品接卸及设备检修维护环节的安全规范理解不深、把握不准，静电接地、质量验收、卸油流程、作业安全等重点常被压缩变通或执行走形，导致现场惯性违规频发。</a:t>
            </a:r>
            <a:endParaRPr lang="zh-CN" altLang="en-US" sz="16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marL="252095" indent="0" algn="just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en-US" sz="16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（2）场站在日常运行维护和作业监管方面仍有薄弱环节，接卸区域设备设施保养与检修落实不力，相似风险长期未被系统排查、彻底消除。</a:t>
            </a:r>
            <a:endParaRPr lang="zh-CN" altLang="en-US" sz="16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marL="252095" indent="0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  </a:t>
            </a:r>
            <a:endParaRPr lang="zh-CN" altLang="en-US" sz="1600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7116445" y="1172210"/>
          <a:ext cx="3814445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7116445" y="3725545"/>
          <a:ext cx="3814445" cy="2801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08041"/>
            <a:ext cx="12192000" cy="71437"/>
          </a:xfrm>
          <a:prstGeom prst="roundRect">
            <a:avLst>
              <a:gd name="adj" fmla="val 0"/>
            </a:avLst>
          </a:prstGeom>
          <a:solidFill>
            <a:srgbClr val="3F95D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37481" y="187325"/>
            <a:ext cx="596432" cy="5143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91846" y="955040"/>
            <a:ext cx="3141799" cy="445770"/>
          </a:xfrm>
          <a:prstGeom prst="roundRect">
            <a:avLst>
              <a:gd name="adj" fmla="val 0"/>
            </a:avLst>
          </a:prstGeom>
          <a:solidFill>
            <a:srgbClr val="3F95D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dist="101600" dir="2700000" algn="ctr">
              <a:srgbClr val="000000">
                <a:alpha val="50000"/>
              </a:srgbClr>
            </a:outerShdw>
          </a:effectLst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1.月度重点工作类问题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3784" y="308372"/>
            <a:ext cx="8256917" cy="4900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二、检查发现-</a:t>
            </a:r>
            <a:r>
              <a:rPr lang="en-US" sz="2000" b="1" i="0" u="none" strike="noStrike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现场重点问题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2548" y="1549495"/>
            <a:ext cx="11849067" cy="9761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本月重点工作是电气隐患排查，主要问题集中在</a:t>
            </a:r>
            <a:r>
              <a:rPr lang="zh-CN" altLang="en-US" sz="20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照明灯不亮</a:t>
            </a:r>
            <a:r>
              <a:rPr lang="en-US" sz="20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、</a:t>
            </a:r>
            <a:r>
              <a:rPr lang="zh-CN" altLang="en-US" sz="20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房间内电线裸露、</a:t>
            </a:r>
            <a:r>
              <a:rPr lang="en-US" sz="20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静电接地装置不规范、安全警示标识缺失方面。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40899" y="4585230"/>
            <a:ext cx="2678682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会议室有一个灯不亮</a:t>
            </a:r>
            <a:r>
              <a:rPr lang="zh-CN" alt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，</a:t>
            </a: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走道处有2个灯不亮</a:t>
            </a:r>
            <a:r>
              <a:rPr lang="zh-CN" alt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，</a:t>
            </a: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2</a:t>
            </a:r>
            <a:r>
              <a:rPr lang="zh-CN" alt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楼</a:t>
            </a: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最内侧房间的灯电线裸露。</a:t>
            </a:r>
            <a:endParaRPr lang="en-US" sz="1600" b="0" i="0" u="none" strike="noStrike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zh-CN" alt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金山第三</a:t>
            </a: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53956" y="4585230"/>
            <a:ext cx="2939090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静电接地检测箱内搭接不规范，搭接长度少于宽度的两倍，且未用两个螺丝固定。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农工商</a:t>
            </a: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277432" y="4579483"/>
            <a:ext cx="3228168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配电柜外侧缺少安全警示标识。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长圳</a:t>
            </a: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pic>
        <p:nvPicPr>
          <p:cNvPr id="10" name="Picture 10" descr="C:\Users\Administrator\Desktop\2\36.png3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86523" y="2552065"/>
            <a:ext cx="1587500" cy="191071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1" name="Picture 11" descr="C:\Users\Administrator\Desktop\2\38.png3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88661" y="2558462"/>
            <a:ext cx="2590065" cy="1993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 descr="C:\Users\Administrator\Desktop\2\37.png3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46530" y="2553041"/>
            <a:ext cx="2661396" cy="203136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390365" y="5873345"/>
            <a:ext cx="11337483" cy="876971"/>
          </a:xfrm>
          <a:prstGeom prst="rect">
            <a:avLst/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lgDash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1" i="0" strike="noStrike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规范要求：1. 静电接地装置完好，接地线无脱落、无松动；2. 柜内开关、控件、插座等元件完好、标识清晰。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08041"/>
            <a:ext cx="12192000" cy="71437"/>
          </a:xfrm>
          <a:prstGeom prst="roundRect">
            <a:avLst>
              <a:gd name="adj" fmla="val 0"/>
            </a:avLst>
          </a:prstGeom>
          <a:solidFill>
            <a:srgbClr val="3F95D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37481" y="187325"/>
            <a:ext cx="596432" cy="5143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91846" y="955040"/>
            <a:ext cx="2822622" cy="445770"/>
          </a:xfrm>
          <a:prstGeom prst="roundRect">
            <a:avLst>
              <a:gd name="adj" fmla="val 0"/>
            </a:avLst>
          </a:prstGeom>
          <a:solidFill>
            <a:srgbClr val="3F95D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dist="101600" dir="2700000" algn="ctr">
              <a:srgbClr val="000000">
                <a:alpha val="50000"/>
              </a:srgbClr>
            </a:outerShdw>
          </a:effectLst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2. 设备设施类问题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3784" y="308372"/>
            <a:ext cx="8256917" cy="4900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二、检查发现-</a:t>
            </a:r>
            <a:r>
              <a:rPr lang="en-US" sz="2000" b="1" i="0" u="none" strike="noStrike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现场重点问题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2548" y="1549495"/>
            <a:ext cx="11849067" cy="9761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本月设备设施类问题共44项，其中问题主要集中在油罐操作井、配发电、加油机、油罐区其他相关设备设施。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40899" y="4585230"/>
            <a:ext cx="2678682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三个操作井内井内管线均未按照要求涂色，且未标明油品流向。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长江</a:t>
            </a: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53956" y="4585230"/>
            <a:ext cx="2939090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2号罐罐内有积水。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长圳加油站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277432" y="4579483"/>
            <a:ext cx="3228168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3、4号机加油机间隔板未使用防爆泥封堵</a:t>
            </a:r>
            <a:r>
              <a:rPr lang="zh-CN" alt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。</a:t>
            </a:r>
            <a:endParaRPr lang="en-US" sz="1600" b="0" i="0" u="none" strike="noStrike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zh-CN" alt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南汇第二</a:t>
            </a: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pic>
        <p:nvPicPr>
          <p:cNvPr id="10" name="Picture 10" descr="C:\Users\Administrator\Desktop\2\1.png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6803" y="2551430"/>
            <a:ext cx="2340610" cy="191198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1" name="Picture 11" descr="C:\Users\Administrator\Desktop\2\2.png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88661" y="2701972"/>
            <a:ext cx="2590065" cy="17068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46530" y="2552218"/>
            <a:ext cx="2661396" cy="203301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390365" y="5873345"/>
            <a:ext cx="11337483" cy="876971"/>
          </a:xfrm>
          <a:prstGeom prst="rect">
            <a:avLst/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lgDash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1" i="0" strike="noStrike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规范要求：1. 油罐标识清晰、颜色规范，通气管流向标识正确；2. 油罐区油品标识及罐号齐全，罐内无积水；3. 加油机区间隔板各强弱电线的进孔均应防爆封堵规范。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08041"/>
            <a:ext cx="12192000" cy="71437"/>
          </a:xfrm>
          <a:prstGeom prst="roundRect">
            <a:avLst>
              <a:gd name="adj" fmla="val 0"/>
            </a:avLst>
          </a:prstGeom>
          <a:solidFill>
            <a:srgbClr val="3F95D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37481" y="187325"/>
            <a:ext cx="596432" cy="5143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91846" y="955040"/>
            <a:ext cx="2822622" cy="445770"/>
          </a:xfrm>
          <a:prstGeom prst="roundRect">
            <a:avLst>
              <a:gd name="adj" fmla="val 0"/>
            </a:avLst>
          </a:prstGeom>
          <a:solidFill>
            <a:srgbClr val="3F95D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dist="101600" dir="2700000" algn="ctr">
              <a:srgbClr val="000000">
                <a:alpha val="50000"/>
              </a:srgbClr>
            </a:outerShdw>
          </a:effectLst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2. 设备设施类问题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3784" y="308372"/>
            <a:ext cx="8256917" cy="4900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二、检查发现-</a:t>
            </a:r>
            <a:r>
              <a:rPr lang="en-US" sz="2000" b="1" i="0" u="none" strike="noStrike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现场重点问题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2548" y="1549495"/>
            <a:ext cx="11849067" cy="9761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设备设施类问题：油气回收系统、罩棚设施、配电间等方面存在的问题。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40899" y="4585230"/>
            <a:ext cx="2678682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3号罐计量井内，油气回收管道流向错误。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平霄路</a:t>
            </a: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53956" y="4585230"/>
            <a:ext cx="2939090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防雷引下线未使用M12螺母。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青浜</a:t>
            </a: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277432" y="4579483"/>
            <a:ext cx="3228168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配电间门跨接断裂。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金山第三</a:t>
            </a: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pic>
        <p:nvPicPr>
          <p:cNvPr id="10" name="Picture 10" descr="C:\Users\Administrator\Desktop\2\4.png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62723" y="2552700"/>
            <a:ext cx="1587500" cy="191071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1" name="Picture 11" descr="C:\Users\Administrator\Desktop\2\5.png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88661" y="2567035"/>
            <a:ext cx="2590065" cy="19767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 descr="C:\Users\Administrator\Desktop\2\6.png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032678" y="2552218"/>
            <a:ext cx="1689100" cy="203301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390365" y="5873345"/>
            <a:ext cx="11337483" cy="876971"/>
          </a:xfrm>
          <a:prstGeom prst="rect">
            <a:avLst/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lgDash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1" i="0" strike="noStrike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规范要求：1. 油气回收管线流向标识正确；2. 罩棚无锈蚀穿透，防雷引下线断接卡使用M12螺栓连接；3. 配电柜门与柜体跨接有效</a:t>
            </a:r>
            <a:r>
              <a:rPr lang="zh-CN" altLang="en-US" sz="1800" b="1" i="0" strike="noStrike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。</a:t>
            </a:r>
            <a:endParaRPr lang="zh-CN" altLang="en-US" sz="1800" b="1" i="0" strike="noStrike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08041"/>
            <a:ext cx="12192000" cy="71437"/>
          </a:xfrm>
          <a:prstGeom prst="roundRect">
            <a:avLst>
              <a:gd name="adj" fmla="val 0"/>
            </a:avLst>
          </a:prstGeom>
          <a:solidFill>
            <a:srgbClr val="3F95D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37481" y="187325"/>
            <a:ext cx="596432" cy="5143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91846" y="955040"/>
            <a:ext cx="2822622" cy="445770"/>
          </a:xfrm>
          <a:prstGeom prst="roundRect">
            <a:avLst>
              <a:gd name="adj" fmla="val 0"/>
            </a:avLst>
          </a:prstGeom>
          <a:solidFill>
            <a:srgbClr val="3F95D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dist="101600" dir="2700000" algn="ctr">
              <a:srgbClr val="000000">
                <a:alpha val="50000"/>
              </a:srgbClr>
            </a:outerShdw>
          </a:effectLst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3. 污染防治类问题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3784" y="308372"/>
            <a:ext cx="8256917" cy="4900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二、检查发现-</a:t>
            </a:r>
            <a:r>
              <a:rPr lang="en-US" sz="2000" b="1" i="0" u="none" strike="noStrike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现场重点问题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2548" y="1549495"/>
            <a:ext cx="11849067" cy="9761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本月污染防治类问题共6项，其中问题主要集中在环保台账内容、环保设施稳定运行方面。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40899" y="4585230"/>
            <a:ext cx="2678682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环保台账未及时更新。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长江</a:t>
            </a: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53956" y="4585230"/>
            <a:ext cx="2939090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环保台账未及时更新。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奉贤第六</a:t>
            </a: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277432" y="4579483"/>
            <a:ext cx="3228168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环保台账未及时更新。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平霄路加油站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pic>
        <p:nvPicPr>
          <p:cNvPr id="10" name="Picture 10" descr="C:\Users\Administrator\Desktop\2\7.png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62723" y="2552700"/>
            <a:ext cx="1587500" cy="191071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1" name="Picture 11" descr="C:\Users\Administrator\Desktop\2\8.png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26444" y="2552218"/>
            <a:ext cx="1714500" cy="200638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46530" y="2552218"/>
            <a:ext cx="2661396" cy="203301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390365" y="5873345"/>
            <a:ext cx="11337483" cy="876971"/>
          </a:xfrm>
          <a:prstGeom prst="rect">
            <a:avLst/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lgDash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1" i="0" strike="noStrike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规范要求：1.  建立环保设备设施运行台账，如实记录运行情况。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08041"/>
            <a:ext cx="12192000" cy="71437"/>
          </a:xfrm>
          <a:prstGeom prst="roundRect">
            <a:avLst>
              <a:gd name="adj" fmla="val 0"/>
            </a:avLst>
          </a:prstGeom>
          <a:solidFill>
            <a:srgbClr val="3F95D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37481" y="187325"/>
            <a:ext cx="596432" cy="5143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91845" y="955040"/>
            <a:ext cx="3561715" cy="445770"/>
          </a:xfrm>
          <a:prstGeom prst="roundRect">
            <a:avLst>
              <a:gd name="adj" fmla="val 0"/>
            </a:avLst>
          </a:prstGeom>
          <a:solidFill>
            <a:srgbClr val="3F95D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dist="101600" dir="2700000" algn="ctr">
              <a:srgbClr val="000000">
                <a:alpha val="50000"/>
              </a:srgbClr>
            </a:outerShdw>
          </a:effectLst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4. 能力培训和意识类问题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3784" y="308372"/>
            <a:ext cx="8256917" cy="4900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二、检查发现-</a:t>
            </a:r>
            <a:r>
              <a:rPr lang="en-US" sz="2000" b="1" i="0" u="none" strike="noStrike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现场重点问题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2548" y="1549495"/>
            <a:ext cx="11849067" cy="9761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本月能力培训和意识类问题共4项，主要集中在员工的HSE</a:t>
            </a:r>
            <a:r>
              <a:rPr lang="zh-CN" altLang="en-US" sz="20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培训及安全再教育</a:t>
            </a:r>
            <a:r>
              <a:rPr lang="en-US" sz="20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教育方面。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40899" y="4585230"/>
            <a:ext cx="2678682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员工在岗安全再教育只有2020年度的，无2026年度的。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崇明第四加油站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53956" y="4585230"/>
            <a:ext cx="2939090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站内员工hse培训记录未及时填写。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南门</a:t>
            </a: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277432" y="4579483"/>
            <a:ext cx="3228168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8个月仅完成9.5个小时培训，4个月需要成10.5个小时，需完善培训计划。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奉贤第六</a:t>
            </a: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pic>
        <p:nvPicPr>
          <p:cNvPr id="10" name="Picture 10" descr="C:\Users\Administrator\Desktop\2\10.png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0740" y="2553018"/>
            <a:ext cx="2626995" cy="200469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1" name="Picture 11" descr="C:\Users\Administrator\Desktop\2\11.png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88661" y="2567035"/>
            <a:ext cx="2590065" cy="19767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 descr="C:\Users\Administrator\Desktop\2\12.png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46530" y="2553041"/>
            <a:ext cx="2661396" cy="203136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390365" y="5873345"/>
            <a:ext cx="11337483" cy="876971"/>
          </a:xfrm>
          <a:prstGeom prst="rect">
            <a:avLst/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lgDash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1" i="0" strike="noStrike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规范要求：1. 新入厂员工按规定应经过三级入厂安全生产教育培训，时间不得少于72学时；2. 在岗员工按规定接受年度安全再教育培训；3. HSE证照齐全且在有效期内。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08041"/>
            <a:ext cx="12192000" cy="71437"/>
          </a:xfrm>
          <a:prstGeom prst="roundRect">
            <a:avLst>
              <a:gd name="adj" fmla="val 0"/>
            </a:avLst>
          </a:prstGeom>
          <a:solidFill>
            <a:srgbClr val="3F95D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37481" y="187325"/>
            <a:ext cx="596432" cy="5143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91846" y="955040"/>
            <a:ext cx="2822622" cy="445770"/>
          </a:xfrm>
          <a:prstGeom prst="roundRect">
            <a:avLst>
              <a:gd name="adj" fmla="val 0"/>
            </a:avLst>
          </a:prstGeom>
          <a:solidFill>
            <a:srgbClr val="3F95D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dist="101600" dir="2700000" algn="ctr">
              <a:srgbClr val="000000">
                <a:alpha val="50000"/>
              </a:srgbClr>
            </a:outerShdw>
          </a:effectLst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5. 风险合规类问题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3784" y="308372"/>
            <a:ext cx="8256917" cy="4900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二、检查发现-</a:t>
            </a:r>
            <a:r>
              <a:rPr lang="en-US" sz="2000" b="1" i="0" u="none" strike="noStrike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现场重点问题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2548" y="1549495"/>
            <a:ext cx="11849067" cy="9761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本月风险合规类问题共6项（风险隐患6项），主要集中在危害因素识别、隐患台账、证照管理方面。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40899" y="4585230"/>
            <a:ext cx="2678682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未找到安全隐患台账，未及时更新员工申报隐患奖励台账。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南门</a:t>
            </a: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53956" y="4585230"/>
            <a:ext cx="2939090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未建立事故隐患排查报告的员工上报及奖励台账。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农工商</a:t>
            </a: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277432" y="4579483"/>
            <a:ext cx="3228168" cy="1000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lang="zh-CN" alt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缺少</a:t>
            </a:r>
            <a:r>
              <a:rPr lang="en-US" altLang="zh-CN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2026</a:t>
            </a:r>
            <a:r>
              <a:rPr lang="zh-CN" alt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年</a:t>
            </a: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危险因素清单。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崇明第四</a:t>
            </a:r>
            <a:r>
              <a:rPr lang="en-US" sz="1600" b="1" i="0" u="none" strike="noStrike">
                <a:solidFill>
                  <a:srgbClr val="3F95D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加油站</a:t>
            </a:r>
            <a:endParaRPr lang="en-US" sz="1600" b="1" i="0" u="none" strike="noStrike">
              <a:solidFill>
                <a:srgbClr val="3F95D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  <p:pic>
        <p:nvPicPr>
          <p:cNvPr id="10" name="Picture 10" descr="C:\Users\Administrator\Desktop\2\13.png1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95350" y="2545080"/>
            <a:ext cx="2623185" cy="200279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1" name="Picture 11" descr="C:\Users\Administrator\Desktop\2\14.png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50256" y="2552218"/>
            <a:ext cx="1666875" cy="200638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 descr="C:\Users\Administrator\Desktop\2\15.png1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032678" y="2552218"/>
            <a:ext cx="1689100" cy="203301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390365" y="5873345"/>
            <a:ext cx="11337483" cy="876971"/>
          </a:xfrm>
          <a:prstGeom prst="rect">
            <a:avLst/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lgDash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1" i="0" strike="noStrike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规范要求：1. 组织开展危害因素识别活动，且有危害因素清单，并动态更新；2. 组织开展隐患排查工作，对排查出的隐患进行评估分级；3. QHSE证照齐全且有效，按规定取得各类HSE许可和资质等证照。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791845" y="955040"/>
            <a:ext cx="4478895" cy="445770"/>
          </a:xfrm>
          <a:prstGeom prst="rect">
            <a:avLst/>
          </a:prstGeom>
          <a:solidFill>
            <a:srgbClr val="3F95D2"/>
          </a:solidFill>
          <a:ln>
            <a:noFill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742950" indent="-28575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2pPr>
            <a:lvl3pPr marL="11430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3pPr>
            <a:lvl4pPr marL="16002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4pPr>
            <a:lvl5pPr marL="20574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9pPr>
          </a:lstStyle>
          <a:p>
            <a:r>
              <a:rPr lang="en-US" sz="2200" dirty="0">
                <a:solidFill>
                  <a:schemeClr val="bg1"/>
                </a:solidFill>
                <a:sym typeface="+mn-ea"/>
              </a:rPr>
              <a:t>6</a:t>
            </a:r>
            <a:r>
              <a:rPr sz="2200" dirty="0">
                <a:solidFill>
                  <a:schemeClr val="bg1"/>
                </a:solidFill>
                <a:sym typeface="+mn-ea"/>
              </a:rPr>
              <a:t>. </a:t>
            </a:r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其他对生产经营有影响的问题</a:t>
            </a:r>
            <a:endParaRPr lang="zh-CN" altLang="en-US" sz="2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33784" y="308372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二、检查发现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现场重点问题</a:t>
            </a:r>
            <a:endParaRPr lang="zh-CN" altLang="en-US" sz="2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6605" y="1597749"/>
            <a:ext cx="11531366" cy="675021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本月其他对生产经营有影响问题共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11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项，主要是未在规范内的其他存在安全隐患的问题。</a:t>
            </a:r>
            <a:endParaRPr lang="zh-CN" altLang="en-US" sz="20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159418" y="4576605"/>
            <a:ext cx="2678682" cy="127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站内打开操作井较为困难，员工在开井过程中摔倒受伤了。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b="1" dirty="0">
                <a:solidFill>
                  <a:srgbClr val="3F95D2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长圳加油站</a:t>
            </a:r>
            <a:endParaRPr lang="en-US" altLang="zh-CN" b="1" dirty="0">
              <a:solidFill>
                <a:srgbClr val="3F95D2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2997485" y="4576605"/>
            <a:ext cx="2938780" cy="15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员工允许顾客自行打桶，打桶在车后备箱，未夹静电接地夹，未放置消防器材，存在安全隐患。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b="1" dirty="0">
                <a:solidFill>
                  <a:srgbClr val="3F95D2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广达加油站</a:t>
            </a:r>
            <a:endParaRPr lang="en-US" altLang="zh-CN" b="1" dirty="0">
              <a:solidFill>
                <a:srgbClr val="3F95D2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6095650" y="4565105"/>
            <a:ext cx="2678430" cy="15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静电接地检测箱内搭接不规范，搭接长度少于宽度的两倍，且未用两个螺丝固定。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  <a:p>
            <a:pPr algn="ctr"/>
            <a:r>
              <a:rPr lang="zh-CN" altLang="en-US" b="1" dirty="0">
                <a:solidFill>
                  <a:srgbClr val="3F95D2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农工商加油站</a:t>
            </a:r>
            <a:endParaRPr lang="en-US" altLang="zh-CN" b="1" dirty="0">
              <a:solidFill>
                <a:srgbClr val="3F95D2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8933465" y="4570858"/>
            <a:ext cx="3227705" cy="15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静电接地夹箱与地面固定处松动，静电接地处一点多接，铜鼻子从接地扁铁的孔洞中穿过，且连接处有空隙。。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b="1" dirty="0">
                <a:solidFill>
                  <a:srgbClr val="3F95D2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农工商加油站</a:t>
            </a:r>
            <a:endParaRPr lang="en-US" altLang="zh-CN" b="1" dirty="0">
              <a:solidFill>
                <a:srgbClr val="3F95D2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</p:txBody>
      </p:sp>
      <p:pic>
        <p:nvPicPr>
          <p:cNvPr id="21" name="Picture 20" descr="C:\Users\Administrator\Desktop\2\16.png1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37553" y="2278380"/>
            <a:ext cx="1661160" cy="1998980"/>
          </a:xfrm>
          <a:prstGeom prst="rect">
            <a:avLst/>
          </a:prstGeom>
        </p:spPr>
      </p:pic>
      <p:pic>
        <p:nvPicPr>
          <p:cNvPr id="25" name="Picture 24" descr="C:\Users\Administrator\Desktop\2\17.png1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497580" y="2278698"/>
            <a:ext cx="2618105" cy="1998345"/>
          </a:xfrm>
          <a:prstGeom prst="rect">
            <a:avLst/>
          </a:prstGeom>
        </p:spPr>
      </p:pic>
      <p:pic>
        <p:nvPicPr>
          <p:cNvPr id="70" name="Picture 69" descr="C:\Users\Administrator\Desktop\2\18.png18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736080" y="2639060"/>
            <a:ext cx="1659890" cy="1277620"/>
          </a:xfrm>
          <a:prstGeom prst="rect">
            <a:avLst/>
          </a:prstGeom>
        </p:spPr>
      </p:pic>
      <p:pic>
        <p:nvPicPr>
          <p:cNvPr id="90" name="Picture 89" descr="C:\Users\Administrator\Desktop\2\19.png19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162415" y="2278380"/>
            <a:ext cx="2447290" cy="1998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791845" y="955040"/>
            <a:ext cx="4478895" cy="445770"/>
          </a:xfrm>
          <a:prstGeom prst="rect">
            <a:avLst/>
          </a:prstGeom>
          <a:solidFill>
            <a:srgbClr val="3F95D2"/>
          </a:solidFill>
          <a:ln>
            <a:noFill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742950" indent="-28575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2pPr>
            <a:lvl3pPr marL="11430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3pPr>
            <a:lvl4pPr marL="16002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4pPr>
            <a:lvl5pPr marL="20574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9pPr>
          </a:lstStyle>
          <a:p>
            <a:r>
              <a:rPr lang="en-US" sz="2200" dirty="0">
                <a:solidFill>
                  <a:schemeClr val="bg1"/>
                </a:solidFill>
                <a:sym typeface="+mn-ea"/>
              </a:rPr>
              <a:t>6</a:t>
            </a:r>
            <a:r>
              <a:rPr sz="2200" dirty="0">
                <a:solidFill>
                  <a:schemeClr val="bg1"/>
                </a:solidFill>
                <a:sym typeface="+mn-ea"/>
              </a:rPr>
              <a:t>. </a:t>
            </a:r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其他对生产经营有影响的问题</a:t>
            </a:r>
            <a:endParaRPr lang="zh-CN" altLang="en-US" sz="2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33784" y="308372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二、检查发现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现场重点问题</a:t>
            </a:r>
            <a:endParaRPr lang="zh-CN" altLang="en-US" sz="2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389705" y="4294810"/>
            <a:ext cx="2831568" cy="99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站房与油罐区之间的监控摄像头未静电接地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。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b="1" dirty="0">
                <a:solidFill>
                  <a:srgbClr val="3F95D2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农工商加油站</a:t>
            </a:r>
            <a:endParaRPr lang="en-US" altLang="zh-CN" b="1" dirty="0">
              <a:solidFill>
                <a:srgbClr val="3F95D2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3343828" y="4294810"/>
            <a:ext cx="2938780" cy="99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低压配电间未配备绝缘手套与鞋。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b="1" dirty="0">
                <a:solidFill>
                  <a:srgbClr val="3F95D2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平霄路加油站</a:t>
            </a:r>
            <a:endParaRPr lang="en-US" altLang="zh-CN" b="1" dirty="0">
              <a:solidFill>
                <a:srgbClr val="3F95D2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6405163" y="4294810"/>
            <a:ext cx="2678430" cy="99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3号罐操作井内双层管线渗漏监测软管脱落。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  <a:p>
            <a:pPr algn="ctr"/>
            <a:r>
              <a:rPr lang="zh-CN" altLang="en-US" b="1" dirty="0">
                <a:solidFill>
                  <a:srgbClr val="3F95D2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平霄路加油站</a:t>
            </a:r>
            <a:endParaRPr lang="en-US" altLang="zh-CN" b="1" dirty="0">
              <a:solidFill>
                <a:srgbClr val="3F95D2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9206148" y="4294810"/>
            <a:ext cx="2938780" cy="99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dirty="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便利店内发现有地砖和天花板松动。</a:t>
            </a:r>
            <a:endParaRPr lang="zh-CN" altLang="en-US" dirty="0">
              <a:solidFill>
                <a:schemeClr val="tx1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b="1" dirty="0">
                <a:solidFill>
                  <a:srgbClr val="3F95D2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青浜加油站</a:t>
            </a:r>
            <a:endParaRPr lang="en-US" altLang="zh-CN" b="1" dirty="0">
              <a:solidFill>
                <a:srgbClr val="3F95D2"/>
              </a:solidFill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</p:txBody>
      </p:sp>
      <p:pic>
        <p:nvPicPr>
          <p:cNvPr id="115" name="Picture 114" descr="C:\Users\Administrator\Desktop\2\23.png2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24670" y="2317115"/>
            <a:ext cx="2357120" cy="1617980"/>
          </a:xfrm>
          <a:prstGeom prst="rect">
            <a:avLst/>
          </a:prstGeom>
        </p:spPr>
      </p:pic>
      <p:pic>
        <p:nvPicPr>
          <p:cNvPr id="9" name="Picture 94" descr="C:\Users\Administrator\Desktop\2\20.png2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33095" y="2163445"/>
            <a:ext cx="2240915" cy="1925320"/>
          </a:xfrm>
          <a:prstGeom prst="rect">
            <a:avLst/>
          </a:prstGeom>
        </p:spPr>
      </p:pic>
      <p:pic>
        <p:nvPicPr>
          <p:cNvPr id="10" name="Picture 95" descr="C:\Users\Administrator\Desktop\2\21.png2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985895" y="2163445"/>
            <a:ext cx="1599565" cy="1925320"/>
          </a:xfrm>
          <a:prstGeom prst="rect">
            <a:avLst/>
          </a:prstGeom>
        </p:spPr>
      </p:pic>
      <p:pic>
        <p:nvPicPr>
          <p:cNvPr id="11" name="Picture 110" descr="C:\Users\Administrator\Desktop\2\22.png2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557010" y="2226628"/>
            <a:ext cx="2357120" cy="17989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791845" y="955040"/>
            <a:ext cx="4051935" cy="445770"/>
          </a:xfrm>
          <a:prstGeom prst="rect">
            <a:avLst/>
          </a:prstGeom>
          <a:solidFill>
            <a:srgbClr val="3F95D2"/>
          </a:solidFill>
          <a:ln>
            <a:noFill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742950" indent="-28575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2pPr>
            <a:lvl3pPr marL="11430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3pPr>
            <a:lvl4pPr marL="16002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4pPr>
            <a:lvl5pPr marL="20574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9pPr>
          </a:lstStyle>
          <a:p>
            <a:r>
              <a:rPr lang="en-US" sz="2200" dirty="0">
                <a:solidFill>
                  <a:schemeClr val="bg1"/>
                </a:solidFill>
                <a:sym typeface="+mn-ea"/>
              </a:rPr>
              <a:t>7</a:t>
            </a:r>
            <a:r>
              <a:rPr sz="2200" dirty="0">
                <a:solidFill>
                  <a:schemeClr val="bg1"/>
                </a:solidFill>
                <a:sym typeface="+mn-ea"/>
              </a:rPr>
              <a:t>. 设备检维修作业</a:t>
            </a:r>
            <a:r>
              <a:rPr lang="zh-CN" sz="2200" dirty="0">
                <a:solidFill>
                  <a:schemeClr val="bg1"/>
                </a:solidFill>
                <a:sym typeface="+mn-ea"/>
              </a:rPr>
              <a:t>类</a:t>
            </a:r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问题</a:t>
            </a:r>
            <a:endParaRPr lang="zh-CN" altLang="en-US" sz="2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33784" y="308372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二、检查发现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视频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重点问题</a:t>
            </a:r>
            <a:endParaRPr lang="zh-CN" altLang="en-US" sz="2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6700" y="1509395"/>
            <a:ext cx="11741785" cy="716280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542925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本月设备检维修作业类问题共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89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项，其中松金片区存在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16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项、占比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18%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，问题主要集中于检维修作业期间未规范放置消防器材和隔离装置、灭火毯未处于临战状态、下井未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佩戴安全帽两个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方面。</a:t>
            </a:r>
            <a:endParaRPr lang="zh-CN" altLang="en-US" sz="20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marL="0" indent="542925" fontAlgn="auto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20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866775" y="4360545"/>
            <a:ext cx="31178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泗砖加油站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加油机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自检前未根据维修作业风险布置消防器材。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algn="ctr"/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4803775" y="4362450"/>
            <a:ext cx="30486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+mn-ea"/>
              </a:rPr>
              <a:t>茸惠加油站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+mn-ea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+mn-ea"/>
              </a:rPr>
              <a:t>加油机维修时未放置灭火器。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8671560" y="4362450"/>
            <a:ext cx="29832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+mn-ea"/>
              </a:rPr>
              <a:t>徐浦加油站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+mn-ea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+mn-ea"/>
              </a:rPr>
              <a:t>检查操作井时灭火毯未处于临战状态。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+mn-ea"/>
            </a:endParaRPr>
          </a:p>
        </p:txBody>
      </p:sp>
      <p:sp>
        <p:nvSpPr>
          <p:cNvPr id="4" name="内容占位符 4"/>
          <p:cNvSpPr>
            <a:spLocks noGrp="1"/>
          </p:cNvSpPr>
          <p:nvPr/>
        </p:nvSpPr>
        <p:spPr>
          <a:xfrm>
            <a:off x="526415" y="5367020"/>
            <a:ext cx="11222990" cy="1249045"/>
          </a:xfrm>
          <a:prstGeom prst="rect">
            <a:avLst/>
          </a:prstGeom>
          <a:ln w="19050">
            <a:solidFill>
              <a:srgbClr val="C00000"/>
            </a:solidFill>
            <a:prstDash val="lgDash"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规范要求：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1. 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检维修作业前须做好现场安全警示及防护工作，应根据维修作业风险布置警示墩、隔离带、消防器材等，灭火毯应处于临战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状态；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2. 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维修人员着装应规范，根据维修作业风险穿着防静电工作服、佩戴安全帽、佩戴绝缘手套等。</a:t>
            </a:r>
            <a:endParaRPr lang="zh-CN" altLang="en-US" sz="1800" b="1" dirty="0">
              <a:solidFill>
                <a:srgbClr val="C00000"/>
              </a:solidFill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pic>
        <p:nvPicPr>
          <p:cNvPr id="31" name="Picture 30" descr="C:\Users\Administrator\Desktop\2\25.png2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91760" y="2622550"/>
            <a:ext cx="2442210" cy="1391920"/>
          </a:xfrm>
          <a:prstGeom prst="rect">
            <a:avLst/>
          </a:prstGeom>
        </p:spPr>
      </p:pic>
      <p:pic>
        <p:nvPicPr>
          <p:cNvPr id="50" name="Picture 49" descr="C:\Users\Administrator\Desktop\2\24.png2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98550" y="2611120"/>
            <a:ext cx="2442210" cy="1417955"/>
          </a:xfrm>
          <a:prstGeom prst="rect">
            <a:avLst/>
          </a:prstGeom>
        </p:spPr>
      </p:pic>
      <p:pic>
        <p:nvPicPr>
          <p:cNvPr id="123" name="Picture 122" descr="C:\Users\Administrator\Desktop\2\26.png2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284970" y="2852103"/>
            <a:ext cx="1597660" cy="941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791845" y="955040"/>
            <a:ext cx="3279775" cy="445770"/>
          </a:xfrm>
          <a:prstGeom prst="rect">
            <a:avLst/>
          </a:prstGeom>
          <a:solidFill>
            <a:srgbClr val="3F95D2"/>
          </a:solidFill>
          <a:ln>
            <a:noFill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742950" indent="-28575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2pPr>
            <a:lvl3pPr marL="11430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3pPr>
            <a:lvl4pPr marL="16002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4pPr>
            <a:lvl5pPr marL="20574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9pPr>
          </a:lstStyle>
          <a:p>
            <a:r>
              <a:rPr lang="en-US" sz="2200" dirty="0">
                <a:solidFill>
                  <a:schemeClr val="bg1"/>
                </a:solidFill>
                <a:sym typeface="+mn-ea"/>
              </a:rPr>
              <a:t>8</a:t>
            </a:r>
            <a:r>
              <a:rPr sz="2200" dirty="0">
                <a:solidFill>
                  <a:schemeClr val="bg1"/>
                </a:solidFill>
                <a:sym typeface="+mn-ea"/>
              </a:rPr>
              <a:t>. </a:t>
            </a:r>
            <a:r>
              <a:rPr lang="zh-CN" sz="2200" dirty="0">
                <a:solidFill>
                  <a:schemeClr val="bg1"/>
                </a:solidFill>
                <a:sym typeface="+mn-ea"/>
              </a:rPr>
              <a:t>卸油作业类</a:t>
            </a:r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问题</a:t>
            </a:r>
            <a:endParaRPr lang="zh-CN" altLang="en-US" sz="2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33784" y="308372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二、检查发现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视频重点问题</a:t>
            </a:r>
            <a:endParaRPr lang="zh-CN" altLang="en-US" sz="2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6700" y="1517650"/>
            <a:ext cx="11741785" cy="679450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542925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本月卸油作业类问题共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70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项，其中浦东片区存在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16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项、占比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23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%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，松金片区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存在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9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项、占比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13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%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。问题主要集中于管线连接顺序有误、未规范放置消防装置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、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未有效释放静电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三个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方面。</a:t>
            </a:r>
            <a:endParaRPr lang="zh-CN" altLang="en-US" sz="20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866775" y="4565015"/>
            <a:ext cx="31178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三新加油站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</a:rPr>
              <a:t>静电接地夹连接位置有误，无法有效释放罐车静电。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4803775" y="4426585"/>
            <a:ext cx="30486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振兴加油站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algn="ctr"/>
            <a:r>
              <a:rPr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卸油时，灭火毯未处于临战状态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。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8671560" y="4565015"/>
            <a:ext cx="29832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同盛第一加油站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algn="ctr"/>
            <a:r>
              <a:rPr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连接管线的顺序错误，应先连接好气管两端再连接油管</a:t>
            </a:r>
            <a:r>
              <a:rPr lang="zh-CN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。</a:t>
            </a:r>
            <a:endParaRPr lang="zh-CN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3" name="内容占位符 4"/>
          <p:cNvSpPr>
            <a:spLocks noGrp="1"/>
          </p:cNvSpPr>
          <p:nvPr/>
        </p:nvSpPr>
        <p:spPr>
          <a:xfrm>
            <a:off x="436245" y="5544820"/>
            <a:ext cx="11461750" cy="1233170"/>
          </a:xfrm>
          <a:prstGeom prst="rect">
            <a:avLst/>
          </a:prstGeom>
          <a:ln w="19050">
            <a:solidFill>
              <a:srgbClr val="C00000"/>
            </a:solidFill>
            <a:prstDash val="lgDash"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规范要求：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在卸油区放置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具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35kg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推车式干粉灭火器、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具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5kg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手提式干粉灭火器、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块灭火毯。手提式灭火器放置在距离卸油口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～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3m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处的上风方向；灭火毯展开，处于临战状态。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、汽油接卸，卸油员在保持油气回收管及静电接地连接状态下，使用铝桶放在罐车卸油口处，缓慢开启卸油阀门，滤尽油罐车内余油。</a:t>
            </a:r>
            <a:endParaRPr lang="zh-CN" altLang="en-US" sz="1800" b="1" dirty="0">
              <a:solidFill>
                <a:srgbClr val="C00000"/>
              </a:solidFill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pic>
        <p:nvPicPr>
          <p:cNvPr id="126" name="Picture 125" descr="C:\Users\Administrator\Desktop\2\28.png2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91050" y="2482851"/>
            <a:ext cx="3188970" cy="1825625"/>
          </a:xfrm>
          <a:prstGeom prst="rect">
            <a:avLst/>
          </a:prstGeom>
        </p:spPr>
      </p:pic>
      <p:pic>
        <p:nvPicPr>
          <p:cNvPr id="106" name="Picture 105" descr="C:\Users\Administrator\Desktop\2\27.png2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299210" y="2227263"/>
            <a:ext cx="1997710" cy="2336800"/>
          </a:xfrm>
          <a:prstGeom prst="rect">
            <a:avLst/>
          </a:prstGeom>
        </p:spPr>
      </p:pic>
      <p:pic>
        <p:nvPicPr>
          <p:cNvPr id="24" name="Picture 23" descr="C:\Users\Administrator\Desktop\2\29.png2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890635" y="2586990"/>
            <a:ext cx="2347595" cy="15881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791845" y="955040"/>
            <a:ext cx="3279775" cy="445770"/>
          </a:xfrm>
          <a:prstGeom prst="rect">
            <a:avLst/>
          </a:prstGeom>
          <a:solidFill>
            <a:srgbClr val="3F95D2"/>
          </a:solidFill>
          <a:ln>
            <a:noFill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742950" indent="-28575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2pPr>
            <a:lvl3pPr marL="11430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3pPr>
            <a:lvl4pPr marL="16002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4pPr>
            <a:lvl5pPr marL="20574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9pPr>
          </a:lstStyle>
          <a:p>
            <a:r>
              <a:rPr lang="en-US" sz="2200" dirty="0">
                <a:solidFill>
                  <a:schemeClr val="bg1"/>
                </a:solidFill>
                <a:sym typeface="+mn-ea"/>
              </a:rPr>
              <a:t>9</a:t>
            </a:r>
            <a:r>
              <a:rPr sz="2200" dirty="0">
                <a:solidFill>
                  <a:schemeClr val="bg1"/>
                </a:solidFill>
                <a:sym typeface="+mn-ea"/>
              </a:rPr>
              <a:t>. </a:t>
            </a:r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现场加油作业</a:t>
            </a:r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类问题</a:t>
            </a:r>
            <a:endParaRPr lang="zh-CN" altLang="en-US" sz="2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33784" y="308372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二、检查发现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视频重点问题</a:t>
            </a:r>
            <a:endParaRPr lang="zh-CN" altLang="en-US" sz="2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6700" y="1557655"/>
            <a:ext cx="11741785" cy="778510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542925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本月现场加油作业类问题共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19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项，其中</a:t>
            </a:r>
            <a:r>
              <a:rPr 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崇明存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在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5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项、占比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26%。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问题主要集中于员工未阻止顾客拨打电话行为、打桶未做好安全防护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两方面。</a:t>
            </a:r>
            <a:endParaRPr lang="zh-CN" altLang="en-US" sz="20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866775" y="4612640"/>
            <a:ext cx="31178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+mn-ea"/>
              </a:rPr>
              <a:t>泗砖加油站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+mn-ea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+mn-ea"/>
              </a:rPr>
              <a:t>员工在加油区接打电话，未及时阻止顾客接打电话。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4784725" y="4603115"/>
            <a:ext cx="30486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+mn-ea"/>
              </a:rPr>
              <a:t>重盈加油站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+mn-ea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+mn-ea"/>
              </a:rPr>
              <a:t>员工在加油区接打电话，未及时阻止顾客接打电话。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8671560" y="4586605"/>
            <a:ext cx="29832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锦桥加油站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+mn-ea"/>
              </a:rPr>
              <a:t>员工在加油区接打电话，未及时阻止顾客接打电话。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+mn-ea"/>
            </a:endParaRPr>
          </a:p>
        </p:txBody>
      </p:sp>
      <p:sp>
        <p:nvSpPr>
          <p:cNvPr id="4" name="内容占位符 4"/>
          <p:cNvSpPr>
            <a:spLocks noGrp="1"/>
          </p:cNvSpPr>
          <p:nvPr/>
        </p:nvSpPr>
        <p:spPr>
          <a:xfrm>
            <a:off x="675005" y="5804535"/>
            <a:ext cx="11222990" cy="560705"/>
          </a:xfrm>
          <a:prstGeom prst="rect">
            <a:avLst/>
          </a:prstGeom>
          <a:ln w="19050">
            <a:solidFill>
              <a:srgbClr val="C00000"/>
            </a:solidFill>
            <a:prstDash val="lgDash"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规范要求：</a:t>
            </a:r>
            <a:r>
              <a:rPr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加油员工及时制止外来人员接打电话、吸烟等危险动作</a:t>
            </a:r>
            <a:r>
              <a:rPr 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。</a:t>
            </a:r>
            <a:endParaRPr lang="zh-CN" sz="1800" b="1" dirty="0">
              <a:solidFill>
                <a:srgbClr val="C00000"/>
              </a:solidFill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pic>
        <p:nvPicPr>
          <p:cNvPr id="7" name="Picture 108" descr="C:\Users\Administrator\Desktop\2\30.png3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50658" y="2459990"/>
            <a:ext cx="1744980" cy="2042160"/>
          </a:xfrm>
          <a:prstGeom prst="rect">
            <a:avLst/>
          </a:prstGeom>
        </p:spPr>
      </p:pic>
      <p:pic>
        <p:nvPicPr>
          <p:cNvPr id="9" name="Picture 149" descr="C:\Users\Administrator\Desktop\2\32.png3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554720" y="2656523"/>
            <a:ext cx="2858135" cy="1673860"/>
          </a:xfrm>
          <a:prstGeom prst="rect">
            <a:avLst/>
          </a:prstGeom>
        </p:spPr>
      </p:pic>
      <p:pic>
        <p:nvPicPr>
          <p:cNvPr id="13" name="Picture 103" descr="C:\Users\Administrator\Desktop\2\31.png3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304790" y="2459990"/>
            <a:ext cx="1696720" cy="2042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791845" y="955040"/>
            <a:ext cx="3279775" cy="445770"/>
          </a:xfrm>
          <a:prstGeom prst="rect">
            <a:avLst/>
          </a:prstGeom>
          <a:solidFill>
            <a:srgbClr val="3F95D2"/>
          </a:solidFill>
          <a:ln>
            <a:noFill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742950" indent="-28575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2pPr>
            <a:lvl3pPr marL="11430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3pPr>
            <a:lvl4pPr marL="16002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4pPr>
            <a:lvl5pPr marL="20574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9pPr>
          </a:lstStyle>
          <a:p>
            <a:r>
              <a:rPr lang="en-US" sz="2200" dirty="0">
                <a:solidFill>
                  <a:schemeClr val="bg1"/>
                </a:solidFill>
                <a:sym typeface="+mn-ea"/>
              </a:rPr>
              <a:t>10</a:t>
            </a:r>
            <a:r>
              <a:rPr sz="2200" dirty="0">
                <a:solidFill>
                  <a:schemeClr val="bg1"/>
                </a:solidFill>
                <a:sym typeface="+mn-ea"/>
              </a:rPr>
              <a:t>. </a:t>
            </a:r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油品质量控制</a:t>
            </a:r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类问题</a:t>
            </a:r>
            <a:endParaRPr lang="zh-CN" altLang="en-US" sz="2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33784" y="308372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二、检查发现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视频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重点问题</a:t>
            </a:r>
            <a:endParaRPr lang="zh-CN" altLang="en-US" sz="2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6700" y="1557655"/>
            <a:ext cx="11741785" cy="759460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542925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本月油品质量控制类问题共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15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项，其中浦东片区存在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项、占比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20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%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，浦东、南汇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、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宝静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、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奉贤片区各存在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项、占比</a:t>
            </a:r>
            <a:r>
              <a:rPr lang="en-US" altLang="zh-CN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13%</a:t>
            </a:r>
            <a:r>
              <a:rPr lang="zh-CN" altLang="en-US" sz="2000" b="1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。问题主要集中于质量验收动作不规范。</a:t>
            </a:r>
            <a:endParaRPr lang="zh-CN" altLang="en-US" sz="20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marL="0" indent="542925" fontAlgn="auto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2000" b="1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866775" y="4599623"/>
            <a:ext cx="31178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安达加油站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接卸人员未按照质量验收操作规程实施“一看、二闻、三摇”。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4686300" y="4599623"/>
            <a:ext cx="30486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+mn-ea"/>
              </a:rPr>
              <a:t>勇盛加油站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+mn-ea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+mn-ea"/>
              </a:rPr>
              <a:t>接卸人员未按照质量验收操作规程实施“一看、二闻、三摇”。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8436610" y="4738053"/>
            <a:ext cx="34207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+mn-ea"/>
              </a:rPr>
              <a:t>崇明第二加油站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+mn-ea"/>
            </a:endParaRPr>
          </a:p>
          <a:p>
            <a:pPr algn="ctr"/>
            <a:r>
              <a:rPr dirty="0">
                <a:latin typeface="方正黑体简体" panose="02000000000000000000" pitchFamily="2" charset="-122"/>
                <a:ea typeface="方正黑体简体" panose="02000000000000000000" pitchFamily="2" charset="-122"/>
                <a:cs typeface="方正黑体简体" panose="02000000000000000000" pitchFamily="2" charset="-122"/>
                <a:sym typeface="+mn-ea"/>
              </a:rPr>
              <a:t>接卸人员未按照质量验收操作规程实施“一看、二闻、三摇”。</a:t>
            </a:r>
            <a:endParaRPr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  <a:sym typeface="+mn-ea"/>
            </a:endParaRPr>
          </a:p>
        </p:txBody>
      </p:sp>
      <p:sp>
        <p:nvSpPr>
          <p:cNvPr id="4" name="内容占位符 4"/>
          <p:cNvSpPr>
            <a:spLocks noGrp="1"/>
          </p:cNvSpPr>
          <p:nvPr/>
        </p:nvSpPr>
        <p:spPr>
          <a:xfrm>
            <a:off x="675005" y="5777865"/>
            <a:ext cx="11222990" cy="885825"/>
          </a:xfrm>
          <a:prstGeom prst="rect">
            <a:avLst/>
          </a:prstGeom>
          <a:ln w="19050">
            <a:solidFill>
              <a:srgbClr val="C00000"/>
            </a:solidFill>
            <a:prstDash val="lgDash"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规范要求：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1. 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卸油员采取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“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一看二闻三摇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”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方法对油品颜色、气味和水杂进行表观质量验收</a:t>
            </a:r>
            <a:r>
              <a:rPr 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；</a:t>
            </a:r>
            <a:r>
              <a:rPr lang="en-US" altLang="zh-CN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2. </a:t>
            </a:r>
            <a:r>
              <a:rPr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验收人员进行密度比对，密度差超过±1.2kg/m</a:t>
            </a:r>
            <a:r>
              <a:rPr sz="1800" b="1" baseline="30000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</a:t>
            </a:r>
            <a:r>
              <a:rPr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上报并按流程和规定处理</a:t>
            </a:r>
            <a:r>
              <a:rPr lang="zh-CN" altLang="en-US" sz="1800" b="1" dirty="0">
                <a:solidFill>
                  <a:srgbClr val="C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。</a:t>
            </a:r>
            <a:endParaRPr lang="zh-CN" altLang="en-US" sz="1800" b="1" dirty="0">
              <a:solidFill>
                <a:srgbClr val="C00000"/>
              </a:solidFill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pic>
        <p:nvPicPr>
          <p:cNvPr id="33" name="Picture 32" descr="C:\Users\Administrator\Desktop\2\33.png3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80745" y="2525713"/>
            <a:ext cx="3099435" cy="1766570"/>
          </a:xfrm>
          <a:prstGeom prst="rect">
            <a:avLst/>
          </a:prstGeom>
        </p:spPr>
      </p:pic>
      <p:pic>
        <p:nvPicPr>
          <p:cNvPr id="66" name="Picture 65" descr="C:\Users\Administrator\Desktop\2\35.png3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569960" y="2492375"/>
            <a:ext cx="2977515" cy="1863090"/>
          </a:xfrm>
          <a:prstGeom prst="rect">
            <a:avLst/>
          </a:prstGeom>
        </p:spPr>
      </p:pic>
      <p:pic>
        <p:nvPicPr>
          <p:cNvPr id="100" name="Picture 99" descr="C:\Users\Administrator\Desktop\2\34.png3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725035" y="2488883"/>
            <a:ext cx="3100070" cy="1896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46"/>
          <p:cNvSpPr/>
          <p:nvPr>
            <p:custDataLst>
              <p:tags r:id="rId1"/>
            </p:custDataLst>
          </p:nvPr>
        </p:nvSpPr>
        <p:spPr>
          <a:xfrm>
            <a:off x="3588385" y="164673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一、总体情况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6" name="圆角矩形 46"/>
          <p:cNvSpPr/>
          <p:nvPr>
            <p:custDataLst>
              <p:tags r:id="rId2"/>
            </p:custDataLst>
          </p:nvPr>
        </p:nvSpPr>
        <p:spPr>
          <a:xfrm>
            <a:off x="3588385" y="290276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二、检查发现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7" name="圆角矩形 46"/>
          <p:cNvSpPr/>
          <p:nvPr>
            <p:custDataLst>
              <p:tags r:id="rId3"/>
            </p:custDataLst>
          </p:nvPr>
        </p:nvSpPr>
        <p:spPr>
          <a:xfrm>
            <a:off x="3588385" y="4158615"/>
            <a:ext cx="4489450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三、问题分析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5" name="圆角矩形 46"/>
          <p:cNvSpPr/>
          <p:nvPr/>
        </p:nvSpPr>
        <p:spPr>
          <a:xfrm>
            <a:off x="3588384" y="541482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/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四、工作建议</a:t>
            </a:r>
            <a:endParaRPr lang="zh-CN" altLang="en-US" sz="3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2" name="圆角矩形 46"/>
          <p:cNvSpPr/>
          <p:nvPr/>
        </p:nvSpPr>
        <p:spPr>
          <a:xfrm>
            <a:off x="7505700" y="4994275"/>
            <a:ext cx="1535430" cy="6140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algn="l" fontAlgn="auto">
              <a:buClrTx/>
              <a:buSzTx/>
              <a:buFontTx/>
            </a:pP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问题建议</a:t>
            </a:r>
            <a:endParaRPr lang="zh-CN" altLang="en-US" sz="2000" dirty="0"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3" name="圆角矩形 46"/>
          <p:cNvSpPr/>
          <p:nvPr/>
        </p:nvSpPr>
        <p:spPr>
          <a:xfrm>
            <a:off x="7505700" y="5803265"/>
            <a:ext cx="1535430" cy="6140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algn="l" fontAlgn="auto">
              <a:buClrTx/>
              <a:buSzTx/>
              <a:buFontTx/>
            </a:pPr>
            <a:r>
              <a:rPr lang="zh-CN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整改情况</a:t>
            </a:r>
            <a:endParaRPr lang="zh-CN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9" name="左大括号 8"/>
          <p:cNvSpPr/>
          <p:nvPr>
            <p:custDataLst>
              <p:tags r:id="rId4"/>
            </p:custDataLst>
          </p:nvPr>
        </p:nvSpPr>
        <p:spPr>
          <a:xfrm>
            <a:off x="6885940" y="5071745"/>
            <a:ext cx="419735" cy="1254125"/>
          </a:xfrm>
          <a:prstGeom prst="leftBrace">
            <a:avLst>
              <a:gd name="adj1" fmla="val 8333"/>
              <a:gd name="adj2" fmla="val 50025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08041"/>
            <a:ext cx="12192000" cy="71437"/>
          </a:xfrm>
          <a:prstGeom prst="roundRect">
            <a:avLst>
              <a:gd name="adj" fmla="val 0"/>
            </a:avLst>
          </a:prstGeom>
          <a:solidFill>
            <a:srgbClr val="3F95D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37481" y="187325"/>
            <a:ext cx="596432" cy="5143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82324" y="356380"/>
            <a:ext cx="8256917" cy="4900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四、工作建议-</a:t>
            </a:r>
            <a:r>
              <a:rPr lang="en-US" sz="2000" b="1" i="0" u="none" strike="noStrike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重点问题建议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98805" y="1051560"/>
            <a:ext cx="10918190" cy="51606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>
            <a:lvl1pPr marL="431800" indent="-203200"/>
            <a:lvl2pPr marL="889000" indent="-203200"/>
            <a:lvl3pPr marL="1346200" indent="-2032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431800" indent="-203200" algn="l">
              <a:lnSpc>
                <a:spcPct val="150000"/>
              </a:lnSpc>
              <a:buClr>
                <a:srgbClr val="FF0000"/>
              </a:buClr>
              <a:buFont typeface="Wingdings" panose="05000000000000000000"/>
              <a:buChar char="p"/>
              <a:defRPr/>
            </a:pPr>
            <a:r>
              <a:rPr lang="en-US" sz="16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一、强化设备设施管理，治理高频问题</a:t>
            </a:r>
            <a:endParaRPr lang="en-US" sz="1100"/>
          </a:p>
          <a:p>
            <a:pPr marL="252095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（1）建立</a:t>
            </a:r>
            <a:r>
              <a:rPr lang="en-US" sz="1600" b="0" i="0" u="none" strike="noStrik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“一机一档”</a:t>
            </a:r>
            <a:r>
              <a:rPr lang="en-US" sz="1600" b="0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管理台账，明确维护周期、责任人与检查标准；</a:t>
            </a:r>
            <a:endParaRPr lang="en-US" sz="1600" b="0" i="0" u="none" strike="noStrike">
              <a:solidFill>
                <a:srgbClr val="262626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  <a:p>
            <a:pPr marL="252095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（2）开展月度专项排查，聚焦静电接地、防爆封堵、在线监测等易发点；</a:t>
            </a:r>
            <a:endParaRPr lang="en-US" sz="1600" b="0" i="0" u="none" strike="noStrike">
              <a:solidFill>
                <a:srgbClr val="262626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  <a:p>
            <a:pPr marL="252095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（3）规范检维修作业管理，</a:t>
            </a:r>
            <a:r>
              <a:rPr lang="en-US" sz="1600" b="1" i="0" u="none" strike="noStrik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落实警示隔离、消防器材临战与防护佩戴</a:t>
            </a:r>
            <a:r>
              <a:rPr lang="en-US" sz="1600" b="0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。</a:t>
            </a:r>
            <a:r>
              <a:rPr lang="zh-CN" altLang="en-US" sz="1600" b="0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（该问题属于反复出现的易整改问题，建议加</a:t>
            </a:r>
            <a:r>
              <a:rPr lang="en-US" altLang="zh-CN" sz="1600" b="0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     </a:t>
            </a:r>
            <a:r>
              <a:rPr lang="zh-CN" altLang="en-US" sz="1600" b="0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强培训与</a:t>
            </a:r>
            <a:r>
              <a:rPr lang="zh-CN" altLang="en-US" sz="1600" b="0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告知）</a:t>
            </a:r>
            <a:endParaRPr lang="en-US" sz="1600" b="0" i="0" u="none" strike="noStrike">
              <a:solidFill>
                <a:srgbClr val="262626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  <a:p>
            <a:pPr marL="431800" indent="-203200" algn="l">
              <a:lnSpc>
                <a:spcPct val="150000"/>
              </a:lnSpc>
              <a:buClr>
                <a:srgbClr val="FF0000"/>
              </a:buClr>
              <a:buFont typeface="Wingdings" panose="05000000000000000000"/>
              <a:buChar char="p"/>
            </a:pPr>
            <a:r>
              <a:rPr lang="en-US" sz="16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二、严控卸油及现场作业，遏制习惯性违章</a:t>
            </a:r>
            <a:endParaRPr lang="en-US" sz="1600" b="1" i="0" u="none" strike="noStrike">
              <a:solidFill>
                <a:srgbClr val="262626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  <a:p>
            <a:pPr marL="252095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（1）强化卸油关键步骤管控，落实静电接地、管线连接顺序、消防器材到位；</a:t>
            </a:r>
            <a:endParaRPr lang="en-US" sz="1600" b="0" i="0" u="none" strike="noStrike">
              <a:solidFill>
                <a:srgbClr val="262626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  <a:p>
            <a:pPr marL="252095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（2）将管线接反、灭火毯未临战等典型违章纳入班组晨会警示教育；</a:t>
            </a:r>
            <a:endParaRPr lang="en-US" sz="1600" b="0" i="0" u="none" strike="noStrike">
              <a:solidFill>
                <a:srgbClr val="262626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  <a:p>
            <a:pPr marL="252095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（3）及时制止顾客接打电话等危险行为，规范打桶作业安全防护。</a:t>
            </a:r>
            <a:endParaRPr lang="en-US" sz="1600" b="0" i="0" u="none" strike="noStrike">
              <a:solidFill>
                <a:srgbClr val="262626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  <a:p>
            <a:pPr marL="431800" indent="-203200" algn="l">
              <a:lnSpc>
                <a:spcPct val="150000"/>
              </a:lnSpc>
              <a:buClr>
                <a:srgbClr val="FF0000"/>
              </a:buClr>
              <a:buFont typeface="Wingdings" panose="05000000000000000000"/>
              <a:buChar char="p"/>
            </a:pPr>
            <a:r>
              <a:rPr lang="en-US" sz="16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三、规范污染防治与油品质量控制</a:t>
            </a:r>
            <a:endParaRPr lang="en-US" sz="1600" b="1" i="0" u="none" strike="noStrike">
              <a:solidFill>
                <a:srgbClr val="262626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  <a:p>
            <a:pPr marL="252095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（1）完善环保设施运行台账，确保油气回收、在线监测设施稳定运行；</a:t>
            </a:r>
            <a:endParaRPr lang="en-US" sz="1600" b="0" i="0" u="none" strike="noStrike">
              <a:solidFill>
                <a:srgbClr val="262626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  <a:p>
            <a:pPr marL="252095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（2）严格执行卸油“一看二闻三摇”验收，规范密度比对与取样确认。</a:t>
            </a:r>
            <a:endParaRPr lang="en-US" sz="1600" b="0" i="0" u="none" strike="noStrike">
              <a:solidFill>
                <a:srgbClr val="262626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  <a:p>
            <a:pPr marL="431800" indent="-203200" algn="l">
              <a:lnSpc>
                <a:spcPct val="150000"/>
              </a:lnSpc>
              <a:buClr>
                <a:srgbClr val="FF0000"/>
              </a:buClr>
              <a:buFont typeface="Wingdings" panose="05000000000000000000"/>
              <a:buChar char="p"/>
            </a:pPr>
            <a:r>
              <a:rPr lang="en-US" sz="1600" b="1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四、夯实培训与风险合规管理</a:t>
            </a:r>
            <a:endParaRPr lang="en-US" sz="1600" b="1" i="0" u="none" strike="noStrike">
              <a:solidFill>
                <a:srgbClr val="262626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  <a:p>
            <a:pPr marL="252095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26262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（1）落实三级安全教育与在岗年度再教育，动态更新危害因素清单与隐患台账，确保证照合规有效。</a:t>
            </a:r>
            <a:endParaRPr lang="en-US" sz="1600" b="0" i="0" u="none" strike="noStrike">
              <a:solidFill>
                <a:srgbClr val="262626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46"/>
          <p:cNvSpPr/>
          <p:nvPr>
            <p:custDataLst>
              <p:tags r:id="rId1"/>
            </p:custDataLst>
          </p:nvPr>
        </p:nvSpPr>
        <p:spPr>
          <a:xfrm>
            <a:off x="3588385" y="164673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一、总体情况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6" name="圆角矩形 46"/>
          <p:cNvSpPr/>
          <p:nvPr>
            <p:custDataLst>
              <p:tags r:id="rId2"/>
            </p:custDataLst>
          </p:nvPr>
        </p:nvSpPr>
        <p:spPr>
          <a:xfrm>
            <a:off x="3588385" y="290276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二、检查发现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7" name="圆角矩形 46"/>
          <p:cNvSpPr/>
          <p:nvPr>
            <p:custDataLst>
              <p:tags r:id="rId3"/>
            </p:custDataLst>
          </p:nvPr>
        </p:nvSpPr>
        <p:spPr>
          <a:xfrm>
            <a:off x="3588385" y="4158615"/>
            <a:ext cx="4489450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 algn="l">
              <a:buClrTx/>
              <a:buSzTx/>
              <a:buFontTx/>
            </a:pP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三、问题分析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5" name="圆角矩形 46"/>
          <p:cNvSpPr/>
          <p:nvPr>
            <p:custDataLst>
              <p:tags r:id="rId4"/>
            </p:custDataLst>
          </p:nvPr>
        </p:nvSpPr>
        <p:spPr>
          <a:xfrm>
            <a:off x="3588384" y="5414820"/>
            <a:ext cx="4490085" cy="61404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marL="536575"/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四、工作建议</a:t>
            </a:r>
            <a:endParaRPr lang="zh-CN" altLang="en-US" sz="3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2" name="圆角矩形 46"/>
          <p:cNvSpPr/>
          <p:nvPr>
            <p:custDataLst>
              <p:tags r:id="rId5"/>
            </p:custDataLst>
          </p:nvPr>
        </p:nvSpPr>
        <p:spPr>
          <a:xfrm>
            <a:off x="7505700" y="4994275"/>
            <a:ext cx="1535430" cy="6140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algn="l" fontAlgn="auto">
              <a:buClrTx/>
              <a:buSzTx/>
              <a:buFontTx/>
            </a:pPr>
            <a:r>
              <a:rPr lang="zh-CN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问题建议</a:t>
            </a:r>
            <a:endParaRPr lang="zh-CN" altLang="en-US" sz="2000" dirty="0"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3" name="圆角矩形 46"/>
          <p:cNvSpPr/>
          <p:nvPr>
            <p:custDataLst>
              <p:tags r:id="rId6"/>
            </p:custDataLst>
          </p:nvPr>
        </p:nvSpPr>
        <p:spPr>
          <a:xfrm>
            <a:off x="7505700" y="5803265"/>
            <a:ext cx="1535430" cy="6140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1" rIns="68562" bIns="34281" rtlCol="0" anchor="ctr"/>
          <a:lstStyle/>
          <a:p>
            <a:pPr algn="l" fontAlgn="auto">
              <a:buClrTx/>
              <a:buSzTx/>
              <a:buFontTx/>
            </a:pP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整改建议</a:t>
            </a:r>
            <a:endParaRPr lang="zh-CN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9" name="左大括号 8"/>
          <p:cNvSpPr/>
          <p:nvPr>
            <p:custDataLst>
              <p:tags r:id="rId7"/>
            </p:custDataLst>
          </p:nvPr>
        </p:nvSpPr>
        <p:spPr>
          <a:xfrm>
            <a:off x="6885940" y="5071745"/>
            <a:ext cx="419735" cy="1254125"/>
          </a:xfrm>
          <a:prstGeom prst="leftBrace">
            <a:avLst>
              <a:gd name="adj1" fmla="val 8333"/>
              <a:gd name="adj2" fmla="val 50025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633784" y="308372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四、工作建议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现场问题整改情况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累积至今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）</a:t>
            </a:r>
            <a:b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内容占位符 4"/>
          <p:cNvSpPr>
            <a:spLocks noGrp="1"/>
          </p:cNvSpPr>
          <p:nvPr>
            <p:ph idx="1"/>
          </p:nvPr>
        </p:nvSpPr>
        <p:spPr>
          <a:xfrm>
            <a:off x="592455" y="1111250"/>
            <a:ext cx="10857865" cy="3503930"/>
          </a:xfrm>
          <a:ln>
            <a:noFill/>
          </a:ln>
        </p:spPr>
        <p:txBody>
          <a:bodyPr/>
          <a:lstStyle/>
          <a:p>
            <a:pPr marL="0" indent="542925" fontAlgn="auto">
              <a:lnSpc>
                <a:spcPts val="2800"/>
              </a:lnSpc>
              <a:spcBef>
                <a:spcPts val="0"/>
              </a:spcBef>
              <a:buNone/>
            </a:pP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（一）各管理片区及合资公司</a:t>
            </a:r>
            <a:r>
              <a:rPr lang="zh-CN" altLang="en-US" sz="1600" dirty="0">
                <a:solidFill>
                  <a:srgbClr val="FF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现场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检查问题整改情况（数据截至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9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.28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）</a:t>
            </a:r>
            <a:endParaRPr lang="zh-CN" altLang="en-US" sz="1600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marL="0" indent="542925" fontAlgn="auto">
              <a:lnSpc>
                <a:spcPts val="2800"/>
              </a:lnSpc>
              <a:spcBef>
                <a:spcPts val="0"/>
              </a:spcBef>
              <a:buNone/>
            </a:pP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整改情况如下：浦东片区待签名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10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10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项；闵普徐片区待签名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14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6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项；松金片区待签名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9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24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项；嘉青片区待签名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4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6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项；南汇片区待签名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7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项；宝静片区待签名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10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8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项；奉贤片区待签名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20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23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项；崇明片区待签名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12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4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项；中油奉贤待签名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11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项；中油农工待签名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21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0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项；中油申能待签名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8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项；中油同盛待签名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项；中油浦东待签名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0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12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项。</a:t>
            </a:r>
            <a:endParaRPr lang="zh-CN" altLang="en-US" sz="1600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1356995" y="3296920"/>
          <a:ext cx="9334500" cy="32581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633784" y="308372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四、工作建议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视频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问题整改情况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累积至今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）</a:t>
            </a:r>
            <a:b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</a:br>
            <a:b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</a:br>
            <a:b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内容占位符 4"/>
          <p:cNvSpPr>
            <a:spLocks noGrp="1"/>
          </p:cNvSpPr>
          <p:nvPr>
            <p:ph idx="1"/>
          </p:nvPr>
        </p:nvSpPr>
        <p:spPr>
          <a:xfrm>
            <a:off x="591185" y="1117600"/>
            <a:ext cx="10859135" cy="3503930"/>
          </a:xfrm>
          <a:ln>
            <a:noFill/>
          </a:ln>
        </p:spPr>
        <p:txBody>
          <a:bodyPr/>
          <a:lstStyle/>
          <a:p>
            <a:pPr marL="0" indent="542925" fontAlgn="auto">
              <a:lnSpc>
                <a:spcPts val="2800"/>
              </a:lnSpc>
              <a:spcBef>
                <a:spcPts val="0"/>
              </a:spcBef>
              <a:buNone/>
            </a:pP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（二）各管理片区及合资公司</a:t>
            </a:r>
            <a:r>
              <a:rPr lang="zh-CN" altLang="en-US" sz="1600" dirty="0">
                <a:solidFill>
                  <a:srgbClr val="FF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视频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问题整改情况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（数据截至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9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.28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）</a:t>
            </a:r>
            <a:endParaRPr lang="zh-CN" altLang="en-US" sz="1600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marL="0" indent="542925" fontAlgn="auto">
              <a:lnSpc>
                <a:spcPts val="2800"/>
              </a:lnSpc>
              <a:spcBef>
                <a:spcPts val="0"/>
              </a:spcBef>
              <a:buNone/>
            </a:pP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整改情况如下：浦东片区待签名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58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项；闵普徐片区待签名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41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项；松金片区待签名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48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5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项；嘉青片区待签名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30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项；南汇片区待签名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22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11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项；宝静片区待签名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20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项；奉贤片区待签名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25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11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项；崇明片区待签名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31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12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项；中油奉贤待签名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9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项；中油康桥待签名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6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0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项；中油同盛待签名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4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项、待整改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1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项。</a:t>
            </a:r>
            <a:endParaRPr lang="zh-CN" altLang="en-US" sz="1600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1356995" y="2941320"/>
          <a:ext cx="9334500" cy="3613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3"/>
          <p:cNvSpPr>
            <a:spLocks noGrp="1"/>
          </p:cNvSpPr>
          <p:nvPr>
            <p:ph type="title"/>
          </p:nvPr>
        </p:nvSpPr>
        <p:spPr>
          <a:xfrm>
            <a:off x="582324" y="356380"/>
            <a:ext cx="8256917" cy="490066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四、工作建议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问题整改建议</a:t>
            </a:r>
            <a:b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内容占位符 4"/>
          <p:cNvSpPr>
            <a:spLocks noGrp="1"/>
          </p:cNvSpPr>
          <p:nvPr>
            <p:ph idx="1"/>
          </p:nvPr>
        </p:nvSpPr>
        <p:spPr>
          <a:xfrm>
            <a:off x="598805" y="1051560"/>
            <a:ext cx="10918190" cy="5160645"/>
          </a:xfrm>
          <a:ln>
            <a:noFill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Char char="p"/>
            </a:pP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针对问题整改的建议</a:t>
            </a:r>
            <a:endParaRPr lang="zh-CN" altLang="en-US" sz="16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marL="446405" indent="-194310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Char char="n"/>
            </a:pP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强化督导平台使用，提升问题确认时效</a:t>
            </a:r>
            <a:endParaRPr lang="zh-CN" altLang="en-US" sz="16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marL="252095" indent="0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本月较上月的待确认问题大量增加，反映出各站对系统的使用和重视程度不足。问题下发后，建议各片区及合资公司督促站内管理者及时登录系统确认问题，熟悉平台操作流程，并鼓励将系统使用经验在同事间分享交流，通过相互带动提升整体响应效率，确保问题从源头上得到认领和流转。</a:t>
            </a:r>
            <a:endParaRPr lang="zh-CN" altLang="en-US" sz="1600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marL="446405" indent="-194310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Char char="n"/>
            </a:pP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实行典型问题通报，推动片区自查自改</a:t>
            </a:r>
            <a:endParaRPr lang="zh-CN" altLang="en-US" sz="1600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marL="252095" indent="0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本月发现的典型问题，较上月不同，多偏于现场设备设施类，一方面肯定了站点在以往常出现的反复问题上及时做出整改，另一方面指出了各站点设备设施上的陈年老旧问题，难以根治，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建议定期汇总整理，以正式通知或通报形式下发各片区及合资公司，要求各站对照清单开展自查自改，举一反三，避免同类问题在不同站点反复发生。</a:t>
            </a:r>
            <a:endParaRPr lang="zh-CN" altLang="en-US" sz="1600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  <a:p>
            <a:pPr marL="252095" indent="0" fontAlgn="auto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endParaRPr lang="zh-CN" altLang="en-US" sz="1600" dirty="0">
              <a:latin typeface="方正黑体简体" panose="02000000000000000000" pitchFamily="2" charset="-122"/>
              <a:ea typeface="方正黑体简体" panose="02000000000000000000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Box 2"/>
          <p:cNvSpPr txBox="1"/>
          <p:nvPr/>
        </p:nvSpPr>
        <p:spPr>
          <a:xfrm>
            <a:off x="4441190" y="2701290"/>
            <a:ext cx="3310255" cy="14560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60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黑体简体" panose="02000000000000000000" pitchFamily="2" charset="-122"/>
                <a:ea typeface="方正黑体简体" panose="02000000000000000000" pitchFamily="2" charset="-122"/>
              </a:rPr>
              <a:t>汇报完毕</a:t>
            </a:r>
            <a:endParaRPr lang="zh-CN" altLang="en-US" sz="6600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sz="6600" dirty="0">
              <a:latin typeface="方正黑体简体" panose="02000000000000000000" pitchFamily="2" charset="-122"/>
              <a:ea typeface="方正黑体简体" panose="02000000000000000000" pitchFamily="2" charset="-122"/>
              <a:cs typeface="方正黑体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ISLIDE.ICON" val="#22607;#401566;"/>
</p:tagLst>
</file>

<file path=ppt/tags/tag18.xml><?xml version="1.0" encoding="utf-8"?>
<p:tagLst xmlns:p="http://schemas.openxmlformats.org/presentationml/2006/main">
  <p:tag name="ISLIDE.ICON" val="#22607;#401566;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  <p:tag name="KSO_WM_DIAGRAM_VIRTUALLY_FRAME" val="{&quot;height&quot;:177.85,&quot;left&quot;:282.5499212598425,&quot;top&quot;:327.45,&quot;width&quot;:429.3500787401575}"/>
</p:tagLst>
</file>

<file path=ppt/tags/tag51.xml><?xml version="1.0" encoding="utf-8"?>
<p:tagLst xmlns:p="http://schemas.openxmlformats.org/presentationml/2006/main">
  <p:tag name="KSO_WM_DIAGRAM_VIRTUALLY_FRAME" val="{&quot;height&quot;:177.85,&quot;left&quot;:282.5499212598425,&quot;top&quot;:327.45,&quot;width&quot;:429.3500787401575}"/>
</p:tagLst>
</file>

<file path=ppt/tags/tag52.xml><?xml version="1.0" encoding="utf-8"?>
<p:tagLst xmlns:p="http://schemas.openxmlformats.org/presentationml/2006/main">
  <p:tag name="KSO_WM_DIAGRAM_VIRTUALLY_FRAME" val="{&quot;height&quot;:177.85,&quot;left&quot;:282.5499212598425,&quot;top&quot;:327.45,&quot;width&quot;:429.3500787401575}"/>
</p:tagLst>
</file>

<file path=ppt/tags/tag53.xml><?xml version="1.0" encoding="utf-8"?>
<p:tagLst xmlns:p="http://schemas.openxmlformats.org/presentationml/2006/main">
  <p:tag name="KSO_WM_DIAGRAM_VIRTUALLY_FRAME" val="{&quot;height&quot;:177.85,&quot;left&quot;:282.5499212598425,&quot;top&quot;:327.45,&quot;width&quot;:429.3500787401575}"/>
</p:tagLst>
</file>

<file path=ppt/tags/tag54.xml><?xml version="1.0" encoding="utf-8"?>
<p:tagLst xmlns:p="http://schemas.openxmlformats.org/presentationml/2006/main">
  <p:tag name="KSO_WM_BEAUTIFY_FLAG" val=""/>
  <p:tag name="KSO_WM_DIAGRAM_VIRTUALLY_FRAME" val="{&quot;height&quot;:177.85,&quot;left&quot;:282.5499212598425,&quot;top&quot;:327.45,&quot;width&quot;:429.3500787401575}"/>
</p:tagLst>
</file>

<file path=ppt/tags/tag55.xml><?xml version="1.0" encoding="utf-8"?>
<p:tagLst xmlns:p="http://schemas.openxmlformats.org/presentationml/2006/main">
  <p:tag name="ISLIDE.ICON" val="#22607;#401566;"/>
</p:tagLst>
</file>

<file path=ppt/tags/tag56.xml><?xml version="1.0" encoding="utf-8"?>
<p:tagLst xmlns:p="http://schemas.openxmlformats.org/presentationml/2006/main">
  <p:tag name="COMMONDATA" val="eyJoZGlkIjoiZWQ1ZjdlNWI3NjZiODQ4NDAyMDlkNWRlZDNmMDMwMWYifQ=="/>
</p:tagLst>
</file>

<file path=ppt/theme/theme1.xml><?xml version="1.0" encoding="utf-8"?>
<a:theme xmlns:a="http://schemas.openxmlformats.org/drawingml/2006/main" name="Office 主题​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F80BD"/>
        </a:solidFill>
        <a:ln>
          <a:noFill/>
        </a:ln>
      </a:spPr>
      <a:bodyPr lIns="68562" tIns="34281" rIns="68562" bIns="34281" rtlCol="0" anchor="ctr"/>
      <a:lstStyle>
        <a:defPPr marL="536575">
          <a:defRPr sz="30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5930</Words>
  <Application>WPS 演示</Application>
  <PresentationFormat>宽屏</PresentationFormat>
  <Paragraphs>377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31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Arial</vt:lpstr>
      <vt:lpstr>方正黑体简体</vt:lpstr>
      <vt:lpstr>Times New Roman</vt:lpstr>
      <vt:lpstr>黑体</vt:lpstr>
      <vt:lpstr>Wingdings</vt:lpstr>
      <vt:lpstr>Arial Unicode MS</vt:lpstr>
      <vt:lpstr>等线</vt:lpstr>
      <vt:lpstr>Wingdings</vt:lpstr>
      <vt:lpstr>等线 Light</vt:lpstr>
      <vt:lpstr>Office 主题​​</vt:lpstr>
      <vt:lpstr>1_自定义设计方案</vt:lpstr>
      <vt:lpstr>自定义设计方案</vt:lpstr>
      <vt:lpstr>PowerPoint 演示文稿</vt:lpstr>
      <vt:lpstr>PowerPoint 演示文稿</vt:lpstr>
      <vt:lpstr>一、总体情况 </vt:lpstr>
      <vt:lpstr>一、总体情况 </vt:lpstr>
      <vt:lpstr>PowerPoint 演示文稿</vt:lpstr>
      <vt:lpstr>二、检查发现-典型问题</vt:lpstr>
      <vt:lpstr>PowerPoint 演示文稿</vt:lpstr>
      <vt:lpstr>二、检查发现-发现问题（现场）</vt:lpstr>
      <vt:lpstr>二、检查发现-发现问题（视频）</vt:lpstr>
      <vt:lpstr>PowerPoint 演示文稿</vt:lpstr>
      <vt:lpstr>三、问题分析-现场重点问题 </vt:lpstr>
      <vt:lpstr>三、问题分析-视频重点问题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二、检查发现-现场重点问题</vt:lpstr>
      <vt:lpstr>二、检查发现-现场重点问题</vt:lpstr>
      <vt:lpstr>二、检查发现-视频重点问题</vt:lpstr>
      <vt:lpstr>二、检查发现-视频重点问题</vt:lpstr>
      <vt:lpstr>二、检查发现-视频重点问题</vt:lpstr>
      <vt:lpstr>二、检查发现-视频重点问题</vt:lpstr>
      <vt:lpstr>PowerPoint 演示文稿</vt:lpstr>
      <vt:lpstr>PowerPoint 演示文稿</vt:lpstr>
      <vt:lpstr>PowerPoint 演示文稿</vt:lpstr>
      <vt:lpstr>四、工作建议-现场问题整改情况（累积至今） </vt:lpstr>
      <vt:lpstr>四、工作建议-视频问题整改情况（累积至今）   </vt:lpstr>
      <vt:lpstr>四、工作建议-问题整改建议 </vt:lpstr>
      <vt:lpstr>PowerPoint 演示文稿</vt:lpstr>
    </vt:vector>
  </TitlesOfParts>
  <Company>jkzj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秦柳</dc:creator>
  <cp:lastModifiedBy>adminsh</cp:lastModifiedBy>
  <cp:revision>2856</cp:revision>
  <cp:lastPrinted>2026-10-09T02:00:00Z</cp:lastPrinted>
  <dcterms:created xsi:type="dcterms:W3CDTF">2026-10-09T02:00:00Z</dcterms:created>
  <dcterms:modified xsi:type="dcterms:W3CDTF">2026-10-09T02:22:56Z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2052-11.8.2.12309</vt:lpwstr>
  </property>
  <property fmtid="{D5CDD505-2E9C-101B-9397-08002B2CF9AE}" pid="3" name="ICV">
    <vt:lpwstr>D4769460D3A9429E893481A11AF2E5FA</vt:lpwstr>
  </property>
</Properties>
</file>