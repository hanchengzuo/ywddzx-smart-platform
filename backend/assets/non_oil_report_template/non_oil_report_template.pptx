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4" r:id="rId4"/>
    <p:sldMasterId id="2147483667" r:id="rId5"/>
    <p:sldMasterId id="2147483669" r:id="rId6"/>
    <p:sldMasterId id="2147483671" r:id="rId7"/>
    <p:sldMasterId id="2147483673" r:id="rId8"/>
    <p:sldMasterId id="2147483676" r:id="rId9"/>
  </p:sldMasterIdLst>
  <p:notesMasterIdLst>
    <p:notesMasterId r:id="rId12"/>
  </p:notesMasterIdLst>
  <p:sldIdLst>
    <p:sldId id="256" r:id="rId10"/>
    <p:sldId id="257" r:id="rId11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301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@Iwxy" initials="authorId_349726251" lastIdx="3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2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45.xml"/><Relationship Id="rId54" Type="http://schemas.openxmlformats.org/officeDocument/2006/relationships/slide" Target="slides/slide44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9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0" Type="http://schemas.openxmlformats.org/officeDocument/2006/relationships/slide" Target="slides/slide3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SZJ\Desktop\&#24033;&#26816;&#38382;&#39064;&#21015;&#34920;_20260803_090301_f4378738(&#24050;&#33258;&#21160;&#36824;&#21407;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SZJ\Desktop\&#24033;&#26816;&#38382;&#39064;&#21015;&#34920;_20260803_090301_f4378738(&#24050;&#33258;&#21160;&#36824;&#21407;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SZJ\Desktop\&#24033;&#26816;&#38382;&#39064;&#21015;&#34920;_20260803_090301_f4378738(&#24050;&#33258;&#21160;&#36824;&#21407;)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各片区非油问题数量汇总</a:t>
            </a:r>
            <a:endParaRPr lang="zh-CN" altLang="en-US"/>
          </a:p>
        </c:rich>
      </c:tx>
      <c:layout>
        <c:manualLayout>
          <c:xMode val="edge"/>
          <c:yMode val="edge"/>
          <c:x val="0.432346738060686"/>
          <c:y val="0.015444012313863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Sheet8!$A$2:$B$2</c:f>
              <c:strCache>
                <c:ptCount val="1"/>
                <c:pt idx="0">
                  <c:v>单站平均问题数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Sheet8!$C$2:$N$2</c:f>
              <c:numCache>
                <c:formatCode>General</c:formatCode>
                <c:ptCount val="12"/>
                <c:pt idx="0">
                  <c:v>4</c:v>
                </c:pt>
                <c:pt idx="1">
                  <c:v>6.6</c:v>
                </c:pt>
                <c:pt idx="2">
                  <c:v>3</c:v>
                </c:pt>
                <c:pt idx="3">
                  <c:v>2.5</c:v>
                </c:pt>
                <c:pt idx="4">
                  <c:v>2.7</c:v>
                </c:pt>
                <c:pt idx="5">
                  <c:v>4.1</c:v>
                </c:pt>
                <c:pt idx="6">
                  <c:v>1</c:v>
                </c:pt>
                <c:pt idx="7">
                  <c:v>3</c:v>
                </c:pt>
                <c:pt idx="8">
                  <c:v>2</c:v>
                </c:pt>
                <c:pt idx="9">
                  <c:v>5</c:v>
                </c:pt>
                <c:pt idx="10">
                  <c:v>5</c:v>
                </c:pt>
                <c:pt idx="1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Sheet8!$A$3:$B$3</c:f>
              <c:strCache>
                <c:ptCount val="1"/>
                <c:pt idx="0">
                  <c:v>检查站点数</c:v>
                </c:pt>
              </c:strCache>
            </c:strRef>
          </c:tx>
          <c:spPr>
            <a:solidFill>
              <a:schemeClr val="tx2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Sheet8!$C$3:$N$3</c:f>
              <c:numCache>
                <c:formatCode>General</c:formatCode>
                <c:ptCount val="12"/>
                <c:pt idx="0">
                  <c:v>6</c:v>
                </c:pt>
                <c:pt idx="1">
                  <c:v>7</c:v>
                </c:pt>
                <c:pt idx="2">
                  <c:v>11</c:v>
                </c:pt>
                <c:pt idx="3">
                  <c:v>2</c:v>
                </c:pt>
                <c:pt idx="4">
                  <c:v>6</c:v>
                </c:pt>
                <c:pt idx="5">
                  <c:v>7</c:v>
                </c:pt>
                <c:pt idx="6">
                  <c:v>1</c:v>
                </c:pt>
                <c:pt idx="7">
                  <c:v>8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Sheet8!$A$4:$B$4</c:f>
              <c:strCache>
                <c:ptCount val="1"/>
                <c:pt idx="0">
                  <c:v>问题总数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Sheet8!$C$4:$N$4</c:f>
              <c:numCache>
                <c:formatCode>General</c:formatCode>
                <c:ptCount val="12"/>
                <c:pt idx="0">
                  <c:v>24</c:v>
                </c:pt>
                <c:pt idx="1">
                  <c:v>46</c:v>
                </c:pt>
                <c:pt idx="2">
                  <c:v>33</c:v>
                </c:pt>
                <c:pt idx="3">
                  <c:v>5</c:v>
                </c:pt>
                <c:pt idx="4">
                  <c:v>16</c:v>
                </c:pt>
                <c:pt idx="5">
                  <c:v>29</c:v>
                </c:pt>
                <c:pt idx="6">
                  <c:v>1</c:v>
                </c:pt>
                <c:pt idx="7">
                  <c:v>24</c:v>
                </c:pt>
                <c:pt idx="8">
                  <c:v>2</c:v>
                </c:pt>
                <c:pt idx="9">
                  <c:v>5</c:v>
                </c:pt>
                <c:pt idx="10">
                  <c:v>5</c:v>
                </c:pt>
                <c:pt idx="11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46546112"/>
        <c:axId val="946546464"/>
      </c:barChart>
      <c:catAx>
        <c:axId val="94654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46546464"/>
        <c:crosses val="autoZero"/>
        <c:auto val="1"/>
        <c:lblAlgn val="ctr"/>
        <c:lblOffset val="100"/>
        <c:noMultiLvlLbl val="0"/>
      </c:catAx>
      <c:valAx>
        <c:axId val="946546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4654611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8d43a5f-0797-44c2-87a6-b5ba93d5e3e7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中油奉贤非油问题汇总</a:t>
            </a:r>
            <a:endParaRPr lang="zh-CN" altLang="en-US"/>
          </a:p>
        </c:rich>
      </c:tx>
      <c:layout>
        <c:manualLayout>
          <c:xMode val="edge"/>
          <c:yMode val="edge"/>
          <c:x val="0.394444444444444"/>
          <c:y val="0.027777777777777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'非油检查表（现场）'!$K$249</c:f>
              <c:strCache>
                <c:ptCount val="1"/>
                <c:pt idx="0">
                  <c:v>店销商品摆放情况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'非油检查表（现场）'!$J$250</c:f>
              <c:numCache>
                <c:formatCode>General</c:formatCode>
                <c:ptCount val="1"/>
              </c:numCache>
            </c:numRef>
          </c:cat>
          <c:val>
            <c:numRef>
              <c:f>'非油检查表（现场）'!$K$250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1"/>
          <c:order val="1"/>
          <c:tx>
            <c:strRef>
              <c:f>'非油检查表（现场）'!$L$249</c:f>
              <c:strCache>
                <c:ptCount val="1"/>
                <c:pt idx="0">
                  <c:v>便利店卫生情况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'非油检查表（现场）'!$J$250</c:f>
              <c:numCache>
                <c:formatCode>General</c:formatCode>
                <c:ptCount val="1"/>
              </c:numCache>
            </c:numRef>
          </c:cat>
          <c:val>
            <c:numRef>
              <c:f>'非油检查表（现场）'!$L$250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93480352"/>
        <c:axId val="1893478592"/>
      </c:barChart>
      <c:catAx>
        <c:axId val="189348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93478592"/>
        <c:crosses val="autoZero"/>
        <c:auto val="1"/>
        <c:lblAlgn val="ctr"/>
        <c:lblOffset val="100"/>
        <c:noMultiLvlLbl val="0"/>
      </c:catAx>
      <c:valAx>
        <c:axId val="1893478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9348035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10aba3b-a1a2-43cd-909c-f2dfa2098d38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中油奉贤非油检查整体情况</a:t>
            </a:r>
            <a:endParaRPr lang="zh-CN" altLang="en-US"/>
          </a:p>
        </c:rich>
      </c:tx>
      <c:layout>
        <c:manualLayout>
          <c:xMode val="edge"/>
          <c:yMode val="edge"/>
          <c:x val="0.3"/>
          <c:y val="0.060185185185185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132395231846019"/>
                  <c:y val="-0.00396981627296588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37981299212598"/>
                  <c:y val="-0.00396981627296588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'非油检查表（现场）'!$K$249:$L$249</c:f>
              <c:strCache>
                <c:ptCount val="2"/>
                <c:pt idx="0">
                  <c:v>店销商品摆放情况</c:v>
                </c:pt>
                <c:pt idx="1">
                  <c:v>便利店卫生情况</c:v>
                </c:pt>
              </c:strCache>
            </c:strRef>
          </c:cat>
          <c:val>
            <c:numRef>
              <c:f>'非油检查表（现场）'!$K$250:$L$250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04781096890043"/>
          <c:y val="0.457059638378536"/>
          <c:w val="0.282601279476689"/>
          <c:h val="0.1562510936132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97e526b-7185-4b60-9d94-fafb603bde3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00" b="1" i="0" u="none" strike="noStrike" kern="1200" baseline="0">
                <a:solidFill>
                  <a:sysClr val="windowText" lastClr="000000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Times New Roman" panose="02020503050405090304" charset="0"/>
              </a:defRPr>
            </a:pPr>
            <a:r>
              <a:rPr lang="zh-CN" altLang="en-US" sz="1600"/>
              <a:t>中油同盛非油检查整体状况</a:t>
            </a:r>
            <a:endParaRPr lang="zh-CN" altLang="en-US" sz="1600"/>
          </a:p>
        </c:rich>
      </c:tx>
      <c:layout>
        <c:manualLayout>
          <c:xMode val="edge"/>
          <c:yMode val="edge"/>
          <c:x val="0.217763"/>
          <c:y val="0.017361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</c:f>
              <c:strCache>
                <c:ptCount val="1"/>
                <c:pt idx="0">
                  <c:v>新港加油站</c:v>
                </c:pt>
              </c:strCache>
            </c:strRef>
          </c:tx>
          <c:spPr>
            <a:ln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0.0019732"/>
                  <c:y val="-0.36388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ysClr val="windowText" lastClr="000000"/>
                    </a:solidFill>
                    <a:latin typeface="Times New Roman" panose="02020503050405090304" charset="0"/>
                    <a:ea typeface="Times New Roman" panose="02020503050405090304" charset="0"/>
                    <a:cs typeface="Times New Roman" panose="02020503050405090304" charset="0"/>
                    <a:sym typeface="Times New Roman" panose="02020503050405090304" charset="0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</c:f>
              <c:strCache>
                <c:ptCount val="1"/>
                <c:pt idx="0">
                  <c:v>团购业务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4079"/>
          <c:y val="0.442014"/>
          <c:w val="0.439888"/>
          <c:h val="0.46174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2000" b="0" i="0" u="none" strike="noStrike" kern="1200" baseline="0">
              <a:solidFill>
                <a:sysClr val="windowText" lastClr="000000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Times New Roman" panose="0202050305040509030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2b55019-c3d3-4c15-92da-209b66c27896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2000">
          <a:solidFill>
            <a:sysClr val="windowText" lastClr="000000"/>
          </a:solidFill>
          <a:latin typeface="Times New Roman" panose="02020503050405090304" charset="0"/>
          <a:ea typeface="Times New Roman" panose="02020503050405090304" charset="0"/>
          <a:cs typeface="Times New Roman" panose="02020503050405090304" charset="0"/>
          <a:sym typeface="Times New Roman" panose="02020503050405090304" charset="0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24.558" idx="1">
    <p:pos x="2220" y="191"/>
    <p:text>删掉名字，更改报告月份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30.374" idx="2">
    <p:pos x="10" y="10"/>
    <p:text>固定不变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35.009" idx="3">
    <p:pos x="10" y="10"/>
    <p:text>固定不变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3:40.857" idx="5">
    <p:pos x="10" y="10"/>
    <p:text>更改月份、发现问题数量、待验收问题数量、待整改问题数量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01.314" idx="6">
    <p:pos x="10" y="10"/>
    <p:text>“巡检期间”增加一个通过日期去调整这个报告的数据范围，自定义调整</p:text>
  </p:cm>
  <p:cm authorId="1" dt="2026-08-20T15:54:18.944" idx="7">
    <p:pos x="166" y="166"/>
    <p:text>管理片区有顺序要求：浦东、闵普徐、松金、嘉青、南汇、宝静、奉贤、崇明
合资公司顺序：中油奉贤、中油同盛、中油康桥、中油农工商、中油上海、中油港汇、中石油上港、中油浦东、中油华鑫、中油中燃（海滨油库）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28.500" idx="8">
    <p:pos x="10" y="10"/>
    <p:text>要细致到每个加油站有几个问题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33.433" idx="9">
    <p:pos x="10" y="10"/>
    <p:text>人工自己做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40.271" idx="10">
    <p:pos x="10" y="10"/>
    <p:text>固定不变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6:04.389" idx="12">
    <p:pos x="10" y="10"/>
    <p:text>《非油检查问题分布》：九个大类，在现在的基础上加一个团购业务。
“其他”那一项加一个面板，让AI重新分类到九大类里</p:text>
  </p:cm>
  <p:cm authorId="1" dt="2026-08-20T15:59:21.503" idx="13">
    <p:pos x="166" y="166"/>
    <p:text>特殊扣分项是“销售过期商品、商品无标签、不按价格文件执行价格一次扣100；商品抽盘准确率不封顶。”</p:text>
  </p:cm>
  <p:cm authorId="1" dt="2026-08-20T16:02:32.153" idx="18">
    <p:pos x="322" y="322"/>
    <p:text>具体问题详见附件：《改月份》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0:05.513" idx="14">
    <p:pos x="10" y="10"/>
    <p:text>根据实际数据变化。
问题总计：除数据以外，AI生成一个饼状图描述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0:28.025" idx="15">
    <p:pos x="534" y="768"/>
    <p:text>1. 检查总体情况：根据实际数据变化</p:text>
  </p:cm>
  <p:cm authorId="1" dt="2026-08-20T16:00:36.903" idx="16">
    <p:pos x="534" y="2032"/>
    <p:text>2. 分析方法【固定不变】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1:30.032" idx="17">
    <p:pos x="10" y="10"/>
    <p:text>文字不变，图变</p:text>
  </p:cm>
  <p:cm authorId="1" dt="2026-08-20T16:10:06.343" idx="27">
    <p:pos x="166" y="166"/>
    <p:text>重点问题分析这部分的类型顺序是固定的：
重点商品——月度盘点——商品过期——团购问题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3:39.094" idx="19">
    <p:pos x="4394" y="1986"/>
    <p:text>1、对四个重点问题类型进行数据分析，取占比最高的两个环节进行数据描述。
</p:text>
  </p:cm>
  <p:cm authorId="1" dt="2026-08-20T16:06:30.764" idx="20">
    <p:pos x="4550" y="2142"/>
    <p:text>问题大类重命名：
1. 员工形象及开口服务情况——员工服务
2. 便利店卫生情况——便利店卫生
3. 店销商品摆放情况——商品摆放
4. 仓库管理情况——仓库管理
5. 销售行为
6. 商品订单、入库、盘点等情况——商品盘点
7. 台账、报表情况——台账报表
8. 特殊扣分项
【如果当月数据不涉及上面其中一个大类，该类不要在表格里展示】</p:tex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7:17.484" idx="21">
    <p:pos x="1150" y="1460"/>
    <p:text>1、主要发生于。。。。（取占比超20%的问题类别）
2、做面板：对重点商品分类（品名）、对高频词分类（盘亏、未过机。。。）</p:tex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8:15.933" idx="22">
    <p:pos x="10" y="10"/>
    <p:text>1、检查项目和24页重命名后一样的分类</p:text>
  </p:cm>
  <p:cm authorId="1" dt="2026-08-20T16:08:21.884" idx="23">
    <p:pos x="166" y="166"/>
    <p:text>2、酒标红色、烟标蓝色</p:text>
  </p:cm>
  <p:cm authorId="1" dt="2026-08-20T16:08:36.598" idx="24">
    <p:pos x="322" y="322"/>
    <p:text>3、改标题：删掉标题“盘亏/盘盈”改成“重点商品问题详情”</p:tex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8:48.150" idx="25">
    <p:pos x="10" y="10"/>
    <p:text>改标题：删掉标题“盘亏/盘盈”改成“重点商品问题详情”</p:text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9:10.319" idx="26">
    <p:pos x="10" y="10"/>
    <p:text>1、典型问题：对问题详情进行一个短语总结</p:text>
  </p:cm>
  <p:cm authorId="1" dt="2026-08-20T16:31:09.016" idx="28">
    <p:pos x="166" y="166"/>
    <p:text>2、不管问题数量多少，表格要展示所有问题</p:text>
  </p:cm>
  <p:cm authorId="1" dt="2026-08-20T16:31:30.043" idx="29">
    <p:pos x="322" y="322"/>
    <p:text>3、如果问题数量超过5个，图片展示可以只展示4张</p:text>
  </p:cm>
</p:cmLst>
</file>

<file path=ppt/comments/comment1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31:49.402" idx="30">
    <p:pos x="10" y="10"/>
    <p:text>如果问题数量超过5个，增加表格进行展示</p:text>
  </p:cm>
  <p:cm authorId="1" dt="2026-08-20T16:32:00.053" idx="31">
    <p:pos x="166" y="166"/>
    <p:text>图片仅展示4个</p:text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7:47.224" idx="4">
    <p:pos x="10" y="10"/>
    <p:text>描述不变，换图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2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6D80A-9C4E-4C5F-A6C1-7C5B99C315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70B64-13AB-4EBF-8B26-BEA85DC1AE9F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70B64-13AB-4EBF-8B26-BEA85DC1AE9F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8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11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A8D434-E74C-4482-84D3-C0E5A9D4DCFD}" type="datetimeFigureOut">
              <a:rPr lang="zh-CN" altLang="en-US"/>
            </a:fld>
            <a:endParaRPr lang="zh-CN"/>
          </a:p>
        </p:txBody>
      </p:sp>
      <p:sp>
        <p:nvSpPr>
          <p:cNvPr id="8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8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879ADDD-CDD3-4C91-810A-63C4460F976F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2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21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33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9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9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9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0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D434-E74C-4482-84D3-C0E5A9D4DCFD}" type="datetimeFigureOut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9ADDD-CDD3-4C91-810A-63C4460F976F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 Light" panose="02010600030101010101" charset="-122"/>
          <a:ea typeface="等线 Light" panose="02010600030101010101" charset="-122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457200" lvl="1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914400" lvl="2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371600" lvl="3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1828800" lvl="4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286000" lvl="5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743200" lvl="6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200400" lvl="7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657600" lvl="8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9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chart" Target="../charts/chart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1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3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4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5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6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7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8.xml"/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9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jpeg"/><Relationship Id="rId8" Type="http://schemas.openxmlformats.org/officeDocument/2006/relationships/image" Target="../media/image50.jpeg"/><Relationship Id="rId7" Type="http://schemas.openxmlformats.org/officeDocument/2006/relationships/image" Target="../media/image49.jpeg"/><Relationship Id="rId6" Type="http://schemas.openxmlformats.org/officeDocument/2006/relationships/image" Target="../media/image48.png"/><Relationship Id="rId5" Type="http://schemas.openxmlformats.org/officeDocument/2006/relationships/image" Target="../media/image47.jpeg"/><Relationship Id="rId4" Type="http://schemas.openxmlformats.org/officeDocument/2006/relationships/image" Target="../media/image46.jpeg"/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0" Type="http://schemas.openxmlformats.org/officeDocument/2006/relationships/slideLayout" Target="../slideLayouts/slideLayout19.xml"/><Relationship Id="rId1" Type="http://schemas.openxmlformats.org/officeDocument/2006/relationships/image" Target="../media/image43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58.jpeg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image" Target="../media/image52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60.jpeg"/><Relationship Id="rId1" Type="http://schemas.openxmlformats.org/officeDocument/2006/relationships/image" Target="../media/image59.jpe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64.jpeg"/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image" Target="../media/image61.jpe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68.jpeg"/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image" Target="../media/image65.jpe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image" Target="../media/image6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72.jpeg"/><Relationship Id="rId1" Type="http://schemas.openxmlformats.org/officeDocument/2006/relationships/image" Target="../media/image7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80.svg"/><Relationship Id="rId7" Type="http://schemas.openxmlformats.org/officeDocument/2006/relationships/image" Target="../media/image79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3" Type="http://schemas.openxmlformats.org/officeDocument/2006/relationships/slideLayout" Target="../slideLayouts/slideLayout20.xml"/><Relationship Id="rId12" Type="http://schemas.openxmlformats.org/officeDocument/2006/relationships/image" Target="../media/image84.svg"/><Relationship Id="rId11" Type="http://schemas.openxmlformats.org/officeDocument/2006/relationships/image" Target="../media/image83.png"/><Relationship Id="rId10" Type="http://schemas.openxmlformats.org/officeDocument/2006/relationships/image" Target="../media/image82.svg"/><Relationship Id="rId1" Type="http://schemas.openxmlformats.org/officeDocument/2006/relationships/image" Target="../media/image7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5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Box 11"/>
          <p:cNvSpPr txBox="1"/>
          <p:nvPr/>
        </p:nvSpPr>
        <p:spPr>
          <a:xfrm>
            <a:off x="2387891" y="3685690"/>
            <a:ext cx="7181850" cy="51435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王昕怡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宋辞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徐佳仪</a:t>
            </a:r>
            <a:endParaRPr lang="zh-CN" sz="20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文本框 15"/>
          <p:cNvSpPr txBox="1"/>
          <p:nvPr/>
        </p:nvSpPr>
        <p:spPr>
          <a:xfrm>
            <a:off x="1257591" y="1174750"/>
            <a:ext cx="9442450" cy="225425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sz="5400">
                <a:ln w="12700">
                  <a:noFill/>
                  <a:prstDash val="solid"/>
                </a:ln>
                <a:solidFill>
                  <a:schemeClr val="tx2">
                    <a:alpha val="100000"/>
                  </a:schemeClr>
                </a:solidFill>
                <a:latin typeface="方正正中黑简体"/>
                <a:ea typeface="方正正中黑简体"/>
              </a:rPr>
              <a:t>盛大业务督导中心</a:t>
            </a:r>
            <a:endParaRPr lang="en-US" sz="5400">
              <a:ln w="12700">
                <a:noFill/>
                <a:prstDash val="solid"/>
              </a:ln>
              <a:solidFill>
                <a:schemeClr val="tx2">
                  <a:alpha val="100000"/>
                </a:schemeClr>
              </a:solidFill>
              <a:latin typeface="方正正中黑简体"/>
              <a:ea typeface="方正正中黑简体"/>
            </a:endParaRPr>
          </a:p>
          <a:p>
            <a:pPr algn="ctr"/>
            <a:r>
              <a:rPr lang="zh-CN" sz="5400">
                <a:ln w="12700">
                  <a:noFill/>
                  <a:prstDash val="solid"/>
                </a:ln>
                <a:solidFill>
                  <a:schemeClr val="tx2">
                    <a:alpha val="100000"/>
                  </a:schemeClr>
                </a:solidFill>
                <a:latin typeface="方正正中黑简体"/>
                <a:ea typeface="方正正中黑简体"/>
              </a:rPr>
              <a:t>非油业务</a:t>
            </a:r>
            <a:r>
              <a:rPr lang="en-US" sz="5400">
                <a:ln w="12700">
                  <a:noFill/>
                  <a:prstDash val="solid"/>
                </a:ln>
                <a:solidFill>
                  <a:schemeClr val="tx2">
                    <a:alpha val="100000"/>
                  </a:schemeClr>
                </a:solidFill>
                <a:latin typeface="方正正中黑简体"/>
                <a:ea typeface="方正正中黑简体"/>
              </a:rPr>
              <a:t>7</a:t>
            </a:r>
            <a:r>
              <a:rPr lang="zh-CN" sz="5400">
                <a:ln w="12700">
                  <a:noFill/>
                  <a:prstDash val="solid"/>
                </a:ln>
                <a:solidFill>
                  <a:schemeClr val="tx2">
                    <a:alpha val="100000"/>
                  </a:schemeClr>
                </a:solidFill>
                <a:latin typeface="方正正中黑简体"/>
                <a:ea typeface="方正正中黑简体"/>
              </a:rPr>
              <a:t>月巡检报告</a:t>
            </a:r>
            <a:endParaRPr lang="zh-CN" sz="5400">
              <a:ln w="12700">
                <a:noFill/>
                <a:prstDash val="solid"/>
              </a:ln>
              <a:solidFill>
                <a:schemeClr val="tx2">
                  <a:alpha val="100000"/>
                </a:schemeClr>
              </a:solidFill>
              <a:latin typeface="方正正中黑简体"/>
              <a:ea typeface="方正正中黑简体"/>
            </a:endParaRPr>
          </a:p>
        </p:txBody>
      </p:sp>
      <p:pic>
        <p:nvPicPr>
          <p:cNvPr id="430" name="图片 14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275089" y="184768"/>
            <a:ext cx="2396625" cy="622056"/>
          </a:xfrm>
          <a:prstGeom prst="rect">
            <a:avLst/>
          </a:prstGeom>
        </p:spPr>
      </p:pic>
      <p:pic>
        <p:nvPicPr>
          <p:cNvPr id="431" name="图片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H="1">
            <a:off x="-19106" y="4777496"/>
            <a:ext cx="12301928" cy="2106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文本框 128"/>
          <p:cNvSpPr txBox="1"/>
          <p:nvPr/>
        </p:nvSpPr>
        <p:spPr>
          <a:xfrm>
            <a:off x="6654268" y="1376989"/>
            <a:ext cx="3845378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总体情况概述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文本框 131"/>
          <p:cNvSpPr txBox="1"/>
          <p:nvPr/>
        </p:nvSpPr>
        <p:spPr>
          <a:xfrm>
            <a:off x="6654268" y="2381939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片区问题汇总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5" name="文本框 134"/>
          <p:cNvSpPr txBox="1"/>
          <p:nvPr/>
        </p:nvSpPr>
        <p:spPr>
          <a:xfrm>
            <a:off x="6654268" y="3361113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重点问题分析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6" name="文本框 137"/>
          <p:cNvSpPr txBox="1"/>
          <p:nvPr/>
        </p:nvSpPr>
        <p:spPr>
          <a:xfrm>
            <a:off x="6654268" y="4366061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具体问题分析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140"/>
          <p:cNvSpPr txBox="1"/>
          <p:nvPr/>
        </p:nvSpPr>
        <p:spPr>
          <a:xfrm>
            <a:off x="6654268" y="5364603"/>
            <a:ext cx="3845378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检查结果分析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38" name="组合 490"/>
          <p:cNvGrpSpPr/>
          <p:nvPr/>
        </p:nvGrpSpPr>
        <p:grpSpPr>
          <a:xfrm>
            <a:off x="1160518" y="1234970"/>
            <a:ext cx="5074105" cy="4481387"/>
            <a:chOff x="1160518" y="1234970"/>
            <a:chExt cx="5074105" cy="4481387"/>
          </a:xfrm>
        </p:grpSpPr>
        <p:sp>
          <p:nvSpPr>
            <p:cNvPr id="439" name="任意多边形 58"/>
            <p:cNvSpPr/>
            <p:nvPr/>
          </p:nvSpPr>
          <p:spPr>
            <a:xfrm>
              <a:off x="2420885" y="1573489"/>
              <a:ext cx="2071341" cy="4142868"/>
            </a:xfrm>
            <a:custGeom>
              <a:avLst/>
              <a:gdLst>
                <a:gd name="connsiteX0" fmla="*/ 0 w 2468160"/>
                <a:gd name="connsiteY0" fmla="*/ 0 h 4937688"/>
                <a:gd name="connsiteX1" fmla="*/ 251709 w 2468160"/>
                <a:gd name="connsiteY1" fmla="*/ 12711 h 4937688"/>
                <a:gd name="connsiteX2" fmla="*/ 2468160 w 2468160"/>
                <a:gd name="connsiteY2" fmla="*/ 2468844 h 4937688"/>
                <a:gd name="connsiteX3" fmla="*/ 251709 w 2468160"/>
                <a:gd name="connsiteY3" fmla="*/ 4924978 h 4937688"/>
                <a:gd name="connsiteX4" fmla="*/ 0 w 2468160"/>
                <a:gd name="connsiteY4" fmla="*/ 4937688 h 4937688"/>
                <a:gd name="connsiteX5" fmla="*/ 0 w 2468160"/>
                <a:gd name="connsiteY5" fmla="*/ 4688120 h 4937688"/>
                <a:gd name="connsiteX6" fmla="*/ 226192 w 2468160"/>
                <a:gd name="connsiteY6" fmla="*/ 4676698 h 4937688"/>
                <a:gd name="connsiteX7" fmla="*/ 2218592 w 2468160"/>
                <a:gd name="connsiteY7" fmla="*/ 2468844 h 4937688"/>
                <a:gd name="connsiteX8" fmla="*/ 226192 w 2468160"/>
                <a:gd name="connsiteY8" fmla="*/ 260990 h 4937688"/>
                <a:gd name="connsiteX9" fmla="*/ 0 w 2468160"/>
                <a:gd name="connsiteY9" fmla="*/ 249569 h 4937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8160" h="4937688">
                  <a:moveTo>
                    <a:pt x="0" y="0"/>
                  </a:moveTo>
                  <a:lnTo>
                    <a:pt x="251709" y="12711"/>
                  </a:lnTo>
                  <a:cubicBezTo>
                    <a:pt x="1496657" y="139142"/>
                    <a:pt x="2468160" y="1190539"/>
                    <a:pt x="2468160" y="2468844"/>
                  </a:cubicBezTo>
                  <a:cubicBezTo>
                    <a:pt x="2468160" y="3747149"/>
                    <a:pt x="1496657" y="4798546"/>
                    <a:pt x="251709" y="4924978"/>
                  </a:cubicBezTo>
                  <a:lnTo>
                    <a:pt x="0" y="4937688"/>
                  </a:lnTo>
                  <a:lnTo>
                    <a:pt x="0" y="4688120"/>
                  </a:lnTo>
                  <a:lnTo>
                    <a:pt x="226192" y="4676698"/>
                  </a:lnTo>
                  <a:cubicBezTo>
                    <a:pt x="1345293" y="4563047"/>
                    <a:pt x="2218592" y="3617931"/>
                    <a:pt x="2218592" y="2468844"/>
                  </a:cubicBezTo>
                  <a:cubicBezTo>
                    <a:pt x="2218592" y="1319758"/>
                    <a:pt x="1345293" y="374641"/>
                    <a:pt x="226192" y="260990"/>
                  </a:cubicBezTo>
                  <a:lnTo>
                    <a:pt x="0" y="24956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76200" dist="381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40" name="组合 122"/>
            <p:cNvGrpSpPr/>
            <p:nvPr/>
          </p:nvGrpSpPr>
          <p:grpSpPr>
            <a:xfrm>
              <a:off x="3122912" y="1612979"/>
              <a:ext cx="3111711" cy="4096567"/>
              <a:chOff x="3122523" y="1778076"/>
              <a:chExt cx="3112116" cy="4096567"/>
            </a:xfrm>
          </p:grpSpPr>
          <p:grpSp>
            <p:nvGrpSpPr>
              <p:cNvPr id="441" name="组合 123"/>
              <p:cNvGrpSpPr/>
              <p:nvPr/>
            </p:nvGrpSpPr>
            <p:grpSpPr>
              <a:xfrm>
                <a:off x="3122523" y="1778076"/>
                <a:ext cx="3112116" cy="109678"/>
                <a:chOff x="3904783" y="1674310"/>
                <a:chExt cx="3519256" cy="109703"/>
              </a:xfrm>
            </p:grpSpPr>
            <p:cxnSp>
              <p:nvCxnSpPr>
                <p:cNvPr id="442" name="直接连接符 136"/>
                <p:cNvCxnSpPr/>
                <p:nvPr/>
              </p:nvCxnSpPr>
              <p:spPr>
                <a:xfrm flipV="1">
                  <a:off x="3904783" y="1718973"/>
                  <a:ext cx="3402797" cy="10188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3" name="椭圆 137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44" name="组合 124"/>
              <p:cNvGrpSpPr/>
              <p:nvPr/>
            </p:nvGrpSpPr>
            <p:grpSpPr>
              <a:xfrm>
                <a:off x="4223180" y="2774798"/>
                <a:ext cx="2011459" cy="109678"/>
                <a:chOff x="5149433" y="1674310"/>
                <a:chExt cx="2274606" cy="109703"/>
              </a:xfrm>
            </p:grpSpPr>
            <p:cxnSp>
              <p:nvCxnSpPr>
                <p:cNvPr id="445" name="直接连接符 134"/>
                <p:cNvCxnSpPr/>
                <p:nvPr/>
              </p:nvCxnSpPr>
              <p:spPr>
                <a:xfrm flipV="1">
                  <a:off x="5149433" y="1718973"/>
                  <a:ext cx="2158147" cy="6462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6" name="椭圆 135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47" name="组合 125"/>
              <p:cNvGrpSpPr/>
              <p:nvPr/>
            </p:nvGrpSpPr>
            <p:grpSpPr>
              <a:xfrm>
                <a:off x="4627088" y="3771519"/>
                <a:ext cx="1607551" cy="109678"/>
                <a:chOff x="5606181" y="1674310"/>
                <a:chExt cx="1817858" cy="109703"/>
              </a:xfrm>
            </p:grpSpPr>
            <p:cxnSp>
              <p:nvCxnSpPr>
                <p:cNvPr id="448" name="直接连接符 132"/>
                <p:cNvCxnSpPr/>
                <p:nvPr/>
              </p:nvCxnSpPr>
              <p:spPr>
                <a:xfrm flipV="1">
                  <a:off x="5606181" y="1718973"/>
                  <a:ext cx="1701399" cy="5094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9" name="椭圆 133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50" name="组合 126"/>
              <p:cNvGrpSpPr/>
              <p:nvPr/>
            </p:nvGrpSpPr>
            <p:grpSpPr>
              <a:xfrm>
                <a:off x="4255273" y="4768198"/>
                <a:ext cx="1979366" cy="109677"/>
                <a:chOff x="5185725" y="1674310"/>
                <a:chExt cx="2238314" cy="109703"/>
              </a:xfrm>
            </p:grpSpPr>
            <p:cxnSp>
              <p:nvCxnSpPr>
                <p:cNvPr id="451" name="直接连接符 130"/>
                <p:cNvCxnSpPr/>
                <p:nvPr/>
              </p:nvCxnSpPr>
              <p:spPr>
                <a:xfrm>
                  <a:off x="5185725" y="1718973"/>
                  <a:ext cx="2121855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2" name="椭圆 131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53" name="组合 127"/>
              <p:cNvGrpSpPr/>
              <p:nvPr/>
            </p:nvGrpSpPr>
            <p:grpSpPr>
              <a:xfrm>
                <a:off x="3163868" y="5764965"/>
                <a:ext cx="3070746" cy="109678"/>
                <a:chOff x="3951573" y="1674310"/>
                <a:chExt cx="3472466" cy="109703"/>
              </a:xfrm>
            </p:grpSpPr>
            <p:cxnSp>
              <p:nvCxnSpPr>
                <p:cNvPr id="454" name="直接连接符 128"/>
                <p:cNvCxnSpPr/>
                <p:nvPr/>
              </p:nvCxnSpPr>
              <p:spPr>
                <a:xfrm flipV="1">
                  <a:off x="3951573" y="1726686"/>
                  <a:ext cx="3402798" cy="10188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5" name="椭圆 129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456" name="组合 138"/>
            <p:cNvGrpSpPr/>
            <p:nvPr/>
          </p:nvGrpSpPr>
          <p:grpSpPr>
            <a:xfrm>
              <a:off x="2318470" y="1234970"/>
              <a:ext cx="1170467" cy="1295259"/>
              <a:chOff x="1925849" y="1414909"/>
              <a:chExt cx="1170465" cy="1295559"/>
            </a:xfrm>
          </p:grpSpPr>
          <p:grpSp>
            <p:nvGrpSpPr>
              <p:cNvPr id="457" name="组合 139"/>
              <p:cNvGrpSpPr/>
              <p:nvPr/>
            </p:nvGrpSpPr>
            <p:grpSpPr>
              <a:xfrm>
                <a:off x="1982184" y="1414909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58" name="圆角矩形 141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59" name="Freeform 5"/>
                <p:cNvSpPr/>
                <p:nvPr/>
              </p:nvSpPr>
              <p:spPr bwMode="auto">
                <a:xfrm rot="10800000">
                  <a:off x="3295850" y="2263220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0" name="圆角矩形 143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1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62" name="文本框 88"/>
              <p:cNvSpPr txBox="1"/>
              <p:nvPr/>
            </p:nvSpPr>
            <p:spPr>
              <a:xfrm>
                <a:off x="1925850" y="1530507"/>
                <a:ext cx="876300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1"/>
                    </a:solidFill>
                    <a:latin typeface="Impact" panose="020B0806030902050204" pitchFamily="34" charset="0"/>
                    <a:ea typeface="微软雅黑" panose="020B0503020204020204" charset="-122"/>
                  </a:rPr>
                  <a:t>01</a:t>
                </a:r>
                <a:endParaRPr lang="zh-CN" altLang="en-US" sz="2800" dirty="0">
                  <a:solidFill>
                    <a:schemeClr val="accent1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63" name="组合 152"/>
            <p:cNvGrpSpPr/>
            <p:nvPr/>
          </p:nvGrpSpPr>
          <p:grpSpPr>
            <a:xfrm>
              <a:off x="3500873" y="4228122"/>
              <a:ext cx="1160866" cy="1295259"/>
              <a:chOff x="3108250" y="4408754"/>
              <a:chExt cx="1160866" cy="1295559"/>
            </a:xfrm>
          </p:grpSpPr>
          <p:grpSp>
            <p:nvGrpSpPr>
              <p:cNvPr id="464" name="组合 153"/>
              <p:cNvGrpSpPr/>
              <p:nvPr/>
            </p:nvGrpSpPr>
            <p:grpSpPr>
              <a:xfrm>
                <a:off x="3154984" y="4408754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65" name="圆角矩形 155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6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7" name="圆角矩形 157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8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69" name="文本框 90"/>
              <p:cNvSpPr txBox="1"/>
              <p:nvPr/>
            </p:nvSpPr>
            <p:spPr>
              <a:xfrm>
                <a:off x="3108250" y="4513150"/>
                <a:ext cx="876301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4"/>
                    </a:solidFill>
                    <a:latin typeface="Impact" panose="020B0806030902050204" pitchFamily="34" charset="0"/>
                    <a:ea typeface="微软雅黑" panose="020B0503020204020204" charset="-122"/>
                  </a:rPr>
                  <a:t>04</a:t>
                </a:r>
                <a:endParaRPr lang="zh-CN" altLang="en-US" sz="2800" dirty="0">
                  <a:solidFill>
                    <a:schemeClr val="accent4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70" name="组合 159"/>
            <p:cNvGrpSpPr/>
            <p:nvPr/>
          </p:nvGrpSpPr>
          <p:grpSpPr>
            <a:xfrm>
              <a:off x="3515246" y="2225494"/>
              <a:ext cx="1127943" cy="1295259"/>
              <a:chOff x="3122624" y="2405662"/>
              <a:chExt cx="1127942" cy="1295559"/>
            </a:xfrm>
          </p:grpSpPr>
          <p:grpSp>
            <p:nvGrpSpPr>
              <p:cNvPr id="471" name="组合 160"/>
              <p:cNvGrpSpPr/>
              <p:nvPr/>
            </p:nvGrpSpPr>
            <p:grpSpPr>
              <a:xfrm>
                <a:off x="3136435" y="2405662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72" name="圆角矩形 162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3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4" name="圆角矩形 164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5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76" name="文本框 91"/>
              <p:cNvSpPr txBox="1"/>
              <p:nvPr/>
            </p:nvSpPr>
            <p:spPr>
              <a:xfrm>
                <a:off x="3122624" y="2510697"/>
                <a:ext cx="876300" cy="647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2"/>
                    </a:solidFill>
                    <a:latin typeface="Impact" panose="020B0806030902050204" pitchFamily="34" charset="0"/>
                    <a:ea typeface="微软雅黑" panose="020B0503020204020204" charset="-122"/>
                  </a:rPr>
                  <a:t>02</a:t>
                </a:r>
                <a:endParaRPr lang="zh-CN" altLang="en-US" sz="2800" dirty="0">
                  <a:solidFill>
                    <a:schemeClr val="accent2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77" name="组合 166"/>
            <p:cNvGrpSpPr/>
            <p:nvPr/>
          </p:nvGrpSpPr>
          <p:grpSpPr>
            <a:xfrm>
              <a:off x="3953398" y="3213017"/>
              <a:ext cx="1154612" cy="1295259"/>
              <a:chOff x="3560774" y="3393414"/>
              <a:chExt cx="1154612" cy="1295559"/>
            </a:xfrm>
          </p:grpSpPr>
          <p:grpSp>
            <p:nvGrpSpPr>
              <p:cNvPr id="478" name="组合 167"/>
              <p:cNvGrpSpPr/>
              <p:nvPr/>
            </p:nvGrpSpPr>
            <p:grpSpPr>
              <a:xfrm>
                <a:off x="3601254" y="3393414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79" name="圆角矩形 169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0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1" name="圆角矩形 171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2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83" name="文本框 92"/>
              <p:cNvSpPr txBox="1"/>
              <p:nvPr/>
            </p:nvSpPr>
            <p:spPr>
              <a:xfrm>
                <a:off x="3560774" y="3517853"/>
                <a:ext cx="876300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3"/>
                    </a:solidFill>
                    <a:latin typeface="Impact" panose="020B0806030902050204" pitchFamily="34" charset="0"/>
                    <a:ea typeface="微软雅黑" panose="020B0503020204020204" charset="-122"/>
                  </a:rPr>
                  <a:t>03</a:t>
                </a:r>
                <a:endParaRPr lang="zh-CN" altLang="en-US" sz="2800" dirty="0">
                  <a:solidFill>
                    <a:schemeClr val="accent3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84" name="组合 173"/>
            <p:cNvGrpSpPr/>
            <p:nvPr/>
          </p:nvGrpSpPr>
          <p:grpSpPr>
            <a:xfrm>
              <a:off x="1160518" y="2695742"/>
              <a:ext cx="2142438" cy="1898362"/>
              <a:chOff x="1082221" y="2876021"/>
              <a:chExt cx="2142438" cy="1898802"/>
            </a:xfrm>
          </p:grpSpPr>
          <p:sp>
            <p:nvSpPr>
              <p:cNvPr id="485" name="Freeform 5"/>
              <p:cNvSpPr/>
              <p:nvPr/>
            </p:nvSpPr>
            <p:spPr bwMode="auto">
              <a:xfrm rot="10800000">
                <a:off x="1082221" y="2876021"/>
                <a:ext cx="2142438" cy="189880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254000" dist="1143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86" name="文本框 116"/>
              <p:cNvSpPr txBox="1"/>
              <p:nvPr/>
            </p:nvSpPr>
            <p:spPr>
              <a:xfrm>
                <a:off x="1228367" y="3371075"/>
                <a:ext cx="1797050" cy="882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4000" b="1">
                    <a:solidFill>
                      <a:schemeClr val="accent1">
                        <a:alpha val="100000"/>
                      </a:schemeClr>
                    </a:solidFill>
                    <a:effectLst>
                      <a:innerShdw blurRad="38100" dist="50800" dir="13500000">
                        <a:srgbClr val="000000">
                          <a:alpha val="60000"/>
                        </a:srgbClr>
                      </a:inn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目录</a:t>
                </a:r>
                <a:endParaRPr lang="zh-CN" sz="4000" b="1">
                  <a:solidFill>
                    <a:schemeClr val="accent1">
                      <a:alpha val="100000"/>
                    </a:schemeClr>
                  </a:solidFill>
                  <a:effectLst>
                    <a:innerShdw blurRad="38100" dist="50800" dir="13500000">
                      <a:srgbClr val="000000">
                        <a:alpha val="60000"/>
                      </a:srgbClr>
                    </a:inn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87" name="组合 145"/>
          <p:cNvGrpSpPr/>
          <p:nvPr/>
        </p:nvGrpSpPr>
        <p:grpSpPr>
          <a:xfrm>
            <a:off x="2231715" y="5321829"/>
            <a:ext cx="1153132" cy="1295259"/>
            <a:chOff x="1915341" y="5398225"/>
            <a:chExt cx="1153132" cy="1295559"/>
          </a:xfrm>
        </p:grpSpPr>
        <p:grpSp>
          <p:nvGrpSpPr>
            <p:cNvPr id="488" name="组合 146"/>
            <p:cNvGrpSpPr/>
            <p:nvPr/>
          </p:nvGrpSpPr>
          <p:grpSpPr>
            <a:xfrm>
              <a:off x="1954341" y="5398225"/>
              <a:ext cx="1114132" cy="1295559"/>
              <a:chOff x="3295850" y="2065379"/>
              <a:chExt cx="3592274" cy="4177307"/>
            </a:xfrm>
          </p:grpSpPr>
          <p:sp>
            <p:nvSpPr>
              <p:cNvPr id="489" name="圆角矩形 148"/>
              <p:cNvSpPr/>
              <p:nvPr/>
            </p:nvSpPr>
            <p:spPr>
              <a:xfrm rot="2760000">
                <a:off x="3283362" y="2637924"/>
                <a:ext cx="4177307" cy="3032217"/>
              </a:xfrm>
              <a:prstGeom prst="roundRect">
                <a:avLst>
                  <a:gd name="adj" fmla="val 47577"/>
                </a:avLst>
              </a:prstGeom>
              <a:gradFill>
                <a:gsLst>
                  <a:gs pos="0">
                    <a:schemeClr val="tx1"/>
                  </a:gs>
                  <a:gs pos="100000">
                    <a:srgbClr val="E8E8E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63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0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203200" dist="635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1" name="圆角矩形 150"/>
              <p:cNvSpPr/>
              <p:nvPr/>
            </p:nvSpPr>
            <p:spPr>
              <a:xfrm rot="2760000">
                <a:off x="3499201" y="2940762"/>
                <a:ext cx="3639373" cy="2369532"/>
              </a:xfrm>
              <a:prstGeom prst="roundRect">
                <a:avLst>
                  <a:gd name="adj" fmla="val 47577"/>
                </a:avLst>
              </a:prstGeom>
              <a:gradFill>
                <a:gsLst>
                  <a:gs pos="0">
                    <a:schemeClr val="tx1">
                      <a:alpha val="66000"/>
                    </a:schemeClr>
                  </a:gs>
                  <a:gs pos="100000">
                    <a:srgbClr val="E8E8E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63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2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60000">
                    <a:srgbClr val="ECECEC"/>
                  </a:gs>
                  <a:gs pos="100000">
                    <a:srgbClr val="D1D1D1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52400" dist="38100" dir="2700000" algn="tl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</p:grpSp>
        <p:sp>
          <p:nvSpPr>
            <p:cNvPr id="493" name="文本框 89"/>
            <p:cNvSpPr txBox="1"/>
            <p:nvPr/>
          </p:nvSpPr>
          <p:spPr>
            <a:xfrm>
              <a:off x="1915341" y="5483062"/>
              <a:ext cx="876300" cy="523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1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05</a:t>
              </a:r>
              <a:endParaRPr lang="zh-CN" altLang="en-US" sz="2800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49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中国石油上海销售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</a:rPr>
              <a:t>总体情况概述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一、总体情况概述</a:t>
            </a:r>
            <a:endParaRPr lang="zh-CN"/>
          </a:p>
        </p:txBody>
      </p:sp>
      <p:sp>
        <p:nvSpPr>
          <p:cNvPr id="11" name="文本框 2"/>
          <p:cNvSpPr txBox="1"/>
          <p:nvPr/>
        </p:nvSpPr>
        <p:spPr>
          <a:xfrm>
            <a:off x="1164067" y="1143847"/>
            <a:ext cx="9879965" cy="862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b="1">
                <a:solidFill>
                  <a:srgbClr val="C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    6</a:t>
            </a:r>
            <a:r>
              <a:rPr lang="zh-CN" b="1">
                <a:solidFill>
                  <a:srgbClr val="C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月</a:t>
            </a:r>
            <a:r>
              <a:rPr lang="zh-CN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各片区整改情况</a:t>
            </a:r>
            <a:r>
              <a:rPr lang="en-US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各片区非油现场检查与非油团购累计发现问题</a:t>
            </a:r>
            <a:r>
              <a:rPr lang="en-US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150</a:t>
            </a:r>
            <a:r>
              <a:rPr lang="zh-CN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项</a:t>
            </a:r>
            <a:r>
              <a:rPr lang="en-US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zh-CN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待验收问题（加油站未</a:t>
            </a:r>
            <a:r>
              <a:rPr lang="zh-CN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签名）</a:t>
            </a:r>
            <a:r>
              <a:rPr lang="en-US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61</a:t>
            </a:r>
            <a:r>
              <a:rPr lang="zh-CN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项</a:t>
            </a:r>
            <a:r>
              <a:rPr lang="en-US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zh-CN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待整改问题</a:t>
            </a:r>
            <a:r>
              <a:rPr lang="en-US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13</a:t>
            </a:r>
            <a:r>
              <a:rPr lang="zh-CN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项</a:t>
            </a:r>
            <a:r>
              <a:rPr lang="en-US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b="1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590" y="2006600"/>
            <a:ext cx="7830185" cy="4809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一、总体情况概述</a:t>
            </a:r>
            <a:endParaRPr lang="zh-CN"/>
          </a:p>
        </p:txBody>
      </p:sp>
      <p:sp>
        <p:nvSpPr>
          <p:cNvPr id="15" name="文本框 766"/>
          <p:cNvSpPr txBox="1"/>
          <p:nvPr/>
        </p:nvSpPr>
        <p:spPr>
          <a:xfrm>
            <a:off x="781050" y="993739"/>
            <a:ext cx="10902950" cy="12827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2000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巡检期间：</a:t>
            </a: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7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月巡检，2026年</a:t>
            </a: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6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月</a:t>
            </a: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26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日-2026年</a:t>
            </a: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7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月</a:t>
            </a: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29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日</a:t>
            </a:r>
            <a:endParaRPr sz="200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2000" b="1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巡检范围：</a:t>
            </a: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7月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非油现场抽检</a:t>
            </a: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55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座加油站，涉及</a:t>
            </a: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8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个管理片区（浦东、闵</a:t>
            </a: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普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徐、松金、嘉青、南汇、宝静、奉贤</a:t>
            </a: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、崇明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）和</a:t>
            </a: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4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个合资公司（中油奉贤、中油</a:t>
            </a: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农工商、中油浦东、中油上海</a:t>
            </a:r>
            <a:r>
              <a:rPr sz="20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）。</a:t>
            </a:r>
            <a:endParaRPr sz="200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1249045" y="2276475"/>
          <a:ext cx="9528175" cy="4411345"/>
        </p:xfrm>
        <a:graphic>
          <a:graphicData uri="http://schemas.openxmlformats.org/drawingml/2006/table">
            <a:tbl>
              <a:tblPr/>
              <a:tblGrid>
                <a:gridCol w="937895"/>
                <a:gridCol w="1104900"/>
                <a:gridCol w="1283970"/>
                <a:gridCol w="6201410"/>
              </a:tblGrid>
              <a:tr h="31623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序号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所属片区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加油站数量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加油站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浦东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6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环南、浦星、赵高路、英伦、杨思、龚路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闵普徐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7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华辉、华浦、凯燕、闵行第一、上中、莘庄工业区、中春路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43751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3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松金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金山第六、廊华、乐都、泖新、松江第一、松江第二、茸平、茸惠、泗砖、三新、叶新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4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嘉青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</a:t>
                      </a:r>
                      <a:endParaRPr lang="en-US"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四岔口</a:t>
                      </a:r>
                      <a:r>
                        <a:rPr lang="zh-CN"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、青浦第一</a:t>
                      </a:r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5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南汇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6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泥城、滨湾、国彝、东新、新场、新桥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6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宝静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7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宝杨第一、宝杨第二、常德路、晟隆、锦秋、泰和、维辉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7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奉贤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邬桥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43751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8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崇明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8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圆沙、前卫、崇明第三、崇明第七、崇明第九、崇明第十三、崇明第十四、崇明第十五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9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中油奉贤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奉贤第三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10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中油农工商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共富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中油上海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漕宝路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中油浦东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绿中、绿地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一、总体情况概述</a:t>
            </a:r>
            <a:endParaRPr lang="zh-CN"/>
          </a:p>
        </p:txBody>
      </p:sp>
      <p:sp>
        <p:nvSpPr>
          <p:cNvPr id="19" name="文本框 864"/>
          <p:cNvSpPr txBox="1"/>
          <p:nvPr/>
        </p:nvSpPr>
        <p:spPr>
          <a:xfrm>
            <a:off x="1060450" y="993739"/>
            <a:ext cx="11029950" cy="4508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检查共</a:t>
            </a:r>
            <a:r>
              <a:rPr lang="zh-CN" sz="18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发现</a:t>
            </a:r>
            <a:r>
              <a:rPr lang="zh-CN" sz="1800" b="1" i="0" u="none" strike="noStrike">
                <a:solidFill>
                  <a:srgbClr val="FF02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198</a:t>
            </a:r>
            <a:r>
              <a:rPr lang="zh-CN" sz="18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问题，其中，各区问题数量如下：</a:t>
            </a:r>
            <a:endParaRPr sz="160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1164067" y="1444589"/>
          <a:ext cx="9643533" cy="5187950"/>
        </p:xfrm>
        <a:graphic>
          <a:graphicData uri="http://schemas.openxmlformats.org/drawingml/2006/table">
            <a:tbl>
              <a:tblPr/>
              <a:tblGrid>
                <a:gridCol w="596507"/>
                <a:gridCol w="888547"/>
                <a:gridCol w="845052"/>
                <a:gridCol w="907188"/>
                <a:gridCol w="869906"/>
                <a:gridCol w="5536333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序号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所属片区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加油站数量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片区问题总项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站平均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  <a:p>
                      <a:pPr algn="ctr"/>
                      <a:r>
                        <a:rPr sz="12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问题数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加油站问题数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浦东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6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24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4.0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环南（4）、浦星（5）、赵高路（2）、英伦（4）、杨思（7）、龚路（2）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闵普徐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7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46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6.6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华辉（10）、华浦（11）、凯燕（3）、闵行第一（4）、上中（4）、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莘庄工业区（7）、中春路（7）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3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松金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33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3.0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金山第六（2）、廊华（1）、乐都（4）、泖新（1）、松江第一（3）、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松江第二（4）、茸平（6）、茸惠（3）、泗砖（1）、三新（6）、叶新（2）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4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嘉青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5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2.5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四岔口（2）、青浦第一（3）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5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南汇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6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16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2.7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泥城（5）、滨湾（1）、国彝（6）、东新（2）、新场（1）、新桥（1）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6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宝静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7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29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4.1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宝杨第一（5）、宝杨第二（3）、常德路（8）</a:t>
                      </a:r>
                      <a:r>
                        <a:rPr lang="zh-CN"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、</a:t>
                      </a:r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晟隆（4）、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锦秋（3）、维辉（6）、泰和（0）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7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奉贤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1.0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邬桥（1）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8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崇明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8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24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3.0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圆沙（5）、前卫（4）、崇明第三（2）、崇明第七（7）、崇明第九（2）、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崇明第十三（2）、崇明第十四（1）、崇明第十五（1）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9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中油奉贤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2.0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奉贤第三（2）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10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中油农工商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5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5.0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共富（5）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中油上海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5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5.0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漕宝路（5）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12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中油浦东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8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4.0 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绿中（3）、绿地（5）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一、总体情况概述</a:t>
            </a:r>
            <a:endParaRPr lang="zh-CN"/>
          </a:p>
        </p:txBody>
      </p:sp>
      <p:sp>
        <p:nvSpPr>
          <p:cNvPr id="23" name="文本框 987"/>
          <p:cNvSpPr txBox="1"/>
          <p:nvPr/>
        </p:nvSpPr>
        <p:spPr>
          <a:xfrm>
            <a:off x="3530600" y="1839151"/>
            <a:ext cx="5130800" cy="5651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4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本月巡检便利店优秀陈列与运营全景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</a:endParaRPr>
          </a:p>
        </p:txBody>
      </p:sp>
      <p:sp>
        <p:nvSpPr>
          <p:cNvPr id="24" name="文本框 988"/>
          <p:cNvSpPr txBox="1"/>
          <p:nvPr/>
        </p:nvSpPr>
        <p:spPr>
          <a:xfrm>
            <a:off x="1699251" y="5372523"/>
            <a:ext cx="1454784" cy="488949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龚路加油站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5" name="文本框 989"/>
          <p:cNvSpPr txBox="1"/>
          <p:nvPr/>
        </p:nvSpPr>
        <p:spPr>
          <a:xfrm>
            <a:off x="5370830" y="5372735"/>
            <a:ext cx="1781810" cy="49149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四岔口加油站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6" name="文本框 990"/>
          <p:cNvSpPr txBox="1"/>
          <p:nvPr/>
        </p:nvSpPr>
        <p:spPr>
          <a:xfrm>
            <a:off x="9320366" y="5372523"/>
            <a:ext cx="1454784" cy="4889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上中加油站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t="14443" r="14745"/>
          <a:stretch>
            <a:fillRect/>
          </a:stretch>
        </p:blipFill>
        <p:spPr>
          <a:xfrm>
            <a:off x="713316" y="2890240"/>
            <a:ext cx="3426651" cy="231959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807" y="2890240"/>
            <a:ext cx="3504515" cy="231148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rcRect t="15828" r="7635"/>
          <a:stretch>
            <a:fillRect/>
          </a:stretch>
        </p:blipFill>
        <p:spPr>
          <a:xfrm>
            <a:off x="8306162" y="2890240"/>
            <a:ext cx="3538757" cy="2311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2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4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</a:rPr>
              <a:t>片区问题汇总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片区问题汇总</a:t>
            </a:r>
            <a:r>
              <a:rPr lang="en-US"/>
              <a:t>——</a:t>
            </a:r>
            <a:r>
              <a:rPr lang="zh-CN" altLang="en-US"/>
              <a:t>总体概况</a:t>
            </a:r>
            <a:endParaRPr lang="zh-CN" altLang="en-US"/>
          </a:p>
        </p:txBody>
      </p:sp>
      <p:grpSp>
        <p:nvGrpSpPr>
          <p:cNvPr id="40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41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文本框 87"/>
          <p:cNvSpPr txBox="1"/>
          <p:nvPr/>
        </p:nvSpPr>
        <p:spPr>
          <a:xfrm>
            <a:off x="205666" y="4851436"/>
            <a:ext cx="11541575" cy="16986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16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片区（分公司）总数：</a:t>
            </a:r>
            <a:r>
              <a:rPr lang="en-US" sz="16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8个管理片区和4个合资公司</a:t>
            </a:r>
            <a:endParaRPr lang="en-US" sz="1600" b="1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+mn-ea"/>
              <a:sym typeface="+mn-ea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16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问题总计：</a:t>
            </a:r>
            <a:r>
              <a:rPr lang="en-US" sz="16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198</a:t>
            </a:r>
            <a:r>
              <a:rPr lang="zh-CN" altLang="en-US" sz="16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</a:t>
            </a:r>
            <a:r>
              <a:rPr lang="zh-CN" sz="16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 </a:t>
            </a:r>
            <a:r>
              <a:rPr lang="en-US" altLang="zh-CN" sz="16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                </a:t>
            </a:r>
            <a:endParaRPr lang="en-US" altLang="zh-CN" sz="16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16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sym typeface="+mn-ea"/>
              </a:rPr>
              <a:t>站平均问题数：</a:t>
            </a:r>
            <a:r>
              <a:rPr lang="en-US" altLang="zh-CN" sz="16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sym typeface="+mn-ea"/>
              </a:rPr>
              <a:t>3.</a:t>
            </a:r>
            <a:r>
              <a:rPr lang="en-US" sz="16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6 项/站</a:t>
            </a:r>
            <a:endParaRPr lang="en-US" sz="1600" b="1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+mn-ea"/>
              <a:sym typeface="+mn-ea"/>
            </a:endParaRPr>
          </a:p>
          <a:p>
            <a:pPr marL="692785" indent="-3429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altLang="en-US" sz="1600" b="1" dirty="0">
                <a:solidFill>
                  <a:srgbClr val="C0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非油检查问题高度集中在店销商品摆放，占比</a:t>
            </a:r>
            <a:r>
              <a:rPr lang="en-US" altLang="zh-CN" sz="1600" b="1" dirty="0">
                <a:solidFill>
                  <a:srgbClr val="C0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54%</a:t>
            </a:r>
            <a:r>
              <a:rPr lang="zh-CN" altLang="en-US" sz="1600" b="1" dirty="0">
                <a:solidFill>
                  <a:srgbClr val="C0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，其次为商品订单入库盘点（</a:t>
            </a:r>
            <a:r>
              <a:rPr lang="en-US" altLang="zh-CN" sz="1600" b="1" dirty="0">
                <a:solidFill>
                  <a:srgbClr val="C0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18%</a:t>
            </a:r>
            <a:r>
              <a:rPr lang="zh-CN" altLang="en-US" sz="1600" b="1" dirty="0">
                <a:solidFill>
                  <a:srgbClr val="C0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），其余各类问题占比相对平均。</a:t>
            </a:r>
            <a:endParaRPr lang="zh-CN" sz="1600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sym typeface="+mn-ea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16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具体问题详见附件：《</a:t>
            </a:r>
            <a:r>
              <a:rPr lang="en-US" altLang="zh-CN" sz="16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7</a:t>
            </a:r>
            <a:r>
              <a:rPr lang="zh-CN" altLang="en-US" sz="16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月非油检查问题清单》</a:t>
            </a:r>
            <a:endParaRPr lang="en-US" altLang="zh-CN" sz="1600" b="1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44" name="图片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4785281"/>
            <a:ext cx="12192000" cy="77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3966" y="811684"/>
            <a:ext cx="4648274" cy="3973597"/>
          </a:xfrm>
          <a:prstGeom prst="rect">
            <a:avLst/>
          </a:prstGeom>
        </p:spPr>
      </p:pic>
      <p:graphicFrame>
        <p:nvGraphicFramePr>
          <p:cNvPr id="2" name="图表 1"/>
          <p:cNvGraphicFramePr/>
          <p:nvPr/>
        </p:nvGraphicFramePr>
        <p:xfrm>
          <a:off x="85725" y="941311"/>
          <a:ext cx="7053943" cy="3714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片区问题汇总</a:t>
            </a:r>
            <a:r>
              <a:rPr lang="en-US"/>
              <a:t>——</a:t>
            </a:r>
            <a:r>
              <a:rPr lang="zh-CN"/>
              <a:t>浦东片区</a:t>
            </a:r>
            <a:endParaRPr lang="zh-CN"/>
          </a:p>
        </p:txBody>
      </p:sp>
      <p:grpSp>
        <p:nvGrpSpPr>
          <p:cNvPr id="40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41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文本框 87"/>
          <p:cNvSpPr txBox="1"/>
          <p:nvPr/>
        </p:nvSpPr>
        <p:spPr>
          <a:xfrm>
            <a:off x="698751" y="5191909"/>
            <a:ext cx="10414000" cy="1476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涉及站点数：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6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座（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cs"/>
              </a:rPr>
              <a:t>环南、浦星、赵高路、英伦、杨思、龚路）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+mn-cs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问题总计：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24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 （占本次全盘通报问题总量的</a:t>
            </a:r>
            <a:r>
              <a:rPr lang="en-US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12.1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%，主要集中于店销商品摆放问题）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站平均问题数：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4.0</a:t>
            </a:r>
            <a:r>
              <a:rPr lang="en-US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项/站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44" name="图片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71641"/>
            <a:ext cx="12192000" cy="7720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68" y="1147318"/>
            <a:ext cx="6078101" cy="3570743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769" y="1883835"/>
            <a:ext cx="4437104" cy="25160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片区问题汇总</a:t>
            </a:r>
            <a:r>
              <a:rPr lang="en-US"/>
              <a:t>——</a:t>
            </a:r>
            <a:r>
              <a:rPr lang="zh-CN"/>
              <a:t>闵普徐片区</a:t>
            </a:r>
            <a:endParaRPr lang="zh-CN"/>
          </a:p>
        </p:txBody>
      </p:sp>
      <p:grpSp>
        <p:nvGrpSpPr>
          <p:cNvPr id="49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50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148"/>
          <p:cNvSpPr txBox="1"/>
          <p:nvPr/>
        </p:nvSpPr>
        <p:spPr>
          <a:xfrm>
            <a:off x="914977" y="5154682"/>
            <a:ext cx="10362046" cy="1938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涉及站点数：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7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座（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cs"/>
              </a:rPr>
              <a:t>华辉、华浦、凯燕、闵行第一、上中、莘庄工业区、中春路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）</a:t>
            </a:r>
            <a:endParaRPr sz="18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问题总计：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4</a:t>
            </a:r>
            <a:r>
              <a:rPr lang="zh-CN" sz="2000" b="1" i="0" u="none" strike="noStrike" dirty="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6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 （占本次全盘通报问题总量的</a:t>
            </a:r>
            <a:r>
              <a:rPr lang="en-US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23.2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%，主要集中于店销商品摆放问题）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站平均问题数：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6.6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</a:t>
            </a:r>
            <a:r>
              <a:rPr lang="en-US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/站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53" name="图片 1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71641"/>
            <a:ext cx="12192000" cy="77200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32" y="1046434"/>
            <a:ext cx="6819919" cy="3772512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581" y="1796130"/>
            <a:ext cx="3912532" cy="2869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片区问题汇总</a:t>
            </a:r>
            <a:r>
              <a:rPr lang="en-US"/>
              <a:t>——</a:t>
            </a:r>
            <a:r>
              <a:rPr lang="zh-CN"/>
              <a:t>松金片区</a:t>
            </a:r>
            <a:endParaRPr lang="zh-CN"/>
          </a:p>
        </p:txBody>
      </p:sp>
      <p:grpSp>
        <p:nvGrpSpPr>
          <p:cNvPr id="58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59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1" name="文本框 182"/>
          <p:cNvSpPr txBox="1"/>
          <p:nvPr/>
        </p:nvSpPr>
        <p:spPr>
          <a:xfrm>
            <a:off x="1398036" y="5068991"/>
            <a:ext cx="8007222" cy="209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2785" lvl="0" indent="-342900" algn="l" defTabSz="914400">
              <a:lnSpc>
                <a:spcPct val="13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涉及站点数：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11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座（松江第一、松江第二、乐都、泖新、叶新、三新、茸平、茸惠、泗砖、廊华、金山第六）</a:t>
            </a:r>
            <a:endParaRPr sz="18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</a:endParaRPr>
          </a:p>
          <a:p>
            <a:pPr marL="692785" lvl="0" indent="-342900" algn="l" defTabSz="914400">
              <a:lnSpc>
                <a:spcPct val="13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问题总计：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33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 （占本次全盘通报问题总量的</a:t>
            </a:r>
            <a:r>
              <a:rPr lang="en-US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16.7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%）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3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站平均问题数：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3.0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</a:t>
            </a:r>
            <a:r>
              <a:rPr lang="en-US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/站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3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62" name="图片 18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30391"/>
            <a:ext cx="12192000" cy="77200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3" y="1077235"/>
            <a:ext cx="7633498" cy="3749342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251" y="1492015"/>
            <a:ext cx="4392184" cy="3040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24"/>
          <p:cNvGrpSpPr/>
          <p:nvPr/>
        </p:nvGrpSpPr>
        <p:grpSpPr>
          <a:xfrm>
            <a:off x="7451852" y="2014109"/>
            <a:ext cx="2742543" cy="3673084"/>
            <a:chOff x="486495" y="1440651"/>
            <a:chExt cx="2057175" cy="2754813"/>
          </a:xfrm>
        </p:grpSpPr>
        <p:sp>
          <p:nvSpPr>
            <p:cNvPr id="67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9" name="标题 3"/>
          <p:cNvSpPr txBox="1">
            <a:spLocks noGrp="1"/>
          </p:cNvSpPr>
          <p:nvPr/>
        </p:nvSpPr>
        <p:spPr>
          <a:xfrm>
            <a:off x="1164067" y="307939"/>
            <a:ext cx="10515600" cy="685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l" defTabSz="914400" hangingPunct="1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defRPr>
            </a:pP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二、片区问题汇总</a:t>
            </a:r>
            <a:r>
              <a:rPr lang="en-US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——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嘉青片区</a:t>
            </a:r>
            <a:endParaRPr lang="zh-CN" sz="2800" b="1">
              <a:solidFill>
                <a:srgbClr val="BE0000">
                  <a:alpha val="100000"/>
                </a:srgbClr>
              </a:solidFill>
              <a:latin typeface="Arial Black" panose="020B0A04020102020204"/>
              <a:ea typeface="微软雅黑" panose="020B0503020204020204" charset="-122"/>
              <a:cs typeface="+mj-cs"/>
            </a:endParaRPr>
          </a:p>
        </p:txBody>
      </p:sp>
      <p:pic>
        <p:nvPicPr>
          <p:cNvPr id="70" name="图片 4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71641"/>
            <a:ext cx="12192000" cy="77200"/>
          </a:xfrm>
          <a:prstGeom prst="rect">
            <a:avLst/>
          </a:prstGeom>
        </p:spPr>
      </p:pic>
      <p:sp>
        <p:nvSpPr>
          <p:cNvPr id="71" name="文本框 415"/>
          <p:cNvSpPr txBox="1"/>
          <p:nvPr/>
        </p:nvSpPr>
        <p:spPr>
          <a:xfrm>
            <a:off x="1164067" y="5171929"/>
            <a:ext cx="10090150" cy="1938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2785" lvl="0" indent="-342900" algn="l" defTabSz="914400">
              <a:lnSpc>
                <a:spcPct val="150000"/>
              </a:lnSpc>
              <a:buFont typeface="Wingdings" panose="05000000000000000000" charset="0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涉及站点数：</a:t>
            </a:r>
            <a:r>
              <a:rPr lang="en-US" sz="20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2</a:t>
            </a: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座（青浦第一加油站、四岔口加油站）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  <a:cs typeface="微软雅黑" panose="020B0503020204020204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charset="0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问题总计：</a:t>
            </a:r>
            <a:r>
              <a:rPr lang="en-US" sz="20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5</a:t>
            </a: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项（占本次全盘通报问题总量的</a:t>
            </a:r>
            <a:r>
              <a:rPr lang="en-US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2.5</a:t>
            </a: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%）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  <a:cs typeface="微软雅黑" panose="020B0503020204020204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charset="0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站平均问题数：</a:t>
            </a:r>
            <a:r>
              <a:rPr lang="en-US" sz="20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2.5</a:t>
            </a: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项</a:t>
            </a:r>
            <a:r>
              <a:rPr lang="en-US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/站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charset="0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微软雅黑" panose="020B0503020204020204" charset="-122"/>
            </a:endParaRP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47" y="1113417"/>
            <a:ext cx="6268589" cy="3535136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288" y="1064436"/>
            <a:ext cx="4742239" cy="3410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标题 3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/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片区问题汇总</a:t>
            </a:r>
            <a:r>
              <a:rPr lang="en-US"/>
              <a:t>——</a:t>
            </a:r>
            <a:r>
              <a:rPr lang="zh-CN"/>
              <a:t>南汇片区</a:t>
            </a:r>
            <a:endParaRPr lang="zh-CN"/>
          </a:p>
        </p:txBody>
      </p:sp>
      <p:grpSp>
        <p:nvGrpSpPr>
          <p:cNvPr id="76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77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9" name="文本框 461"/>
          <p:cNvSpPr txBox="1"/>
          <p:nvPr/>
        </p:nvSpPr>
        <p:spPr>
          <a:xfrm>
            <a:off x="1700642" y="5173697"/>
            <a:ext cx="9442450" cy="1938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涉及站点数：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6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座（国彝站、泥城站、东新站、滨湾站、新场站、新桥站）</a:t>
            </a:r>
            <a:endParaRPr sz="18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问题总计：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16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项（占本次全盘通报问题总量的</a:t>
            </a:r>
            <a:r>
              <a:rPr lang="en-US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2.7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%.）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站平均问题数：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2.6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</a:t>
            </a:r>
            <a:r>
              <a:rPr lang="en-US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/站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80" name="图片 4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71641"/>
            <a:ext cx="12192000" cy="77200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930" y="1104970"/>
            <a:ext cx="7056357" cy="3627261"/>
          </a:xfrm>
          <a:prstGeom prst="rect">
            <a:avLst/>
          </a:prstGeom>
          <a:noFill/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0939" y="1104970"/>
            <a:ext cx="3978728" cy="3627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24"/>
          <p:cNvGrpSpPr/>
          <p:nvPr/>
        </p:nvGrpSpPr>
        <p:grpSpPr>
          <a:xfrm>
            <a:off x="7451852" y="2014109"/>
            <a:ext cx="2742543" cy="3673084"/>
            <a:chOff x="486495" y="1440651"/>
            <a:chExt cx="2057175" cy="2754813"/>
          </a:xfrm>
        </p:grpSpPr>
        <p:sp>
          <p:nvSpPr>
            <p:cNvPr id="85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7" name="文本框 581"/>
          <p:cNvSpPr txBox="1"/>
          <p:nvPr/>
        </p:nvSpPr>
        <p:spPr>
          <a:xfrm>
            <a:off x="1164067" y="5171929"/>
            <a:ext cx="10090150" cy="1938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涉及站点数：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6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座（常德路、维辉、宝杨第一、晟隆、宝杨第二、锦秋）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问题总计：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29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 （占本次全盘通报问题总量的</a:t>
            </a:r>
            <a:r>
              <a:rPr lang="en-US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14.6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%）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站平均问题数：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4.8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</a:t>
            </a:r>
            <a:r>
              <a:rPr lang="en-US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/站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88" name="标题 3"/>
          <p:cNvSpPr txBox="1">
            <a:spLocks noGrp="1"/>
          </p:cNvSpPr>
          <p:nvPr/>
        </p:nvSpPr>
        <p:spPr>
          <a:xfrm>
            <a:off x="1164067" y="307939"/>
            <a:ext cx="10515600" cy="685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l" defTabSz="914400" hangingPunct="1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defRPr>
            </a:pP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二、片区问题汇总</a:t>
            </a:r>
            <a:r>
              <a:rPr lang="en-US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——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宝静片区</a:t>
            </a:r>
            <a:endParaRPr lang="zh-CN" sz="2800" b="1">
              <a:solidFill>
                <a:srgbClr val="BE0000">
                  <a:alpha val="100000"/>
                </a:srgbClr>
              </a:solidFill>
              <a:latin typeface="Arial Black" panose="020B0A04020102020204"/>
              <a:ea typeface="微软雅黑" panose="020B0503020204020204" charset="-122"/>
              <a:cs typeface="+mj-cs"/>
            </a:endParaRPr>
          </a:p>
        </p:txBody>
      </p:sp>
      <p:pic>
        <p:nvPicPr>
          <p:cNvPr id="89" name="图片 58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71641"/>
            <a:ext cx="12192000" cy="772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4680" y="1071233"/>
            <a:ext cx="6527041" cy="3577319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16637" y="1071233"/>
            <a:ext cx="4936671" cy="3577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片区问题汇总</a:t>
            </a:r>
            <a:r>
              <a:rPr lang="en-US"/>
              <a:t>——</a:t>
            </a:r>
            <a:r>
              <a:rPr lang="zh-CN"/>
              <a:t>崇明片区</a:t>
            </a:r>
            <a:endParaRPr lang="zh-CN"/>
          </a:p>
        </p:txBody>
      </p:sp>
      <p:grpSp>
        <p:nvGrpSpPr>
          <p:cNvPr id="94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95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7" name="文本框 148"/>
          <p:cNvSpPr txBox="1"/>
          <p:nvPr/>
        </p:nvSpPr>
        <p:spPr>
          <a:xfrm>
            <a:off x="1262054" y="4948841"/>
            <a:ext cx="9067415" cy="2399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涉及站点数：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8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座（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cs"/>
              </a:rPr>
              <a:t>圆沙、前卫、崇明第三、崇明第七、崇明第九、崇明第十三、崇明第十四、崇明第十五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）</a:t>
            </a:r>
            <a:endParaRPr sz="18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问题总计：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24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 （占本次全盘通报问题总量的</a:t>
            </a:r>
            <a:r>
              <a:rPr lang="en-US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4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%，均存在商品盘点问题）</a:t>
            </a:r>
            <a:endParaRPr sz="18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站平均问题数：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3.0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</a:t>
            </a:r>
            <a:r>
              <a:rPr lang="en-US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/站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98" name="图片 1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71641"/>
            <a:ext cx="12192000" cy="77200"/>
          </a:xfrm>
          <a:prstGeom prst="rect">
            <a:avLst/>
          </a:prstGeom>
        </p:spPr>
      </p:pic>
      <p:pic>
        <p:nvPicPr>
          <p:cNvPr id="99" name="图片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25" y="910241"/>
            <a:ext cx="6800850" cy="4038600"/>
          </a:xfrm>
          <a:prstGeom prst="rect">
            <a:avLst/>
          </a:prstGeom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796" y="1939712"/>
            <a:ext cx="4578095" cy="2743200"/>
          </a:xfrm>
          <a:prstGeom prst="rect">
            <a:avLst/>
          </a:prstGeom>
        </p:spPr>
      </p:pic>
      <p:sp>
        <p:nvSpPr>
          <p:cNvPr id="101" name="文本框 100"/>
          <p:cNvSpPr txBox="1"/>
          <p:nvPr/>
        </p:nvSpPr>
        <p:spPr>
          <a:xfrm>
            <a:off x="8645081" y="1488164"/>
            <a:ext cx="2415267" cy="33272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sz="1400" b="1" dirty="0">
                <a:latin typeface="宋体" pitchFamily="2" charset="-122"/>
                <a:ea typeface="宋体" pitchFamily="2" charset="-122"/>
              </a:rPr>
              <a:t>崇明片区非油检查整体状况</a:t>
            </a:r>
            <a:endParaRPr lang="zh-CN" sz="14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7958667" y="2603500"/>
            <a:ext cx="387350" cy="2984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en-US" sz="1050"/>
              <a:t>8%</a:t>
            </a:r>
            <a:endParaRPr lang="en-US" sz="1050"/>
          </a:p>
        </p:txBody>
      </p:sp>
      <p:sp>
        <p:nvSpPr>
          <p:cNvPr id="103" name="文本框 102"/>
          <p:cNvSpPr txBox="1"/>
          <p:nvPr/>
        </p:nvSpPr>
        <p:spPr>
          <a:xfrm>
            <a:off x="8346017" y="2305050"/>
            <a:ext cx="387350" cy="2984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en-US" sz="1050"/>
              <a:t>8%</a:t>
            </a:r>
            <a:endParaRPr lang="en-US" sz="1050"/>
          </a:p>
        </p:txBody>
      </p:sp>
      <p:sp>
        <p:nvSpPr>
          <p:cNvPr id="104" name="文本框 103"/>
          <p:cNvSpPr txBox="1"/>
          <p:nvPr/>
        </p:nvSpPr>
        <p:spPr>
          <a:xfrm>
            <a:off x="9053665" y="2454275"/>
            <a:ext cx="387350" cy="2984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en-US" sz="1050"/>
              <a:t>8%</a:t>
            </a:r>
            <a:endParaRPr lang="en-US" sz="1050"/>
          </a:p>
        </p:txBody>
      </p:sp>
      <p:sp>
        <p:nvSpPr>
          <p:cNvPr id="105" name="文本框 104"/>
          <p:cNvSpPr txBox="1"/>
          <p:nvPr/>
        </p:nvSpPr>
        <p:spPr>
          <a:xfrm>
            <a:off x="8666315" y="2305050"/>
            <a:ext cx="387350" cy="2984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en-US" sz="1050"/>
              <a:t>4%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片区问题汇总</a:t>
            </a:r>
            <a:r>
              <a:rPr lang="en-US"/>
              <a:t>—</a:t>
            </a:r>
            <a:r>
              <a:rPr lang="zh-CN"/>
              <a:t>中油奉贤</a:t>
            </a:r>
            <a:endParaRPr lang="zh-CN"/>
          </a:p>
        </p:txBody>
      </p:sp>
      <p:grpSp>
        <p:nvGrpSpPr>
          <p:cNvPr id="108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109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1" name="文本框 819"/>
          <p:cNvSpPr txBox="1"/>
          <p:nvPr/>
        </p:nvSpPr>
        <p:spPr>
          <a:xfrm>
            <a:off x="2334994" y="5108741"/>
            <a:ext cx="9759950" cy="16916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2785" lvl="0" indent="-342900" algn="l" defTabSz="914400">
              <a:lnSpc>
                <a:spcPct val="13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涉及站点数：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1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座（奉贤第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三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加油站）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3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问题总计：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 （占本次全盘通报问题总量的</a:t>
            </a:r>
            <a:r>
              <a:rPr lang="en-US" altLang="zh-CN" sz="2000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1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%）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3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站平均问题数：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</a:t>
            </a:r>
            <a:r>
              <a:rPr lang="en-US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/站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3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112" name="图片 8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9633"/>
            <a:ext cx="12192000" cy="77200"/>
          </a:xfrm>
          <a:prstGeom prst="rect">
            <a:avLst/>
          </a:prstGeom>
        </p:spPr>
      </p:pic>
      <p:graphicFrame>
        <p:nvGraphicFramePr>
          <p:cNvPr id="4" name="图表 3"/>
          <p:cNvGraphicFramePr/>
          <p:nvPr/>
        </p:nvGraphicFramePr>
        <p:xfrm>
          <a:off x="1524000" y="1495994"/>
          <a:ext cx="4755502" cy="2898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6851087" y="1649059"/>
          <a:ext cx="4291442" cy="2490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片区问题汇总</a:t>
            </a:r>
            <a:r>
              <a:rPr lang="en-US"/>
              <a:t>—</a:t>
            </a:r>
            <a:r>
              <a:rPr lang="zh-CN"/>
              <a:t>中油同盛</a:t>
            </a:r>
            <a:endParaRPr lang="zh-CN"/>
          </a:p>
        </p:txBody>
      </p:sp>
      <p:grpSp>
        <p:nvGrpSpPr>
          <p:cNvPr id="117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118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0" name="图片 8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1641"/>
            <a:ext cx="12192000" cy="77200"/>
          </a:xfrm>
          <a:prstGeom prst="rect">
            <a:avLst/>
          </a:prstGeom>
        </p:spPr>
      </p:pic>
      <p:sp>
        <p:nvSpPr>
          <p:cNvPr id="121" name="文本框 885"/>
          <p:cNvSpPr txBox="1"/>
          <p:nvPr/>
        </p:nvSpPr>
        <p:spPr>
          <a:xfrm>
            <a:off x="1164067" y="5171929"/>
            <a:ext cx="10090150" cy="1938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2785" lvl="0" indent="-342900" algn="l" defTabSz="914400">
              <a:lnSpc>
                <a:spcPct val="150000"/>
              </a:lnSpc>
              <a:buFont typeface="Wingdings" panose="05000000000000000000" charset="0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</a:rPr>
              <a:t>涉及站点数：</a:t>
            </a:r>
            <a:r>
              <a:rPr lang="en-US" sz="20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</a:rPr>
              <a:t>1</a:t>
            </a: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</a:rPr>
              <a:t>座（新港加油站）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  <a:cs typeface="+mn-ea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charset="0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</a:rPr>
              <a:t>问题总计：1</a:t>
            </a: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</a:rPr>
              <a:t>项（占本次全盘通报问题总量的</a:t>
            </a:r>
            <a:r>
              <a:rPr lang="en-US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</a:rPr>
              <a:t>0.7</a:t>
            </a: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</a:rPr>
              <a:t>%）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  <a:cs typeface="+mn-ea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charset="0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</a:rPr>
              <a:t>站平均问题数：</a:t>
            </a:r>
            <a:r>
              <a:rPr lang="en-US" sz="2000" b="1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</a:rPr>
              <a:t>1</a:t>
            </a: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</a:rPr>
              <a:t>项</a:t>
            </a:r>
            <a:r>
              <a:rPr lang="en-US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/站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charset="0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+mn-ea"/>
            </a:endParaRPr>
          </a:p>
        </p:txBody>
      </p:sp>
      <p:pic>
        <p:nvPicPr>
          <p:cNvPr id="122" name="图片 8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485" y="1348740"/>
            <a:ext cx="4995545" cy="3113405"/>
          </a:xfrm>
          <a:prstGeom prst="rect">
            <a:avLst/>
          </a:prstGeom>
        </p:spPr>
      </p:pic>
      <p:graphicFrame>
        <p:nvGraphicFramePr>
          <p:cNvPr id="123" name="图表 1"/>
          <p:cNvGraphicFramePr/>
          <p:nvPr/>
        </p:nvGraphicFramePr>
        <p:xfrm>
          <a:off x="6557645" y="1598930"/>
          <a:ext cx="4253230" cy="2345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片区问题汇总</a:t>
            </a:r>
            <a:r>
              <a:rPr lang="en-US"/>
              <a:t>—</a:t>
            </a:r>
            <a:r>
              <a:rPr lang="zh-CN"/>
              <a:t>中油农工商</a:t>
            </a:r>
            <a:endParaRPr lang="zh-CN"/>
          </a:p>
        </p:txBody>
      </p:sp>
      <p:grpSp>
        <p:nvGrpSpPr>
          <p:cNvPr id="126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127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9" name="文本框 725"/>
          <p:cNvSpPr txBox="1"/>
          <p:nvPr/>
        </p:nvSpPr>
        <p:spPr>
          <a:xfrm>
            <a:off x="209757" y="5170149"/>
            <a:ext cx="12052300" cy="1353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2785" lvl="0" indent="-342900" algn="l" defTabSz="914400">
              <a:lnSpc>
                <a:spcPct val="13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涉及站点数：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1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座（共富）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3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问题总计：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5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 （占本次全盘通报问题总量的</a:t>
            </a:r>
            <a:r>
              <a:rPr lang="en-US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2.5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%）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站平均问题数：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5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项</a:t>
            </a:r>
            <a:r>
              <a:rPr lang="en-US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/站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130" name="图片 7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71641"/>
            <a:ext cx="12192000" cy="77200"/>
          </a:xfrm>
          <a:prstGeom prst="rect">
            <a:avLst/>
          </a:prstGeom>
        </p:spPr>
      </p:pic>
      <p:pic>
        <p:nvPicPr>
          <p:cNvPr id="131" name="图片 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393" y="1249680"/>
            <a:ext cx="4526716" cy="3366019"/>
          </a:xfrm>
          <a:prstGeom prst="rect">
            <a:avLst/>
          </a:prstGeom>
        </p:spPr>
      </p:pic>
      <p:pic>
        <p:nvPicPr>
          <p:cNvPr id="132" name="图片 1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2" y="1249680"/>
            <a:ext cx="6626116" cy="3366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片区问题汇总</a:t>
            </a:r>
            <a:r>
              <a:rPr lang="en-US"/>
              <a:t>—</a:t>
            </a:r>
            <a:r>
              <a:rPr lang="zh-CN"/>
              <a:t>中油浦东</a:t>
            </a:r>
            <a:endParaRPr lang="zh-CN"/>
          </a:p>
        </p:txBody>
      </p:sp>
      <p:grpSp>
        <p:nvGrpSpPr>
          <p:cNvPr id="135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136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8" name="图片 8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71641"/>
            <a:ext cx="12192000" cy="77200"/>
          </a:xfrm>
          <a:prstGeom prst="rect">
            <a:avLst/>
          </a:prstGeom>
        </p:spPr>
      </p:pic>
      <p:sp>
        <p:nvSpPr>
          <p:cNvPr id="139" name="文本框 885"/>
          <p:cNvSpPr txBox="1"/>
          <p:nvPr/>
        </p:nvSpPr>
        <p:spPr>
          <a:xfrm>
            <a:off x="1164067" y="5171929"/>
            <a:ext cx="10090150" cy="1476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2785" lvl="0" indent="-342900" algn="l" defTabSz="914400">
              <a:lnSpc>
                <a:spcPct val="150000"/>
              </a:lnSpc>
              <a:buFont typeface="Wingdings" panose="05000000000000000000" charset="0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涉及站点数：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2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座（绿地、绿中加油站）</a:t>
            </a:r>
            <a:endParaRPr sz="18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  <a:cs typeface="微软雅黑" panose="020B0503020204020204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charset="0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问题总计：</a:t>
            </a:r>
            <a:r>
              <a:rPr lang="en-US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8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项（占本次全盘通报问题总量的</a:t>
            </a:r>
            <a:r>
              <a:rPr lang="en-US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4.0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%）</a:t>
            </a:r>
            <a:endParaRPr sz="1800" dirty="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  <a:cs typeface="微软雅黑" panose="020B0503020204020204" charset="-122"/>
            </a:endParaRPr>
          </a:p>
          <a:p>
            <a:pPr marL="692785" lvl="0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站平均问题数：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0.25</a:t>
            </a:r>
            <a:r>
              <a:rPr lang="zh-CN" sz="2000" b="0" i="0" u="none" strike="noStrike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微软雅黑" panose="020B0503020204020204" charset="-122"/>
              </a:rPr>
              <a:t>项</a:t>
            </a:r>
            <a:r>
              <a:rPr lang="en-US" sz="2000" b="1" dirty="0">
                <a:solidFill>
                  <a:srgbClr val="00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  <a:cs typeface="+mn-ea"/>
                <a:sym typeface="+mn-ea"/>
              </a:rPr>
              <a:t>/站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微软雅黑" panose="020B0503020204020204" charset="-122"/>
            </a:endParaRPr>
          </a:p>
        </p:txBody>
      </p:sp>
      <p:pic>
        <p:nvPicPr>
          <p:cNvPr id="140" name="图片 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176" y="1530086"/>
            <a:ext cx="4964075" cy="2805208"/>
          </a:xfrm>
          <a:prstGeom prst="rect">
            <a:avLst/>
          </a:prstGeom>
        </p:spPr>
      </p:pic>
      <p:pic>
        <p:nvPicPr>
          <p:cNvPr id="141" name="图片 1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03" y="1248670"/>
            <a:ext cx="6234373" cy="34016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144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5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6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</a:rPr>
              <a:t>重点问题分析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三、重点问题分析</a:t>
            </a:r>
            <a:endParaRPr dirty="0"/>
          </a:p>
        </p:txBody>
      </p:sp>
      <p:sp>
        <p:nvSpPr>
          <p:cNvPr id="15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1.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检查总体情况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53" name="文本框 2"/>
          <p:cNvSpPr txBox="1"/>
          <p:nvPr/>
        </p:nvSpPr>
        <p:spPr>
          <a:xfrm>
            <a:off x="683895" y="3699726"/>
            <a:ext cx="10515600" cy="2521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266700">
              <a:lnSpc>
                <a:spcPts val="3200"/>
              </a:lnSpc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随着非油业务在加油站利润结构中的占比提升，</a:t>
            </a:r>
            <a:r>
              <a:rPr lang="zh-TW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便利店的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运营效率与合规成为管理的重点</a:t>
            </a:r>
            <a:r>
              <a:rPr lang="zh-TW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。本次分析旨在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识别便利店运营</a:t>
            </a:r>
            <a:r>
              <a:rPr lang="zh-TW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流程中的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潜在风险，使用的方法包括：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742950" lvl="1" indent="-28575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定量评估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：统计各类问题发生频次，识别高风险问题领域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742950" lvl="1" indent="-28575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关联分析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：建立重点问题与检查项目的映射关系，掌握重点问题的发生阶段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742950" lvl="1" indent="-28575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风险识别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：结合外部信息识别典型问题的风险及影响，依据风险与频次展示典型问题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742950" lvl="1" indent="-28575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归因优化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：探究数据之后的共性缺失，提出流程化改善建议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154" name="矩形 8"/>
          <p:cNvSpPr/>
          <p:nvPr/>
        </p:nvSpPr>
        <p:spPr>
          <a:xfrm>
            <a:off x="863599" y="3209067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2.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分析方法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55" name="文本框 14"/>
          <p:cNvSpPr txBox="1"/>
          <p:nvPr/>
        </p:nvSpPr>
        <p:spPr>
          <a:xfrm>
            <a:off x="1295075" y="1895287"/>
            <a:ext cx="2032000" cy="646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grpSp>
        <p:nvGrpSpPr>
          <p:cNvPr id="156" name="组合 15"/>
          <p:cNvGrpSpPr/>
          <p:nvPr/>
        </p:nvGrpSpPr>
        <p:grpSpPr>
          <a:xfrm>
            <a:off x="1036742" y="1755915"/>
            <a:ext cx="2400939" cy="1047436"/>
            <a:chOff x="1164067" y="4869508"/>
            <a:chExt cx="2670977" cy="1047436"/>
          </a:xfrm>
        </p:grpSpPr>
        <p:grpSp>
          <p:nvGrpSpPr>
            <p:cNvPr id="157" name="组合 12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58" name="矩形: 圆角 10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59" name="矩形: 圆角 11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60" name="文本框 13"/>
            <p:cNvSpPr txBox="1"/>
            <p:nvPr/>
          </p:nvSpPr>
          <p:spPr>
            <a:xfrm>
              <a:off x="1338957" y="4960948"/>
              <a:ext cx="2324120" cy="850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FFC000">
                      <a:alpha val="100000"/>
                    </a:srgbClr>
                  </a:solidFill>
                </a:rPr>
                <a:t>198
</a:t>
              </a:r>
              <a:r>
                <a:rPr lang="zh-CN" b="1">
                  <a:latin typeface="方正仿宋简体" panose="02000000000000000000" charset="-122"/>
                  <a:ea typeface="方正仿宋简体" panose="02000000000000000000" charset="-122"/>
                </a:rPr>
                <a:t>问题总数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61" name="组合 16"/>
          <p:cNvGrpSpPr/>
          <p:nvPr/>
        </p:nvGrpSpPr>
        <p:grpSpPr>
          <a:xfrm>
            <a:off x="6286494" y="1754524"/>
            <a:ext cx="2400940" cy="1047436"/>
            <a:chOff x="1164067" y="4869508"/>
            <a:chExt cx="2670977" cy="1047436"/>
          </a:xfrm>
        </p:grpSpPr>
        <p:grpSp>
          <p:nvGrpSpPr>
            <p:cNvPr id="162" name="组合 17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63" name="矩形: 圆角 19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64" name="矩形: 圆角 20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65" name="文本框 18"/>
            <p:cNvSpPr txBox="1"/>
            <p:nvPr/>
          </p:nvSpPr>
          <p:spPr>
            <a:xfrm>
              <a:off x="1338957" y="4960948"/>
              <a:ext cx="2324119" cy="86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FF0000">
                      <a:alpha val="100000"/>
                    </a:srgbClr>
                  </a:solidFill>
                </a:rPr>
                <a:t>21
</a:t>
              </a:r>
              <a:r>
                <a:rPr lang="zh-CN" b="1">
                  <a:latin typeface="方正仿宋简体" panose="02000000000000000000" charset="-122"/>
                  <a:ea typeface="方正仿宋简体" panose="02000000000000000000" charset="-122"/>
                </a:rPr>
                <a:t>重点问题数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66" name="组合 21"/>
          <p:cNvGrpSpPr/>
          <p:nvPr/>
        </p:nvGrpSpPr>
        <p:grpSpPr>
          <a:xfrm>
            <a:off x="8911370" y="1754524"/>
            <a:ext cx="2400940" cy="1047436"/>
            <a:chOff x="1164067" y="4869508"/>
            <a:chExt cx="2670977" cy="1047436"/>
          </a:xfrm>
        </p:grpSpPr>
        <p:grpSp>
          <p:nvGrpSpPr>
            <p:cNvPr id="167" name="组合 22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68" name="矩形: 圆角 24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69" name="矩形: 圆角 25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70" name="文本框 23"/>
            <p:cNvSpPr txBox="1"/>
            <p:nvPr/>
          </p:nvSpPr>
          <p:spPr>
            <a:xfrm>
              <a:off x="1338958" y="4960948"/>
              <a:ext cx="2324119" cy="850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002060">
                      <a:alpha val="100000"/>
                    </a:srgbClr>
                  </a:solidFill>
                </a:rPr>
                <a:t>13%
</a:t>
              </a:r>
              <a:r>
                <a:rPr lang="zh-CN" b="1">
                  <a:latin typeface="方正仿宋简体" panose="02000000000000000000" charset="-122"/>
                  <a:ea typeface="方正仿宋简体" panose="02000000000000000000" charset="-122"/>
                </a:rPr>
                <a:t>重点问题占比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71" name="组合 26"/>
          <p:cNvGrpSpPr/>
          <p:nvPr/>
        </p:nvGrpSpPr>
        <p:grpSpPr>
          <a:xfrm>
            <a:off x="3661618" y="1754524"/>
            <a:ext cx="2400940" cy="1047436"/>
            <a:chOff x="1164067" y="4869508"/>
            <a:chExt cx="2670977" cy="1047436"/>
          </a:xfrm>
        </p:grpSpPr>
        <p:grpSp>
          <p:nvGrpSpPr>
            <p:cNvPr id="172" name="组合 27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73" name="矩形: 圆角 29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4" name="矩形: 圆角 30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75" name="文本框 28"/>
            <p:cNvSpPr txBox="1"/>
            <p:nvPr/>
          </p:nvSpPr>
          <p:spPr>
            <a:xfrm>
              <a:off x="1338958" y="4960948"/>
              <a:ext cx="232119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TW" sz="3200" dirty="0">
                  <a:solidFill>
                    <a:srgbClr val="00B050"/>
                  </a:solidFill>
                </a:rPr>
                <a:t>20+</a:t>
              </a:r>
              <a:br>
                <a:rPr lang="en-US" altLang="zh-TW" dirty="0"/>
              </a:br>
              <a:r>
                <a:rPr lang="zh-CN" altLang="en-US" b="1" dirty="0">
                  <a:latin typeface="方正仿宋简体" panose="02000000000000000000" charset="-122"/>
                  <a:ea typeface="方正仿宋简体" panose="02000000000000000000" charset="-122"/>
                </a:rPr>
                <a:t>问题覆盖领域</a:t>
              </a:r>
              <a:endParaRPr lang="zh-TW" altLang="en-US" b="1" dirty="0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三、重点问题分析</a:t>
            </a:r>
            <a:endParaRPr dirty="0"/>
          </a:p>
        </p:txBody>
      </p:sp>
      <p:sp>
        <p:nvSpPr>
          <p:cNvPr id="178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3.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重点问题概述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79" name="文本框 2"/>
          <p:cNvSpPr txBox="1"/>
          <p:nvPr/>
        </p:nvSpPr>
        <p:spPr>
          <a:xfrm>
            <a:off x="683895" y="1651000"/>
            <a:ext cx="10515600" cy="469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266700">
              <a:lnSpc>
                <a:spcPts val="3200"/>
              </a:lnSpc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本次分析对</a:t>
            </a:r>
            <a:r>
              <a:rPr lang="en-US" altLang="zh-CN" sz="2000" dirty="0">
                <a:latin typeface="方正仿宋简体" panose="02000000000000000000" charset="-122"/>
                <a:ea typeface="方正仿宋简体" panose="02000000000000000000" charset="-122"/>
              </a:rPr>
              <a:t>4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类关键问题的定义，以及问题内部占比如图所示：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pSp>
        <p:nvGrpSpPr>
          <p:cNvPr id="180" name="组合 30"/>
          <p:cNvGrpSpPr/>
          <p:nvPr/>
        </p:nvGrpSpPr>
        <p:grpSpPr>
          <a:xfrm>
            <a:off x="747508" y="2356898"/>
            <a:ext cx="3531286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1" name="矩形: 圆角 11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82" name="文本框 12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+mn-ea"/>
                  <a:ea typeface="+mn-ea"/>
                  <a:cs typeface="+mn-cs"/>
                </a:rPr>
                <a:t>烟酒等高价值货品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3" name="文本框 14"/>
            <p:cNvSpPr txBox="1"/>
            <p:nvPr/>
          </p:nvSpPr>
          <p:spPr>
            <a:xfrm>
              <a:off x="1199065" y="3322912"/>
              <a:ext cx="3073059" cy="61144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方正仿宋简体" panose="02000000000000000000" charset="-122"/>
                  <a:ea typeface="方正仿宋简体" panose="02000000000000000000" charset="-122"/>
                  <a:cs typeface="+mn-cs"/>
                </a:rPr>
                <a:t>聚焦货品的账实相符率、陈列与推广情况，以及仓储存放安全。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184" name="组合 21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185" name="矩形: 圆角 18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186" name="文本框 19"/>
              <p:cNvSpPr txBox="1"/>
              <p:nvPr/>
            </p:nvSpPr>
            <p:spPr>
              <a:xfrm>
                <a:off x="1424153" y="3536692"/>
                <a:ext cx="831444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prstClr val="white"/>
                    </a:solidFill>
                    <a:latin typeface="+mn-ea"/>
                    <a:ea typeface="+mn-ea"/>
                    <a:cs typeface="+mn-cs"/>
                  </a:rPr>
                  <a:t>重点商品</a:t>
                </a:r>
                <a:endParaRPr lang="zh-CN" altLang="en-US" sz="1400" b="1" dirty="0">
                  <a:solidFill>
                    <a:prstClr val="white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187" name="矩形: 圆角 22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88" name="组合 31"/>
          <p:cNvGrpSpPr/>
          <p:nvPr/>
        </p:nvGrpSpPr>
        <p:grpSpPr>
          <a:xfrm>
            <a:off x="739660" y="4332637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9" name="矩形: 圆角 32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90" name="文本框 33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+mn-ea"/>
                  <a:ea typeface="+mn-ea"/>
                  <a:cs typeface="+mn-cs"/>
                </a:rPr>
                <a:t>食品安全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1" name="文本框 34"/>
            <p:cNvSpPr txBox="1"/>
            <p:nvPr/>
          </p:nvSpPr>
          <p:spPr>
            <a:xfrm>
              <a:off x="1199066" y="3322912"/>
              <a:ext cx="3003896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方正仿宋简体" panose="02000000000000000000" charset="-122"/>
                  <a:ea typeface="方正仿宋简体" panose="02000000000000000000" charset="-122"/>
                  <a:cs typeface="+mn-cs"/>
                </a:rPr>
                <a:t>抽查过期商品的检查、登记及销毁处理情况。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192" name="组合 35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193" name="矩形: 圆角 37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194" name="文本框 38"/>
              <p:cNvSpPr txBox="1"/>
              <p:nvPr/>
            </p:nvSpPr>
            <p:spPr>
              <a:xfrm>
                <a:off x="1424153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+mn-ea"/>
                    <a:ea typeface="+mn-ea"/>
                    <a:cs typeface="+mn-cs"/>
                  </a:rPr>
                  <a:t>商品过期</a:t>
                </a:r>
                <a:endParaRPr lang="zh-CN" altLang="en-US" sz="1400" b="1" dirty="0">
                  <a:solidFill>
                    <a:schemeClr val="bg1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195" name="矩形: 圆角 36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6" name="组合 39"/>
          <p:cNvGrpSpPr/>
          <p:nvPr/>
        </p:nvGrpSpPr>
        <p:grpSpPr>
          <a:xfrm>
            <a:off x="4519307" y="4332637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7" name="矩形: 圆角 40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98" name="文本框 41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+mn-ea"/>
                  <a:ea typeface="+mn-ea"/>
                  <a:cs typeface="+mn-cs"/>
                </a:rPr>
                <a:t>资金与流程合规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9" name="文本框 42"/>
            <p:cNvSpPr txBox="1"/>
            <p:nvPr/>
          </p:nvSpPr>
          <p:spPr>
            <a:xfrm>
              <a:off x="1199065" y="3322912"/>
              <a:ext cx="3077537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方正仿宋简体" panose="02000000000000000000" charset="-122"/>
                  <a:ea typeface="方正仿宋简体" panose="02000000000000000000" charset="-122"/>
                  <a:cs typeface="+mn-cs"/>
                </a:rPr>
                <a:t>审查团购审批手续的合规性，以及资金滞留风险。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200" name="组合 43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201" name="矩形: 圆角 45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7030A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202" name="文本框 46"/>
              <p:cNvSpPr txBox="1"/>
              <p:nvPr/>
            </p:nvSpPr>
            <p:spPr>
              <a:xfrm>
                <a:off x="1424155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prstClr val="white"/>
                    </a:solidFill>
                    <a:latin typeface="+mn-ea"/>
                    <a:ea typeface="+mn-ea"/>
                    <a:cs typeface="+mn-cs"/>
                  </a:rPr>
                  <a:t>团购问题</a:t>
                </a:r>
                <a:endParaRPr lang="zh-CN" altLang="en-US" sz="1400" b="1" dirty="0">
                  <a:solidFill>
                    <a:prstClr val="white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203" name="矩形: 圆角 44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4" name="组合 47"/>
          <p:cNvGrpSpPr/>
          <p:nvPr/>
        </p:nvGrpSpPr>
        <p:grpSpPr>
          <a:xfrm>
            <a:off x="4536982" y="2351561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5" name="矩形: 圆角 48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206" name="文本框 49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+mn-ea"/>
                  <a:ea typeface="+mn-ea"/>
                  <a:cs typeface="+mn-cs"/>
                </a:rPr>
                <a:t>库存交接与盘点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07" name="文本框 50"/>
            <p:cNvSpPr txBox="1"/>
            <p:nvPr/>
          </p:nvSpPr>
          <p:spPr>
            <a:xfrm>
              <a:off x="1199066" y="3322912"/>
              <a:ext cx="3000082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方正仿宋简体" panose="02000000000000000000" charset="-122"/>
                  <a:ea typeface="方正仿宋简体" panose="02000000000000000000" charset="-122"/>
                  <a:cs typeface="+mn-cs"/>
                </a:rPr>
                <a:t>核实交接班盘点记录，盘点覆盖率及签字完整性。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208" name="组合 51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209" name="矩形: 圆角 53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210" name="文本框 54"/>
              <p:cNvSpPr txBox="1"/>
              <p:nvPr/>
            </p:nvSpPr>
            <p:spPr>
              <a:xfrm>
                <a:off x="1424151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+mn-ea"/>
                    <a:ea typeface="+mn-ea"/>
                    <a:cs typeface="+mn-cs"/>
                  </a:rPr>
                  <a:t>月度盘点</a:t>
                </a:r>
                <a:endParaRPr lang="zh-CN" altLang="en-US" sz="1400" b="1" dirty="0">
                  <a:solidFill>
                    <a:schemeClr val="bg1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211" name="矩形: 圆角 52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212" name="图片 2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6116" y="2769684"/>
            <a:ext cx="4030574" cy="30211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三、重点问题分析</a:t>
            </a:r>
            <a:endParaRPr dirty="0"/>
          </a:p>
        </p:txBody>
      </p:sp>
      <p:sp>
        <p:nvSpPr>
          <p:cNvPr id="215" name="矩形 1"/>
          <p:cNvSpPr/>
          <p:nvPr/>
        </p:nvSpPr>
        <p:spPr>
          <a:xfrm>
            <a:off x="863600" y="1203008"/>
            <a:ext cx="5292725" cy="43473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4.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重点问题发生环节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16" name="文本框 2"/>
          <p:cNvSpPr txBox="1"/>
          <p:nvPr/>
        </p:nvSpPr>
        <p:spPr>
          <a:xfrm>
            <a:off x="683895" y="1651000"/>
            <a:ext cx="10515600" cy="1841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457200" algn="l" defTabSz="266700">
              <a:lnSpc>
                <a:spcPts val="3200"/>
              </a:lnSpc>
              <a:spcAft>
                <a:spcPts val="1000"/>
              </a:spcAft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根据问题定义，或将重点问题与检查环节做关联性分析，可以得出：</a:t>
            </a:r>
            <a:endParaRPr lang="en-US" sz="2000">
              <a:solidFill>
                <a:schemeClr val="tx1">
                  <a:alpha val="100000"/>
                </a:scheme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0" lvl="0" indent="457200" algn="l" defTabSz="266700">
              <a:lnSpc>
                <a:spcPts val="32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·</a:t>
            </a:r>
            <a:r>
              <a:rPr lang="zh-CN" sz="2000" b="1">
                <a:solidFill>
                  <a:srgbClr val="0070C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重点商品问题 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发生在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 </a:t>
            </a:r>
            <a:r>
              <a:rPr lang="zh-CN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订单入库盘点（</a:t>
            </a:r>
            <a:r>
              <a:rPr lang="en-US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50%</a:t>
            </a:r>
            <a:r>
              <a:rPr lang="zh-CN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），商品摆放（</a:t>
            </a:r>
            <a:r>
              <a:rPr lang="en-US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21%</a:t>
            </a:r>
            <a:r>
              <a:rPr lang="zh-CN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）</a:t>
            </a:r>
            <a:r>
              <a:rPr lang="zh-CN" sz="2000" b="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两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个检查环节；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</a:endParaRPr>
          </a:p>
          <a:p>
            <a:pPr marL="0" lvl="0" indent="457200" algn="l" defTabSz="266700">
              <a:lnSpc>
                <a:spcPts val="32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·</a:t>
            </a:r>
            <a:r>
              <a:rPr lang="zh-CN" sz="2000" b="1" i="0" u="none" strike="noStrike">
                <a:solidFill>
                  <a:srgbClr val="0070C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商品过期问题</a:t>
            </a:r>
            <a:r>
              <a:rPr lang="zh-CN" sz="2000" b="1">
                <a:solidFill>
                  <a:srgbClr val="0070C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 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发生在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 </a:t>
            </a:r>
            <a:r>
              <a:rPr lang="zh-CN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特殊扣分项（</a:t>
            </a:r>
            <a:r>
              <a:rPr lang="en-US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43%</a:t>
            </a:r>
            <a:r>
              <a:rPr lang="zh-CN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），台账报表（</a:t>
            </a:r>
            <a:r>
              <a:rPr lang="en-US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29%</a:t>
            </a:r>
            <a:r>
              <a:rPr lang="zh-CN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）</a:t>
            </a:r>
            <a:r>
              <a:rPr lang="zh-CN" sz="2000" b="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两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个检查环节；</a:t>
            </a:r>
            <a:endParaRPr lang="zh-CN" sz="2000">
              <a:solidFill>
                <a:schemeClr val="tx1">
                  <a:alpha val="100000"/>
                </a:scheme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0" lvl="0" indent="457200" algn="l" defTabSz="266700">
              <a:lnSpc>
                <a:spcPts val="32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·</a:t>
            </a:r>
            <a:r>
              <a:rPr lang="zh-CN" sz="2000" b="1">
                <a:solidFill>
                  <a:srgbClr val="00B05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月度盘点问题</a:t>
            </a:r>
            <a:r>
              <a:rPr lang="zh-CN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、</a:t>
            </a:r>
            <a:r>
              <a:rPr lang="zh-CN" sz="2000" b="1">
                <a:solidFill>
                  <a:srgbClr val="7030A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团购问题</a:t>
            </a:r>
            <a:r>
              <a:rPr lang="zh-CN" sz="2000" b="1">
                <a:solidFill>
                  <a:srgbClr val="FFC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 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发生在单一检查环节。 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</a:endParaRPr>
          </a:p>
        </p:txBody>
      </p:sp>
      <p:graphicFrame>
        <p:nvGraphicFramePr>
          <p:cNvPr id="217" name="表格 15"/>
          <p:cNvGraphicFramePr/>
          <p:nvPr/>
        </p:nvGraphicFramePr>
        <p:xfrm>
          <a:off x="1164067" y="4124139"/>
          <a:ext cx="9874251" cy="2159000"/>
        </p:xfrm>
        <a:graphic>
          <a:graphicData uri="http://schemas.openxmlformats.org/drawingml/2006/table">
            <a:tbl>
              <a:tblPr/>
              <a:tblGrid>
                <a:gridCol w="1935864"/>
                <a:gridCol w="1290576"/>
                <a:gridCol w="1290576"/>
                <a:gridCol w="1485507"/>
                <a:gridCol w="1290576"/>
                <a:gridCol w="1290576"/>
                <a:gridCol w="1290576"/>
              </a:tblGrid>
              <a:tr h="43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PMingLiU" panose="02020500000000000000" pitchFamily="18" charset="-120"/>
                        </a:rPr>
                        <a:t>　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ea typeface="PMingLiU" panose="02020500000000000000" pitchFamily="18" charset="-12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台账报表</a:t>
                      </a:r>
                      <a:endParaRPr lang="zh-TW" altLang="en-US" sz="16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商品摆放</a:t>
                      </a:r>
                      <a:endParaRPr lang="zh-TW" altLang="en-US" sz="16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订单</a:t>
                      </a:r>
                      <a:r>
                        <a:rPr lang="zh-TW" altLang="en-US" sz="1600" b="0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入库盘点</a:t>
                      </a:r>
                      <a:endParaRPr lang="zh-TW" altLang="en-US" sz="16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 strike="noStrike">
                          <a:solidFill>
                            <a:schemeClr val="bg2">
                              <a:lumMod val="50000"/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销售行为</a:t>
                      </a:r>
                      <a:endParaRPr sz="1600" b="0" i="0" u="none" strike="noStrike">
                        <a:solidFill>
                          <a:schemeClr val="bg2">
                            <a:lumMod val="50000"/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0" i="0" u="none" strike="noStrike">
                          <a:solidFill>
                            <a:schemeClr val="bg2">
                              <a:lumMod val="50000"/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仓库管理</a:t>
                      </a:r>
                      <a:endParaRPr lang="zh-CN" sz="1600" b="0" i="0" u="none" strike="noStrike">
                        <a:solidFill>
                          <a:schemeClr val="bg2">
                            <a:lumMod val="50000"/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0" i="0" u="none" strike="noStrike">
                          <a:solidFill>
                            <a:schemeClr val="bg2">
                              <a:lumMod val="50000"/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特殊扣分项</a:t>
                      </a:r>
                      <a:endParaRPr lang="zh-CN" sz="1600" b="0" i="0" u="none" strike="noStrike">
                        <a:solidFill>
                          <a:schemeClr val="bg2">
                            <a:lumMod val="50000"/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重点商品</a:t>
                      </a:r>
                      <a:endParaRPr lang="zh-TW" altLang="en-US" sz="16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21%</a:t>
                      </a:r>
                      <a:endParaRPr lang="en-US"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50%</a:t>
                      </a:r>
                      <a:endParaRPr lang="en-US" sz="1600" b="0" i="0" u="none" strike="noStrike">
                        <a:solidFill>
                          <a:srgbClr val="FFFFFF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14%</a:t>
                      </a:r>
                      <a:r>
                        <a:rPr sz="16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　</a:t>
                      </a:r>
                      <a:endParaRPr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　</a:t>
                      </a:r>
                      <a:endParaRPr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14%</a:t>
                      </a:r>
                      <a:r>
                        <a:rPr sz="16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　</a:t>
                      </a:r>
                      <a:endParaRPr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月度盘点</a:t>
                      </a:r>
                      <a:endParaRPr lang="zh-TW" altLang="en-US" sz="16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　</a:t>
                      </a:r>
                      <a:endParaRPr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　</a:t>
                      </a:r>
                      <a:endParaRPr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6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90204" pitchFamily="34" charset="0"/>
                          <a:ea typeface="PMingLiU" panose="02020500000000000000" pitchFamily="18" charset="-120"/>
                        </a:rPr>
                        <a:t>100%</a:t>
                      </a:r>
                      <a:endParaRPr lang="en-US" altLang="zh-TW" sz="16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90204" pitchFamily="34" charset="0"/>
                        <a:ea typeface="PMingLiU" panose="02020500000000000000" pitchFamily="18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B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PMingLiU" panose="02020500000000000000" pitchFamily="18" charset="-120"/>
                        </a:rPr>
                        <a:t>　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ea typeface="PMingLiU" panose="02020500000000000000" pitchFamily="18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PMingLiU" panose="02020500000000000000" pitchFamily="18" charset="-120"/>
                        </a:rPr>
                        <a:t>　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ea typeface="PMingLiU" panose="02020500000000000000" pitchFamily="18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PMingLiU" panose="02020500000000000000" pitchFamily="18" charset="-120"/>
                        </a:rPr>
                        <a:t>　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ea typeface="PMingLiU" panose="02020500000000000000" pitchFamily="18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商品过期</a:t>
                      </a:r>
                      <a:endParaRPr lang="zh-TW" altLang="en-US" sz="16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29%</a:t>
                      </a:r>
                      <a:endParaRPr lang="en-US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B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　</a:t>
                      </a:r>
                      <a:endParaRPr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90204" pitchFamily="34" charset="0"/>
                          <a:ea typeface="PMingLiU" panose="02020500000000000000" pitchFamily="18" charset="-120"/>
                        </a:rPr>
                        <a:t>　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90204" pitchFamily="34" charset="0"/>
                        <a:ea typeface="PMingLiU" panose="02020500000000000000" pitchFamily="18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14%</a:t>
                      </a:r>
                      <a:endParaRPr lang="en-US"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14%</a:t>
                      </a:r>
                      <a:r>
                        <a:rPr sz="16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　</a:t>
                      </a:r>
                      <a:endParaRPr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>
                              <a:alpha val="100000"/>
                            </a:scheme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43%</a:t>
                      </a:r>
                      <a:endParaRPr lang="en-US" sz="1600" b="0" i="0" u="none" strike="noStrike">
                        <a:solidFill>
                          <a:schemeClr val="bg1">
                            <a:alpha val="100000"/>
                          </a:scheme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团购问题</a:t>
                      </a:r>
                      <a:endParaRPr lang="zh-TW" altLang="en-US" sz="1600" b="0" i="0" u="none" strike="noStrike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　</a:t>
                      </a:r>
                      <a:endParaRPr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　</a:t>
                      </a:r>
                      <a:endParaRPr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>
                              <a:alpha val="100000"/>
                            </a:scheme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100%</a:t>
                      </a:r>
                      <a:endParaRPr lang="en-US" sz="1600" b="0" i="0" u="none" strike="noStrike">
                        <a:solidFill>
                          <a:schemeClr val="bg1">
                            <a:alpha val="100000"/>
                          </a:scheme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B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　</a:t>
                      </a:r>
                      <a:endParaRPr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600" b="0" i="0" u="none" strike="noStrike">
                        <a:solidFill>
                          <a:srgbClr val="FFFFFF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Arial" panose="020B0604020202090204"/>
                          <a:ea typeface="PMingLiU"/>
                          <a:cs typeface="+mn-cs"/>
                        </a:rPr>
                        <a:t>　</a:t>
                      </a:r>
                      <a:endParaRPr sz="16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Arial" panose="020B0604020202090204"/>
                        <a:ea typeface="PMingLiU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三、重点问题分析</a:t>
            </a:r>
            <a:endParaRPr dirty="0"/>
          </a:p>
        </p:txBody>
      </p:sp>
      <p:sp>
        <p:nvSpPr>
          <p:cNvPr id="220" name="矩形 1"/>
          <p:cNvSpPr/>
          <p:nvPr/>
        </p:nvSpPr>
        <p:spPr>
          <a:xfrm>
            <a:off x="863600" y="90836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5.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重点商品问题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21" name="文本框 2"/>
          <p:cNvSpPr txBox="1"/>
          <p:nvPr/>
        </p:nvSpPr>
        <p:spPr>
          <a:xfrm>
            <a:off x="683895" y="1356360"/>
            <a:ext cx="10515600" cy="25438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en-US" sz="2000">
                <a:latin typeface="方正仿宋简体" panose="02000000000000000000" charset="-122"/>
                <a:ea typeface="方正仿宋简体" panose="02000000000000000000" charset="-122"/>
              </a:rPr>
              <a:t>61%</a:t>
            </a: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的重点问题涉及重点商品，共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15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起</a:t>
            </a:r>
            <a:endParaRPr lang="zh-CN" sz="2000">
              <a:solidFill>
                <a:schemeClr val="tx1">
                  <a:alpha val="100000"/>
                </a:scheme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主要发生于</a:t>
            </a:r>
            <a:r>
              <a:rPr lang="zh-CN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订单入库盘点（</a:t>
            </a:r>
            <a:r>
              <a:rPr lang="en-US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50%</a:t>
            </a:r>
            <a:r>
              <a:rPr lang="zh-CN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）和商品摆放（</a:t>
            </a:r>
            <a:r>
              <a:rPr lang="en-US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21%</a:t>
            </a:r>
            <a:r>
              <a:rPr lang="zh-CN" sz="2000" b="1">
                <a:solidFill>
                  <a:schemeClr val="tx1">
                    <a:alpha val="100000"/>
                  </a:schemeClr>
                </a:solidFill>
                <a:latin typeface="方正仿宋简体" panose="02000000000000000000" charset="-122"/>
                <a:ea typeface="方正仿宋简体" panose="02000000000000000000" charset="-122"/>
              </a:rPr>
              <a:t>）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，</a:t>
            </a: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其余为销售行为和特殊扣分环节</a:t>
            </a:r>
            <a:endParaRPr lang="zh-CN" sz="200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重点商品涉及：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中华烟（</a:t>
            </a:r>
            <a:r>
              <a:rPr lang="en-US" sz="2000" b="1">
                <a:latin typeface="方正仿宋简体" panose="02000000000000000000" charset="-122"/>
                <a:ea typeface="方正仿宋简体" panose="02000000000000000000" charset="-122"/>
              </a:rPr>
              <a:t>60%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），五粮液（</a:t>
            </a:r>
            <a:r>
              <a:rPr lang="en-US" sz="2000" b="1">
                <a:latin typeface="方正仿宋简体" panose="02000000000000000000" charset="-122"/>
                <a:ea typeface="方正仿宋简体" panose="02000000000000000000" charset="-122"/>
              </a:rPr>
              <a:t>33%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）、茅台（</a:t>
            </a:r>
            <a:r>
              <a:rPr lang="en-US" sz="2000" b="1">
                <a:latin typeface="方正仿宋简体" panose="02000000000000000000" charset="-122"/>
                <a:ea typeface="方正仿宋简体" panose="02000000000000000000" charset="-122"/>
              </a:rPr>
              <a:t>7%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）</a:t>
            </a:r>
            <a:endParaRPr lang="zh-CN" sz="2000" b="1"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具体表现为：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盘亏（</a:t>
            </a:r>
            <a:r>
              <a:rPr lang="en-US" sz="2000" b="1">
                <a:latin typeface="方正仿宋简体" panose="02000000000000000000" charset="-122"/>
                <a:ea typeface="方正仿宋简体" panose="02000000000000000000" charset="-122"/>
              </a:rPr>
              <a:t>29%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），未过机销售（</a:t>
            </a:r>
            <a:r>
              <a:rPr lang="en-US" sz="2000" b="1">
                <a:latin typeface="方正仿宋简体" panose="02000000000000000000" charset="-122"/>
                <a:ea typeface="方正仿宋简体" panose="02000000000000000000" charset="-122"/>
              </a:rPr>
              <a:t>21%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），商品未出样（</a:t>
            </a:r>
            <a:r>
              <a:rPr lang="en-US" sz="2000" b="1">
                <a:latin typeface="方正仿宋简体" panose="02000000000000000000" charset="-122"/>
                <a:ea typeface="方正仿宋简体" panose="02000000000000000000" charset="-122"/>
              </a:rPr>
              <a:t>14%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），中华软硬库存串项（</a:t>
            </a:r>
            <a:r>
              <a:rPr lang="en-US" sz="2000" b="1">
                <a:latin typeface="方正仿宋简体" panose="02000000000000000000" charset="-122"/>
                <a:ea typeface="方正仿宋简体" panose="02000000000000000000" charset="-122"/>
              </a:rPr>
              <a:t>14%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），价签问题（</a:t>
            </a:r>
            <a:r>
              <a:rPr lang="en-US" sz="2000" b="1">
                <a:latin typeface="方正仿宋简体" panose="02000000000000000000" charset="-122"/>
                <a:ea typeface="方正仿宋简体" panose="02000000000000000000" charset="-122"/>
              </a:rPr>
              <a:t>21%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）</a:t>
            </a:r>
            <a:endParaRPr lang="zh-CN" sz="2000" b="1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222" name="图片 221"/>
          <p:cNvPicPr>
            <a:picLocks noChangeAspect="1"/>
          </p:cNvPicPr>
          <p:nvPr/>
        </p:nvPicPr>
        <p:blipFill>
          <a:blip r:embed="rId1"/>
          <a:srcRect l="28746" t="733" r="28377"/>
          <a:stretch>
            <a:fillRect/>
          </a:stretch>
        </p:blipFill>
        <p:spPr>
          <a:xfrm>
            <a:off x="1263015" y="3897630"/>
            <a:ext cx="2501265" cy="2912745"/>
          </a:xfrm>
          <a:prstGeom prst="rect">
            <a:avLst/>
          </a:prstGeom>
        </p:spPr>
      </p:pic>
      <p:pic>
        <p:nvPicPr>
          <p:cNvPr id="223" name="图片 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740" y="3888740"/>
            <a:ext cx="3081655" cy="2921635"/>
          </a:xfrm>
          <a:prstGeom prst="rect">
            <a:avLst/>
          </a:prstGeom>
        </p:spPr>
      </p:pic>
      <p:pic>
        <p:nvPicPr>
          <p:cNvPr id="224" name="图片 2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615" y="3900170"/>
            <a:ext cx="3512185" cy="2943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三、重点问题分析</a:t>
            </a:r>
            <a:endParaRPr dirty="0"/>
          </a:p>
        </p:txBody>
      </p:sp>
      <p:sp>
        <p:nvSpPr>
          <p:cNvPr id="227" name="矩形 1"/>
          <p:cNvSpPr/>
          <p:nvPr/>
        </p:nvSpPr>
        <p:spPr>
          <a:xfrm>
            <a:off x="1243965" y="896303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5.1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重点商品盘亏</a:t>
            </a: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/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盘盈问题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28" name="文本框 2"/>
          <p:cNvSpPr txBox="1"/>
          <p:nvPr/>
        </p:nvSpPr>
        <p:spPr>
          <a:xfrm>
            <a:off x="924560" y="1258570"/>
            <a:ext cx="10495915" cy="486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defTabSz="266700">
              <a:lnSpc>
                <a:spcPts val="3200"/>
              </a:lnSpc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重点商品问题以“账实不符”为主要问题点，也包含商品展示和价签等问题。</a:t>
            </a:r>
            <a:br>
              <a:rPr lang="en-US" altLang="zh-CN" sz="2000" dirty="0">
                <a:latin typeface="方正仿宋简体" panose="02000000000000000000" charset="-122"/>
                <a:ea typeface="方正仿宋简体" panose="02000000000000000000" charset="-122"/>
              </a:rPr>
            </a:b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29" name="表格 10"/>
          <p:cNvGraphicFramePr/>
          <p:nvPr/>
        </p:nvGraphicFramePr>
        <p:xfrm>
          <a:off x="542290" y="1744980"/>
          <a:ext cx="11271250" cy="46913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8400"/>
                <a:gridCol w="1206500"/>
                <a:gridCol w="88963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加油站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商品摆放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前卫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黄金叶天叶、</a:t>
                      </a:r>
                      <a:r>
                        <a:rPr lang="zh-CN" sz="1600" b="0" i="0" u="none" strike="noStrike">
                          <a:solidFill>
                            <a:schemeClr val="accent6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茅台</a:t>
                      </a: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未出样。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867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商品摆放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marL="0" lvl="0" indent="0" algn="ctr" defTabSz="91440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Arial" panose="020B0604020202090204"/>
                          <a:ea typeface="微软雅黑" panose="020B0503020204020204" charset="-122"/>
                          <a:cs typeface="+mn-cs"/>
                        </a:defRPr>
                      </a:pP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凯燕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marL="0" lvl="0" indent="0" algn="l" defTabSz="91440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Arial" panose="020B0604020202090204"/>
                          <a:ea typeface="微软雅黑" panose="020B0503020204020204" charset="-122"/>
                          <a:cs typeface="+mn-cs"/>
                        </a:defRPr>
                      </a:pPr>
                      <a:r>
                        <a:rPr lang="zh-CN" sz="1600" b="0" i="0" u="none" strike="noStrike">
                          <a:solidFill>
                            <a:schemeClr val="accent6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五粮液</a:t>
                      </a: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在仓库，未出样。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854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商品摆放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常德路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600">
                          <a:solidFill>
                            <a:schemeClr val="accent6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五粮液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第八代未设价签。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87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现场抽盘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青浦第一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便利店抽盘，</a:t>
                      </a:r>
                      <a:r>
                        <a:rPr lang="zh-CN" sz="1600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软中华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账实不符，差</a:t>
                      </a:r>
                      <a:r>
                        <a:rPr lang="en-US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150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包【站内解释为走了团购未过机、无团购申请】。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860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600" dirty="0">
                          <a:effectLst/>
                          <a:latin typeface="+mn-ea"/>
                          <a:sym typeface="+mn-ea"/>
                        </a:rPr>
                        <a:t>现场抽盘</a:t>
                      </a:r>
                      <a:endParaRPr lang="zh-CN" altLang="zh-TW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绿中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b="0" i="0" u="none" strike="noStrike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硬中华</a:t>
                      </a: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盘亏40包，疑似因</a:t>
                      </a:r>
                      <a:r>
                        <a:rPr lang="en-US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4</a:t>
                      </a: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条为团购价销售但未过机。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860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600" dirty="0">
                          <a:effectLst/>
                          <a:latin typeface="+mn-ea"/>
                          <a:sym typeface="+mn-ea"/>
                        </a:rPr>
                        <a:t>现场抽盘</a:t>
                      </a:r>
                      <a:endParaRPr lang="zh-TW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叶新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b="0" i="0" u="none" strike="noStrike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软中华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盘亏</a:t>
                      </a:r>
                      <a:r>
                        <a:rPr lang="en-US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10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包未过机销售。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841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600" dirty="0">
                          <a:effectLst/>
                          <a:latin typeface="+mn-ea"/>
                          <a:sym typeface="+mn-ea"/>
                        </a:rPr>
                        <a:t>现场抽盘</a:t>
                      </a:r>
                      <a:endParaRPr lang="zh-TW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崇明第七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b="0" i="0" u="none" strike="noStrike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硬</a:t>
                      </a:r>
                      <a:r>
                        <a:rPr lang="zh-CN" sz="1600" b="0" i="0" u="none" strike="noStrike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中华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盘盈</a:t>
                      </a:r>
                      <a:r>
                        <a:rPr lang="en-US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20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包。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873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600" dirty="0">
                          <a:effectLst/>
                          <a:latin typeface="+mn-ea"/>
                          <a:sym typeface="+mn-ea"/>
                        </a:rPr>
                        <a:t>现场抽盘</a:t>
                      </a:r>
                      <a:endParaRPr lang="zh-TW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崇明第十四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b="0" i="0" u="none" strike="noStrike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硬中华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盘亏</a:t>
                      </a:r>
                      <a:r>
                        <a:rPr lang="en-US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10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包，软中华盘盈</a:t>
                      </a:r>
                      <a:r>
                        <a:rPr lang="en-US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10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包，员工解释为过错机了。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860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600" dirty="0">
                          <a:effectLst/>
                          <a:latin typeface="+mn-ea"/>
                          <a:sym typeface="+mn-ea"/>
                        </a:rPr>
                        <a:t>现场抽盘</a:t>
                      </a:r>
                      <a:endParaRPr lang="zh-TW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绿地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b="0" i="0" u="none" strike="noStrike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软中华和硬中华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系统库存与抽盘数量串了。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8608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600" dirty="0">
                          <a:effectLst/>
                          <a:latin typeface="+mn-ea"/>
                          <a:sym typeface="+mn-ea"/>
                        </a:rPr>
                        <a:t>现场抽盘</a:t>
                      </a:r>
                      <a:endParaRPr lang="zh-TW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宝杨第二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b="0" i="0" u="none" strike="noStrike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软中华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盘盈</a:t>
                      </a:r>
                      <a:r>
                        <a:rPr lang="en-US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10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包。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873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600" dirty="0">
                          <a:effectLst/>
                          <a:latin typeface="+mn-ea"/>
                          <a:sym typeface="+mn-ea"/>
                        </a:rPr>
                        <a:t>现场抽盘</a:t>
                      </a:r>
                      <a:endParaRPr lang="zh-TW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三新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b="0" i="0" u="none" strike="noStrike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软中华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盘亏</a:t>
                      </a:r>
                      <a:r>
                        <a:rPr lang="en-US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10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包。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三、重点问题分析</a:t>
            </a:r>
            <a:endParaRPr dirty="0"/>
          </a:p>
        </p:txBody>
      </p:sp>
      <p:sp>
        <p:nvSpPr>
          <p:cNvPr id="232" name="矩形 1"/>
          <p:cNvSpPr/>
          <p:nvPr/>
        </p:nvSpPr>
        <p:spPr>
          <a:xfrm>
            <a:off x="1243965" y="896303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5.1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重点商品盘亏</a:t>
            </a: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/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盘盈问题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graphicFrame>
        <p:nvGraphicFramePr>
          <p:cNvPr id="233" name="表格 10"/>
          <p:cNvGraphicFramePr/>
          <p:nvPr/>
        </p:nvGraphicFramePr>
        <p:xfrm>
          <a:off x="542290" y="1366520"/>
          <a:ext cx="11270615" cy="225996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2050"/>
                <a:gridCol w="967740"/>
                <a:gridCol w="914082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加油站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现场抽盘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莘庄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硬中华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盘盈</a:t>
                      </a:r>
                      <a:r>
                        <a:rPr lang="en-US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1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条、</a:t>
                      </a:r>
                      <a:r>
                        <a:rPr lang="zh-CN" sz="1600" b="0" i="0" u="none" strike="noStrike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软中华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盘亏</a:t>
                      </a:r>
                      <a:r>
                        <a:rPr lang="en-US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1</a:t>
                      </a: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条。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销售行为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绿中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b="0" i="0" u="none" strike="noStrike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硬中华</a:t>
                      </a: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4条</a:t>
                      </a: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未过机，先销售，货款已存入银行。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56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销售行为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marL="0" lvl="0" indent="0" algn="ctr" defTabSz="91440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Arial" panose="020B0604020202090204"/>
                          <a:ea typeface="微软雅黑" panose="020B0503020204020204" charset="-122"/>
                          <a:cs typeface="+mn-cs"/>
                        </a:defRPr>
                      </a:pP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崇明第七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marL="0" lvl="0" indent="0" algn="l" defTabSz="91440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Arial" panose="020B0604020202090204"/>
                          <a:ea typeface="微软雅黑" panose="020B0503020204020204" charset="-122"/>
                          <a:cs typeface="+mn-cs"/>
                        </a:defRPr>
                      </a:pPr>
                      <a:r>
                        <a:rPr lang="zh-CN" sz="1600" b="0" i="0" u="none" strike="noStrike">
                          <a:solidFill>
                            <a:srgbClr val="0070C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软中华</a:t>
                      </a:r>
                      <a:r>
                        <a:rPr lang="en-US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10</a:t>
                      </a: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包存在未过机销售行为。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3562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商品摆放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锦秋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>
                    <a:lnR w="6350">
                      <a:solidFill>
                        <a:srgbClr val="CBD5E1"/>
                      </a:solidFill>
                      <a:prstDash val="solid"/>
                    </a:lnR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hangingPunct="1">
                        <a:lnSpc>
                          <a:spcPct val="100000"/>
                        </a:lnSpc>
                      </a:pPr>
                      <a:r>
                        <a:rPr lang="zh-CN" sz="1600" b="0" i="0" u="none" strike="noStrike">
                          <a:solidFill>
                            <a:schemeClr val="tx2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五粮液第八代</a:t>
                      </a: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标价被遮挡。便利店内只有这一处出样，未能见标价牌。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商品摆放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华辉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hangingPunct="1">
                        <a:lnSpc>
                          <a:spcPct val="100000"/>
                        </a:lnSpc>
                      </a:pPr>
                      <a:r>
                        <a:rPr lang="zh-CN" sz="1600" b="0" i="0" u="none" strike="noStrike">
                          <a:solidFill>
                            <a:schemeClr val="tx2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微软雅黑" panose="020B0503020204020204" charset="-122"/>
                        </a:rPr>
                        <a:t>五粮液第八代</a:t>
                      </a:r>
                      <a:r>
                        <a:rPr lang="zh-CN" sz="1600" b="0" i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未设置价签。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三、重点问题分析</a:t>
            </a:r>
            <a:endParaRPr dirty="0"/>
          </a:p>
        </p:txBody>
      </p:sp>
      <p:sp>
        <p:nvSpPr>
          <p:cNvPr id="236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6.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月度盘点问题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37" name="文本框 2"/>
          <p:cNvSpPr txBox="1"/>
          <p:nvPr/>
        </p:nvSpPr>
        <p:spPr>
          <a:xfrm>
            <a:off x="683895" y="1651000"/>
            <a:ext cx="10515600" cy="911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共</a:t>
            </a:r>
            <a:r>
              <a:rPr lang="en-US" sz="2000">
                <a:latin typeface="方正仿宋简体" panose="02000000000000000000" charset="-122"/>
                <a:ea typeface="方正仿宋简体" panose="02000000000000000000" charset="-122"/>
              </a:rPr>
              <a:t>1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起</a:t>
            </a: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，占全部问题的</a:t>
            </a:r>
            <a:r>
              <a:rPr lang="en-US" sz="2000">
                <a:latin typeface="方正仿宋简体" panose="02000000000000000000" charset="-122"/>
                <a:ea typeface="方正仿宋简体" panose="02000000000000000000" charset="-122"/>
              </a:rPr>
              <a:t>4</a:t>
            </a:r>
            <a:r>
              <a:rPr lang="en-US" sz="2000" b="1">
                <a:solidFill>
                  <a:srgbClr val="FFC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%</a:t>
            </a:r>
            <a:endParaRPr lang="en-US" sz="2000" b="1">
              <a:solidFill>
                <a:srgbClr val="FFC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具体表现为：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无月度盘点</a:t>
            </a: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（</a:t>
            </a:r>
            <a:r>
              <a:rPr lang="en-US" sz="2000">
                <a:latin typeface="方正仿宋简体" panose="02000000000000000000" charset="-122"/>
                <a:ea typeface="方正仿宋简体" panose="02000000000000000000" charset="-122"/>
              </a:rPr>
              <a:t>100%</a:t>
            </a: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）</a:t>
            </a:r>
            <a:endParaRPr lang="zh-CN" sz="200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38" name="表格 10"/>
          <p:cNvGraphicFramePr/>
          <p:nvPr/>
        </p:nvGraphicFramePr>
        <p:xfrm>
          <a:off x="1163955" y="2781300"/>
          <a:ext cx="10034905" cy="42849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02080"/>
                <a:gridCol w="1376045"/>
                <a:gridCol w="7256780"/>
              </a:tblGrid>
              <a:tr h="5194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/>
                        <a:t>加油站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6407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600" dirty="0">
                          <a:effectLst/>
                          <a:latin typeface="+mn-ea"/>
                          <a:sym typeface="+mn-ea"/>
                        </a:rPr>
                        <a:t>月度盘点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茸平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60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未见月度非油库存手工盘点表。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三、重点问题分析</a:t>
            </a:r>
            <a:endParaRPr dirty="0"/>
          </a:p>
        </p:txBody>
      </p:sp>
      <p:sp>
        <p:nvSpPr>
          <p:cNvPr id="241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7.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团购问题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42" name="文本框 9"/>
          <p:cNvSpPr txBox="1"/>
          <p:nvPr/>
        </p:nvSpPr>
        <p:spPr>
          <a:xfrm>
            <a:off x="683895" y="1651000"/>
            <a:ext cx="10515600" cy="495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共</a:t>
            </a:r>
            <a:r>
              <a:rPr lang="en-US" sz="2000">
                <a:latin typeface="方正仿宋简体" panose="02000000000000000000" charset="-122"/>
                <a:ea typeface="方正仿宋简体" panose="02000000000000000000" charset="-122"/>
              </a:rPr>
              <a:t>2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起</a:t>
            </a: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，占全部问题的</a:t>
            </a:r>
            <a:r>
              <a:rPr lang="en-US" sz="2000">
                <a:latin typeface="方正仿宋简体" panose="02000000000000000000" charset="-122"/>
                <a:ea typeface="方正仿宋简体" panose="02000000000000000000" charset="-122"/>
              </a:rPr>
              <a:t>9</a:t>
            </a:r>
            <a:r>
              <a:rPr lang="en-US" sz="2000" b="1">
                <a:solidFill>
                  <a:srgbClr val="FFC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%</a:t>
            </a:r>
            <a:endParaRPr lang="en-US" sz="2000" b="1">
              <a:solidFill>
                <a:srgbClr val="FFC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43" name="表格 12"/>
          <p:cNvGraphicFramePr/>
          <p:nvPr/>
        </p:nvGraphicFramePr>
        <p:xfrm>
          <a:off x="604169" y="2356352"/>
          <a:ext cx="6117055" cy="38481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88059"/>
                <a:gridCol w="3828996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典型问题</a:t>
                      </a:r>
                      <a:endParaRPr lang="zh-TW" altLang="en-US" sz="20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问题详情</a:t>
                      </a:r>
                      <a:endParaRPr lang="zh-TW" altLang="en-US" sz="20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644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  <a:cs typeface="+mn-cs"/>
                        </a:rPr>
                        <a:t>先货后款、零卖整团</a:t>
                      </a:r>
                      <a:endParaRPr lang="zh-CN" sz="2000" b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  <a:cs typeface="+mn-cs"/>
                        </a:rPr>
                        <a:t>便利店抽盘，中华（软）账实不符，差</a:t>
                      </a:r>
                      <a:r>
                        <a:rPr lang="en-US" sz="2000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  <a:cs typeface="+mn-cs"/>
                        </a:rPr>
                        <a:t>150</a:t>
                      </a:r>
                      <a:r>
                        <a:rPr lang="zh-CN" sz="2000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  <a:cs typeface="+mn-cs"/>
                        </a:rPr>
                        <a:t>包【站内解释为走了团购未过机、无团购申请】（绿中）</a:t>
                      </a:r>
                      <a:endParaRPr lang="zh-CN" sz="2000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1644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u="none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  <a:cs typeface="+mn-cs"/>
                        </a:rPr>
                        <a:t>商品未过机、无审批单</a:t>
                      </a:r>
                      <a:endParaRPr lang="zh-CN" sz="2000" b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 b="1">
                          <a:latin typeface="方正仿宋简体" panose="02000000000000000000" charset="-122"/>
                          <a:ea typeface="方正仿宋简体" panose="02000000000000000000" charset="-122"/>
                          <a:sym typeface="+mn-ea"/>
                        </a:rPr>
                        <a:t>团购商品未及时过机、且无审批单</a:t>
                      </a:r>
                      <a:r>
                        <a:rPr lang="zh-CN" sz="2000">
                          <a:solidFill>
                            <a:schemeClr val="tx1">
                              <a:alpha val="100000"/>
                            </a:schemeClr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  <a:cs typeface="+mn-cs"/>
                        </a:rPr>
                        <a:t>（青浦第一）</a:t>
                      </a:r>
                      <a:endParaRPr lang="zh-CN" sz="2000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  <p:sp>
        <p:nvSpPr>
          <p:cNvPr id="244" name="文本框 13"/>
          <p:cNvSpPr txBox="1"/>
          <p:nvPr/>
        </p:nvSpPr>
        <p:spPr>
          <a:xfrm>
            <a:off x="7538147" y="2543510"/>
            <a:ext cx="3911600" cy="806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b="1">
                <a:latin typeface="方正仿宋简体" panose="02000000000000000000" charset="-122"/>
                <a:ea typeface="方正仿宋简体" panose="02000000000000000000" charset="-122"/>
              </a:rPr>
              <a:t>先货后款且零卖整团造成账实不符（绿中）</a:t>
            </a:r>
            <a:endParaRPr lang="zh-CN" b="1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45" name="文本框 14"/>
          <p:cNvSpPr txBox="1"/>
          <p:nvPr/>
        </p:nvSpPr>
        <p:spPr>
          <a:xfrm>
            <a:off x="7264746" y="6051550"/>
            <a:ext cx="4414921" cy="806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b="1">
                <a:latin typeface="方正仿宋简体" panose="02000000000000000000" charset="-122"/>
                <a:ea typeface="方正仿宋简体" panose="02000000000000000000" charset="-122"/>
              </a:rPr>
              <a:t>团购商品未及时过机、且无审批单</a:t>
            </a:r>
            <a:endParaRPr lang="zh-CN" b="1">
              <a:latin typeface="方正仿宋简体" panose="02000000000000000000" charset="-122"/>
              <a:ea typeface="方正仿宋简体" panose="02000000000000000000" charset="-122"/>
            </a:endParaRPr>
          </a:p>
          <a:p>
            <a:pPr algn="ctr"/>
            <a:r>
              <a:rPr lang="zh-CN" b="1">
                <a:latin typeface="方正仿宋简体" panose="02000000000000000000" charset="-122"/>
                <a:ea typeface="方正仿宋简体" panose="02000000000000000000" charset="-122"/>
              </a:rPr>
              <a:t>（青浦第一）</a:t>
            </a:r>
            <a:endParaRPr lang="zh-CN" b="1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246" name="图片 2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4112" y="74680"/>
            <a:ext cx="3595383" cy="2468830"/>
          </a:xfrm>
          <a:prstGeom prst="rect">
            <a:avLst/>
          </a:prstGeom>
        </p:spPr>
      </p:pic>
      <p:pic>
        <p:nvPicPr>
          <p:cNvPr id="247" name="图片 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403" y="3349960"/>
            <a:ext cx="2245088" cy="2701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三、重点问题分析</a:t>
            </a:r>
            <a:endParaRPr dirty="0"/>
          </a:p>
        </p:txBody>
      </p:sp>
      <p:sp>
        <p:nvSpPr>
          <p:cNvPr id="250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8.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商品过期问题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51" name="文本框 10"/>
          <p:cNvSpPr txBox="1"/>
          <p:nvPr/>
        </p:nvSpPr>
        <p:spPr>
          <a:xfrm>
            <a:off x="683895" y="1651000"/>
            <a:ext cx="10515600" cy="901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共</a:t>
            </a:r>
            <a:r>
              <a:rPr lang="en-US" sz="2000">
                <a:latin typeface="方正仿宋简体" panose="02000000000000000000" charset="-122"/>
                <a:ea typeface="方正仿宋简体" panose="02000000000000000000" charset="-122"/>
              </a:rPr>
              <a:t>7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起</a:t>
            </a: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，占全部问题的</a:t>
            </a:r>
            <a:r>
              <a:rPr lang="en-US" sz="2000">
                <a:latin typeface="方正仿宋简体" panose="02000000000000000000" charset="-122"/>
                <a:ea typeface="方正仿宋简体" panose="02000000000000000000" charset="-122"/>
              </a:rPr>
              <a:t>28</a:t>
            </a:r>
            <a:r>
              <a:rPr lang="en-US" sz="2000" b="1">
                <a:solidFill>
                  <a:srgbClr val="FFC000">
                    <a:alpha val="100000"/>
                  </a:srgbClr>
                </a:solidFill>
                <a:latin typeface="方正仿宋简体" panose="02000000000000000000" charset="-122"/>
                <a:ea typeface="方正仿宋简体" panose="02000000000000000000" charset="-122"/>
              </a:rPr>
              <a:t>%</a:t>
            </a:r>
            <a:endParaRPr lang="en-US" sz="2000" b="1">
              <a:solidFill>
                <a:srgbClr val="FFC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sz="2000">
                <a:latin typeface="方正仿宋简体" panose="02000000000000000000" charset="-122"/>
                <a:ea typeface="方正仿宋简体" panose="02000000000000000000" charset="-122"/>
              </a:rPr>
              <a:t>表现为</a:t>
            </a:r>
            <a:r>
              <a:rPr lang="zh-CN" sz="2000" b="1">
                <a:latin typeface="方正仿宋简体" panose="02000000000000000000" charset="-122"/>
                <a:ea typeface="方正仿宋简体" panose="02000000000000000000" charset="-122"/>
              </a:rPr>
              <a:t>过期商品未及时销毁</a:t>
            </a:r>
            <a:endParaRPr lang="en-US" sz="2000" b="1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6720198" y="3408095"/>
            <a:ext cx="4729671" cy="4508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b="1">
                <a:latin typeface="方正仿宋简体" panose="02000000000000000000" charset="-122"/>
                <a:ea typeface="方正仿宋简体" panose="02000000000000000000" charset="-122"/>
              </a:rPr>
              <a:t>店内有过期商品在售（共富、三新、华浦）</a:t>
            </a:r>
            <a:endParaRPr lang="zh-CN" b="1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863600" y="5864225"/>
            <a:ext cx="3507740" cy="81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b="1">
                <a:latin typeface="方正仿宋简体" panose="02000000000000000000" charset="-122"/>
                <a:ea typeface="方正仿宋简体" panose="02000000000000000000" charset="-122"/>
              </a:rPr>
              <a:t>蚊香已过期两年，但仍在柜销售（中春路）</a:t>
            </a:r>
            <a:endParaRPr lang="zh-CN" b="1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54" name="文本框 253"/>
          <p:cNvSpPr txBox="1"/>
          <p:nvPr/>
        </p:nvSpPr>
        <p:spPr>
          <a:xfrm>
            <a:off x="4448815" y="6089686"/>
            <a:ext cx="4542766" cy="4508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b="1">
                <a:latin typeface="方正仿宋简体" panose="02000000000000000000" charset="-122"/>
                <a:ea typeface="方正仿宋简体" panose="02000000000000000000" charset="-122"/>
              </a:rPr>
              <a:t>过期商品未及时填写报废单（崇明第七）</a:t>
            </a:r>
            <a:endParaRPr lang="zh-CN" b="1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8251360" y="6089686"/>
            <a:ext cx="4546600" cy="4508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b="1">
                <a:latin typeface="方正仿宋简体" panose="02000000000000000000" charset="-122"/>
                <a:ea typeface="方正仿宋简体" panose="02000000000000000000" charset="-122"/>
              </a:rPr>
              <a:t>香烟过期（华浦）</a:t>
            </a:r>
            <a:endParaRPr lang="zh-CN" b="1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256" name="图片 255"/>
          <p:cNvPicPr>
            <a:picLocks noChangeAspect="1"/>
          </p:cNvPicPr>
          <p:nvPr/>
        </p:nvPicPr>
        <p:blipFill>
          <a:blip r:embed="rId1"/>
          <a:srcRect l="3082" t="3774" r="3595" b="8595"/>
          <a:stretch>
            <a:fillRect/>
          </a:stretch>
        </p:blipFill>
        <p:spPr>
          <a:xfrm>
            <a:off x="924302" y="3106833"/>
            <a:ext cx="3317498" cy="2544047"/>
          </a:xfrm>
          <a:prstGeom prst="rect">
            <a:avLst/>
          </a:prstGeom>
        </p:spPr>
      </p:pic>
      <p:pic>
        <p:nvPicPr>
          <p:cNvPr id="257" name="图片 256"/>
          <p:cNvPicPr>
            <a:picLocks noChangeAspect="1"/>
          </p:cNvPicPr>
          <p:nvPr/>
        </p:nvPicPr>
        <p:blipFill>
          <a:blip r:embed="rId2"/>
          <a:srcRect l="2683" t="23143" r="2491" b="22396"/>
          <a:stretch>
            <a:fillRect/>
          </a:stretch>
        </p:blipFill>
        <p:spPr>
          <a:xfrm>
            <a:off x="7198993" y="1780426"/>
            <a:ext cx="3585176" cy="1585452"/>
          </a:xfrm>
          <a:prstGeom prst="rect">
            <a:avLst/>
          </a:prstGeom>
        </p:spPr>
      </p:pic>
      <p:pic>
        <p:nvPicPr>
          <p:cNvPr id="258" name="图片 257"/>
          <p:cNvPicPr>
            <a:picLocks noChangeAspect="1"/>
          </p:cNvPicPr>
          <p:nvPr/>
        </p:nvPicPr>
        <p:blipFill>
          <a:blip r:embed="rId3"/>
          <a:srcRect l="5650" t="3774" r="3766" b="10063"/>
          <a:stretch>
            <a:fillRect/>
          </a:stretch>
        </p:blipFill>
        <p:spPr>
          <a:xfrm>
            <a:off x="8991581" y="262549"/>
            <a:ext cx="1953969" cy="1517877"/>
          </a:xfrm>
          <a:prstGeom prst="rect">
            <a:avLst/>
          </a:prstGeom>
        </p:spPr>
      </p:pic>
      <p:pic>
        <p:nvPicPr>
          <p:cNvPr id="259" name="图片 258"/>
          <p:cNvPicPr>
            <a:picLocks noChangeAspect="1"/>
          </p:cNvPicPr>
          <p:nvPr/>
        </p:nvPicPr>
        <p:blipFill>
          <a:blip r:embed="rId4"/>
          <a:srcRect l="4036" t="3354" r="3874" b="5451"/>
          <a:stretch>
            <a:fillRect/>
          </a:stretch>
        </p:blipFill>
        <p:spPr>
          <a:xfrm>
            <a:off x="6939484" y="290298"/>
            <a:ext cx="1917835" cy="1462379"/>
          </a:xfrm>
          <a:prstGeom prst="rect">
            <a:avLst/>
          </a:prstGeom>
        </p:spPr>
      </p:pic>
      <p:pic>
        <p:nvPicPr>
          <p:cNvPr id="260" name="图片 259"/>
          <p:cNvPicPr>
            <a:picLocks noChangeAspect="1"/>
          </p:cNvPicPr>
          <p:nvPr/>
        </p:nvPicPr>
        <p:blipFill>
          <a:blip r:embed="rId5"/>
          <a:srcRect l="2626" t="4541" r="3939" b="14340"/>
          <a:stretch>
            <a:fillRect/>
          </a:stretch>
        </p:blipFill>
        <p:spPr>
          <a:xfrm>
            <a:off x="4989890" y="3916333"/>
            <a:ext cx="3549379" cy="2115966"/>
          </a:xfrm>
          <a:prstGeom prst="rect">
            <a:avLst/>
          </a:prstGeom>
        </p:spPr>
      </p:pic>
      <p:pic>
        <p:nvPicPr>
          <p:cNvPr id="261" name="图片 260"/>
          <p:cNvPicPr>
            <a:picLocks noChangeAspect="1"/>
          </p:cNvPicPr>
          <p:nvPr/>
        </p:nvPicPr>
        <p:blipFill>
          <a:blip r:embed="rId6"/>
          <a:srcRect l="3145" t="5038" r="2516" b="7785"/>
          <a:stretch>
            <a:fillRect/>
          </a:stretch>
        </p:blipFill>
        <p:spPr>
          <a:xfrm rot="10800000">
            <a:off x="8857319" y="3916333"/>
            <a:ext cx="3334681" cy="2115966"/>
          </a:xfrm>
          <a:prstGeom prst="rect">
            <a:avLst/>
          </a:prstGeom>
          <a:noFill/>
          <a:ln w="0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264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5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66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</a:rPr>
              <a:t>具体结果分析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四、具体问题分析</a:t>
            </a:r>
            <a:endParaRPr lang="zh-CN" altLang="en-US" dirty="0"/>
          </a:p>
        </p:txBody>
      </p:sp>
      <p:sp>
        <p:nvSpPr>
          <p:cNvPr id="27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1.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问题分布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73" name="文本框 7"/>
          <p:cNvSpPr txBox="1"/>
          <p:nvPr/>
        </p:nvSpPr>
        <p:spPr>
          <a:xfrm>
            <a:off x="683895" y="1651000"/>
            <a:ext cx="10515600" cy="469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按照</a:t>
            </a: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检查内容大类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（即问题出现在运营过程中的环节），所有具体问题分布如图：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08" y="2148877"/>
            <a:ext cx="10276975" cy="4026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</a:t>
            </a:r>
            <a:r>
              <a:rPr lang="zh-CN" altLang="en-US" dirty="0">
                <a:sym typeface="+mn-ea"/>
              </a:rPr>
              <a:t>具体问题分析</a:t>
            </a:r>
            <a:endParaRPr lang="zh-CN" altLang="en-US" dirty="0"/>
          </a:p>
        </p:txBody>
      </p:sp>
      <p:sp>
        <p:nvSpPr>
          <p:cNvPr id="277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2.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分析方法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78" name="文本框 7"/>
          <p:cNvSpPr txBox="1"/>
          <p:nvPr/>
        </p:nvSpPr>
        <p:spPr>
          <a:xfrm>
            <a:off x="683895" y="1560195"/>
            <a:ext cx="10515600" cy="1289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旨在从问题的</a:t>
            </a: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具体描述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中</a:t>
            </a: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提取问题特征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，识别</a:t>
            </a: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共性问题。</a:t>
            </a:r>
            <a:endParaRPr lang="en-US" altLang="zh-CN" sz="2000" b="1" dirty="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有时一条问题记录可能包含多个关键词，也就是具有</a:t>
            </a: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多个特征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，因而关键词分析相比于问题类别分析更能够洞察共性。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279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848485" y="2996565"/>
            <a:ext cx="8187055" cy="3508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</a:t>
            </a:r>
            <a:r>
              <a:rPr lang="zh-CN" altLang="en-US" dirty="0">
                <a:sym typeface="+mn-ea"/>
              </a:rPr>
              <a:t>具体问题分析</a:t>
            </a:r>
            <a:endParaRPr dirty="0"/>
          </a:p>
        </p:txBody>
      </p:sp>
      <p:sp>
        <p:nvSpPr>
          <p:cNvPr id="28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3.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 店销商品摆放问题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83" name="文本框 3"/>
          <p:cNvSpPr txBox="1"/>
          <p:nvPr/>
        </p:nvSpPr>
        <p:spPr>
          <a:xfrm>
            <a:off x="683895" y="1651000"/>
            <a:ext cx="10515600" cy="501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共</a:t>
            </a:r>
            <a:r>
              <a:rPr lang="en-US" altLang="zh-CN" sz="2000" dirty="0">
                <a:solidFill>
                  <a:srgbClr val="FF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88</a:t>
            </a:r>
            <a:r>
              <a:rPr lang="zh-CN" altLang="en-US" sz="2000" dirty="0">
                <a:solidFill>
                  <a:srgbClr val="FF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起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，占全部问题的</a:t>
            </a:r>
            <a:r>
              <a:rPr lang="en-US" altLang="zh-CN" sz="2000" dirty="0">
                <a:solidFill>
                  <a:schemeClr val="accent5"/>
                </a:solidFill>
                <a:latin typeface="方正仿宋简体" panose="02000000000000000000" charset="-122"/>
                <a:ea typeface="方正仿宋简体" panose="02000000000000000000" charset="-122"/>
              </a:rPr>
              <a:t>44.4</a:t>
            </a:r>
            <a:r>
              <a:rPr lang="en-US" altLang="zh-CN" sz="2000" b="1" dirty="0">
                <a:solidFill>
                  <a:schemeClr val="accent5"/>
                </a:solidFill>
                <a:latin typeface="方正仿宋简体" panose="02000000000000000000" charset="-122"/>
                <a:ea typeface="方正仿宋简体" panose="02000000000000000000" charset="-122"/>
              </a:rPr>
              <a:t>%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，典型问题包括：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84" name="表格 5"/>
          <p:cNvGraphicFramePr/>
          <p:nvPr/>
        </p:nvGraphicFramePr>
        <p:xfrm>
          <a:off x="934720" y="2171065"/>
          <a:ext cx="10744835" cy="392366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340"/>
                <a:gridCol w="1216025"/>
                <a:gridCol w="4692650"/>
                <a:gridCol w="3258820"/>
              </a:tblGrid>
              <a:tr h="440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高频关键词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问题数量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典型问题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说明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临期</a:t>
                      </a:r>
                      <a:endParaRPr lang="zh-CN" altLang="zh-TW" sz="1800" b="1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28</a:t>
                      </a:r>
                      <a:endParaRPr lang="en-US" altLang="zh-TW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20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便利店未设置临期商品专区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</a:tr>
              <a:tr h="62420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补货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空板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26</a:t>
                      </a:r>
                      <a:endParaRPr lang="en-US" altLang="zh-TW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TW" altLang="en-US" sz="2000" b="0" i="0" u="none" strike="noStrike" kern="12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  <a:cs typeface="+mn-cs"/>
                        </a:rPr>
                        <a:t>货架未及时补货</a:t>
                      </a:r>
                      <a:endParaRPr lang="zh-CN" altLang="zh-TW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  <a:tr h="12509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价钱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标识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17</a:t>
                      </a:r>
                      <a:endParaRPr lang="zh-TW" altLang="en-US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20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商品价格签缺失、错误等</a:t>
                      </a:r>
                      <a:endParaRPr lang="zh-CN" altLang="zh-TW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</a:tr>
              <a:tr h="541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仓库未出样</a:t>
                      </a:r>
                      <a:endParaRPr lang="zh-CN" altLang="en-US" sz="1800" b="1" u="none" strike="noStrike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10</a:t>
                      </a:r>
                      <a:endParaRPr lang="zh-TW" altLang="en-US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20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仓库货物未完全出样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</a:tr>
              <a:tr h="5016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混放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杂乱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7</a:t>
                      </a:r>
                      <a:endParaRPr lang="en-US" altLang="zh-TW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20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不同口味食物混放等</a:t>
                      </a:r>
                      <a:endParaRPr lang="zh-CN" altLang="zh-TW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  <p:sp>
        <p:nvSpPr>
          <p:cNvPr id="285" name="矩形: 圆角 6"/>
          <p:cNvSpPr/>
          <p:nvPr/>
        </p:nvSpPr>
        <p:spPr>
          <a:xfrm>
            <a:off x="3910395" y="3921641"/>
            <a:ext cx="1480459" cy="41934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商品无价签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sp>
        <p:nvSpPr>
          <p:cNvPr id="286" name="矩形: 圆角 7"/>
          <p:cNvSpPr/>
          <p:nvPr/>
        </p:nvSpPr>
        <p:spPr>
          <a:xfrm>
            <a:off x="5456468" y="3920371"/>
            <a:ext cx="1283517" cy="41934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一物多签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sp>
        <p:nvSpPr>
          <p:cNvPr id="287" name="矩形: 圆角 8"/>
          <p:cNvSpPr/>
          <p:nvPr/>
        </p:nvSpPr>
        <p:spPr>
          <a:xfrm>
            <a:off x="6816394" y="3929261"/>
            <a:ext cx="1283517" cy="41934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一签多物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sp>
        <p:nvSpPr>
          <p:cNvPr id="288" name="矩形: 圆角 9"/>
          <p:cNvSpPr/>
          <p:nvPr/>
        </p:nvSpPr>
        <p:spPr>
          <a:xfrm>
            <a:off x="3910394" y="4495192"/>
            <a:ext cx="1480459" cy="41934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手写价签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sp>
        <p:nvSpPr>
          <p:cNvPr id="289" name="矩形: 圆角 10"/>
          <p:cNvSpPr/>
          <p:nvPr/>
        </p:nvSpPr>
        <p:spPr>
          <a:xfrm>
            <a:off x="5520085" y="4509797"/>
            <a:ext cx="2290028" cy="41934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价签摆放</a:t>
            </a:r>
            <a:r>
              <a:rPr lang="en-US" altLang="zh-CN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规格错误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sp>
        <p:nvSpPr>
          <p:cNvPr id="290" name="矩形: 圆角 11"/>
          <p:cNvSpPr/>
          <p:nvPr/>
        </p:nvSpPr>
        <p:spPr>
          <a:xfrm>
            <a:off x="3910393" y="2708734"/>
            <a:ext cx="1480459" cy="41934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无临期专区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sp>
        <p:nvSpPr>
          <p:cNvPr id="291" name="矩形: 圆角 12"/>
          <p:cNvSpPr/>
          <p:nvPr/>
        </p:nvSpPr>
        <p:spPr>
          <a:xfrm>
            <a:off x="5636173" y="2708734"/>
            <a:ext cx="1926611" cy="41934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临期台账不及时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sp>
        <p:nvSpPr>
          <p:cNvPr id="292" name="矩形: 圆角 13"/>
          <p:cNvSpPr/>
          <p:nvPr/>
        </p:nvSpPr>
        <p:spPr>
          <a:xfrm>
            <a:off x="3910621" y="5121094"/>
            <a:ext cx="1926611" cy="41934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活动商品未出样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sp>
        <p:nvSpPr>
          <p:cNvPr id="293" name="矩形: 圆角 15"/>
          <p:cNvSpPr/>
          <p:nvPr/>
        </p:nvSpPr>
        <p:spPr>
          <a:xfrm>
            <a:off x="5951565" y="5121729"/>
            <a:ext cx="1546450" cy="41934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库存未出样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sp>
        <p:nvSpPr>
          <p:cNvPr id="294" name="矩形: 圆角 16"/>
          <p:cNvSpPr/>
          <p:nvPr/>
        </p:nvSpPr>
        <p:spPr>
          <a:xfrm>
            <a:off x="3910281" y="3275694"/>
            <a:ext cx="1546450" cy="41934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货架不饱满</a:t>
            </a:r>
            <a:endParaRPr lang="zh-CN" altLang="en-US" b="1" dirty="0">
              <a:solidFill>
                <a:schemeClr val="bg1"/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95" name="矩形: 圆角 17"/>
          <p:cNvSpPr/>
          <p:nvPr/>
        </p:nvSpPr>
        <p:spPr>
          <a:xfrm>
            <a:off x="5636260" y="3285490"/>
            <a:ext cx="2195830" cy="4191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售空后未及时补货</a:t>
            </a:r>
            <a:endParaRPr lang="zh-CN" altLang="en-US" b="1" dirty="0">
              <a:solidFill>
                <a:schemeClr val="bg1"/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96" name="矩形: 圆角 18"/>
          <p:cNvSpPr/>
          <p:nvPr/>
        </p:nvSpPr>
        <p:spPr>
          <a:xfrm>
            <a:off x="3935681" y="5661169"/>
            <a:ext cx="1926611" cy="419346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货架货物混放</a:t>
            </a:r>
            <a:endParaRPr lang="zh-CN" altLang="en-US" b="1" dirty="0">
              <a:solidFill>
                <a:schemeClr val="bg1"/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</a:t>
            </a:r>
            <a:r>
              <a:rPr lang="zh-CN" altLang="en-US" dirty="0">
                <a:sym typeface="+mn-ea"/>
              </a:rPr>
              <a:t>具体问题分析</a:t>
            </a:r>
            <a:endParaRPr dirty="0"/>
          </a:p>
        </p:txBody>
      </p:sp>
      <p:sp>
        <p:nvSpPr>
          <p:cNvPr id="299" name="矩形 1"/>
          <p:cNvSpPr/>
          <p:nvPr/>
        </p:nvSpPr>
        <p:spPr>
          <a:xfrm>
            <a:off x="839470" y="1062038"/>
            <a:ext cx="5292725" cy="8197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3.1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临期管理问题</a:t>
            </a:r>
            <a:endParaRPr lang="zh-CN" altLang="en-US" sz="2000" b="1" dirty="0">
              <a:latin typeface="方正小标宋简体" panose="02000000000000000000" pitchFamily="2" charset="-122"/>
              <a:ea typeface="方正小标宋简体" panose="02000000000000000000" pitchFamily="2" charset="-122"/>
              <a:sym typeface="+mn-ea"/>
            </a:endParaRPr>
          </a:p>
          <a:p>
            <a:pPr>
              <a:lnSpc>
                <a:spcPts val="2600"/>
              </a:lnSpc>
              <a:spcBef>
                <a:spcPct val="20000"/>
              </a:spcBef>
            </a:pP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00" name="矩形 7"/>
          <p:cNvSpPr/>
          <p:nvPr/>
        </p:nvSpPr>
        <p:spPr>
          <a:xfrm>
            <a:off x="862965" y="3697964"/>
            <a:ext cx="5292725" cy="8864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rtl="0"/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3.2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补货</a:t>
            </a: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/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空板</a:t>
            </a:r>
            <a:endParaRPr lang="zh-CN" altLang="en-US" sz="2000" b="1" dirty="0">
              <a:latin typeface="方正小标宋简体" panose="02000000000000000000" pitchFamily="2" charset="-122"/>
              <a:ea typeface="方正小标宋简体" panose="02000000000000000000" pitchFamily="2" charset="-122"/>
              <a:sym typeface="+mn-ea"/>
            </a:endParaRPr>
          </a:p>
          <a:p>
            <a:pPr>
              <a:lnSpc>
                <a:spcPts val="2600"/>
              </a:lnSpc>
              <a:spcBef>
                <a:spcPct val="20000"/>
              </a:spcBef>
            </a:pP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pic>
        <p:nvPicPr>
          <p:cNvPr id="301" name="Image 56" descr="Picture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191795" y="1516655"/>
            <a:ext cx="2347945" cy="1818830"/>
          </a:xfrm>
          <a:prstGeom prst="rect">
            <a:avLst/>
          </a:prstGeom>
        </p:spPr>
      </p:pic>
      <p:sp>
        <p:nvSpPr>
          <p:cNvPr id="302" name="文本框 14"/>
          <p:cNvSpPr txBox="1"/>
          <p:nvPr/>
        </p:nvSpPr>
        <p:spPr>
          <a:xfrm>
            <a:off x="1463581" y="3326796"/>
            <a:ext cx="272993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方正仿宋简体" panose="02000000000000000000" charset="-122"/>
                <a:ea typeface="方正仿宋简体" panose="02000000000000000000" charset="-122"/>
              </a:rPr>
              <a:t>临期商品未设置专区</a:t>
            </a:r>
            <a:endParaRPr lang="zh-CN" altLang="en-US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303" name="Image 85" descr="Pictur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7409" y="1532289"/>
            <a:ext cx="2338327" cy="1786222"/>
          </a:xfrm>
          <a:prstGeom prst="rect">
            <a:avLst/>
          </a:prstGeom>
        </p:spPr>
      </p:pic>
      <p:sp>
        <p:nvSpPr>
          <p:cNvPr id="304" name="文本框 17"/>
          <p:cNvSpPr txBox="1"/>
          <p:nvPr/>
        </p:nvSpPr>
        <p:spPr>
          <a:xfrm>
            <a:off x="6503955" y="3284674"/>
            <a:ext cx="272993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TW" b="1" dirty="0">
                <a:latin typeface="方正仿宋简体" panose="02000000000000000000" charset="-122"/>
                <a:ea typeface="方正仿宋简体" panose="02000000000000000000" charset="-122"/>
              </a:rPr>
              <a:t>未设置临期商品台账</a:t>
            </a:r>
            <a:endParaRPr lang="zh-CN" altLang="zh-TW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05" name="文本框 19"/>
          <p:cNvSpPr txBox="1"/>
          <p:nvPr/>
        </p:nvSpPr>
        <p:spPr>
          <a:xfrm>
            <a:off x="1559466" y="6165304"/>
            <a:ext cx="272993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TW" b="1" dirty="0">
                <a:latin typeface="方正仿宋简体" panose="02000000000000000000" charset="-122"/>
                <a:ea typeface="方正仿宋简体" panose="02000000000000000000" charset="-122"/>
              </a:rPr>
              <a:t>便利店货架空板</a:t>
            </a:r>
            <a:endParaRPr lang="zh-CN" altLang="zh-TW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06" name="文本框 21"/>
          <p:cNvSpPr txBox="1"/>
          <p:nvPr/>
        </p:nvSpPr>
        <p:spPr>
          <a:xfrm>
            <a:off x="7031990" y="6165215"/>
            <a:ext cx="307784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TW" b="1" dirty="0">
                <a:latin typeface="方正仿宋简体" panose="02000000000000000000" charset="-122"/>
                <a:ea typeface="方正仿宋简体" panose="02000000000000000000" charset="-122"/>
              </a:rPr>
              <a:t>便利店货架商品未及时补货</a:t>
            </a:r>
            <a:endParaRPr lang="zh-CN" altLang="zh-TW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307" name="图片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970" y="1559560"/>
            <a:ext cx="1467485" cy="1752600"/>
          </a:xfrm>
          <a:prstGeom prst="rect">
            <a:avLst/>
          </a:prstGeom>
        </p:spPr>
      </p:pic>
      <p:pic>
        <p:nvPicPr>
          <p:cNvPr id="308" name="Image 136" descr="Picture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47585" y="1556385"/>
            <a:ext cx="1437005" cy="1737995"/>
          </a:xfrm>
          <a:prstGeom prst="rect">
            <a:avLst/>
          </a:prstGeom>
        </p:spPr>
      </p:pic>
      <p:pic>
        <p:nvPicPr>
          <p:cNvPr id="309" name="Image 232" descr="Picture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08720" y="1559560"/>
            <a:ext cx="1261110" cy="1724660"/>
          </a:xfrm>
          <a:prstGeom prst="rect">
            <a:avLst/>
          </a:prstGeom>
        </p:spPr>
      </p:pic>
      <p:pic>
        <p:nvPicPr>
          <p:cNvPr id="310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410" y="4220845"/>
            <a:ext cx="2399030" cy="1837055"/>
          </a:xfrm>
          <a:prstGeom prst="rect">
            <a:avLst/>
          </a:prstGeom>
        </p:spPr>
      </p:pic>
      <p:pic>
        <p:nvPicPr>
          <p:cNvPr id="311" name="Image 156" descr="Picture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15640" y="4220845"/>
            <a:ext cx="2374900" cy="1840230"/>
          </a:xfrm>
          <a:prstGeom prst="rect">
            <a:avLst/>
          </a:prstGeom>
        </p:spPr>
      </p:pic>
      <p:pic>
        <p:nvPicPr>
          <p:cNvPr id="312" name="Image 200" descr="Picture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52490" y="4220845"/>
            <a:ext cx="2708275" cy="1836420"/>
          </a:xfrm>
          <a:prstGeom prst="rect">
            <a:avLst/>
          </a:prstGeom>
        </p:spPr>
      </p:pic>
      <p:pic>
        <p:nvPicPr>
          <p:cNvPr id="313" name="Image 239" descr="Picture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16315" y="4220845"/>
            <a:ext cx="2562225" cy="1835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</a:t>
            </a:r>
            <a:r>
              <a:rPr lang="zh-CN" altLang="en-US" dirty="0">
                <a:sym typeface="+mn-ea"/>
              </a:rPr>
              <a:t>具体问题分析</a:t>
            </a:r>
            <a:endParaRPr dirty="0"/>
          </a:p>
        </p:txBody>
      </p:sp>
      <p:sp>
        <p:nvSpPr>
          <p:cNvPr id="316" name="矩形 1"/>
          <p:cNvSpPr/>
          <p:nvPr/>
        </p:nvSpPr>
        <p:spPr>
          <a:xfrm>
            <a:off x="839470" y="1062038"/>
            <a:ext cx="5292725" cy="8197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3.3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标签管理问题</a:t>
            </a:r>
            <a:endParaRPr lang="zh-CN" altLang="en-US" sz="2000" b="1" dirty="0">
              <a:latin typeface="方正小标宋简体" panose="02000000000000000000" pitchFamily="2" charset="-122"/>
              <a:ea typeface="方正小标宋简体" panose="02000000000000000000" pitchFamily="2" charset="-122"/>
              <a:sym typeface="+mn-ea"/>
            </a:endParaRPr>
          </a:p>
          <a:p>
            <a:pPr>
              <a:lnSpc>
                <a:spcPts val="2600"/>
              </a:lnSpc>
              <a:spcBef>
                <a:spcPct val="20000"/>
              </a:spcBef>
            </a:pP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17" name="矩形 7"/>
          <p:cNvSpPr/>
          <p:nvPr/>
        </p:nvSpPr>
        <p:spPr>
          <a:xfrm>
            <a:off x="862965" y="3697964"/>
            <a:ext cx="5292725" cy="8864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rtl="0"/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3.4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仓库未出样展示</a:t>
            </a:r>
            <a:endParaRPr lang="zh-CN" altLang="en-US" sz="2000" b="1" dirty="0">
              <a:latin typeface="方正小标宋简体" panose="02000000000000000000" pitchFamily="2" charset="-122"/>
              <a:ea typeface="方正小标宋简体" panose="02000000000000000000" pitchFamily="2" charset="-122"/>
              <a:sym typeface="+mn-ea"/>
            </a:endParaRPr>
          </a:p>
          <a:p>
            <a:pPr>
              <a:lnSpc>
                <a:spcPts val="2600"/>
              </a:lnSpc>
              <a:spcBef>
                <a:spcPct val="20000"/>
              </a:spcBef>
            </a:pP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18" name="文本框 14"/>
          <p:cNvSpPr txBox="1"/>
          <p:nvPr/>
        </p:nvSpPr>
        <p:spPr>
          <a:xfrm>
            <a:off x="4367436" y="3356641"/>
            <a:ext cx="272993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方正仿宋简体" panose="02000000000000000000" charset="-122"/>
                <a:ea typeface="方正仿宋简体" panose="02000000000000000000" charset="-122"/>
              </a:rPr>
              <a:t>商品价格签缺失</a:t>
            </a:r>
            <a:endParaRPr lang="zh-CN" altLang="en-US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19" name="文本框 19"/>
          <p:cNvSpPr txBox="1"/>
          <p:nvPr/>
        </p:nvSpPr>
        <p:spPr>
          <a:xfrm>
            <a:off x="4446811" y="6255474"/>
            <a:ext cx="272993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TW" b="1" dirty="0">
                <a:latin typeface="方正仿宋简体" panose="02000000000000000000" charset="-122"/>
                <a:ea typeface="方正仿宋简体" panose="02000000000000000000" charset="-122"/>
              </a:rPr>
              <a:t>仓库商品未出样</a:t>
            </a:r>
            <a:endParaRPr lang="zh-CN" altLang="zh-TW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320" name="Image 26" descr="Pictur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9470" y="1412240"/>
            <a:ext cx="1870710" cy="2047875"/>
          </a:xfrm>
          <a:prstGeom prst="rect">
            <a:avLst/>
          </a:prstGeom>
        </p:spPr>
      </p:pic>
      <p:pic>
        <p:nvPicPr>
          <p:cNvPr id="321" name="Image 29" descr="Pictur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0180" y="1412240"/>
            <a:ext cx="2512060" cy="2048510"/>
          </a:xfrm>
          <a:prstGeom prst="rect">
            <a:avLst/>
          </a:prstGeom>
        </p:spPr>
      </p:pic>
      <p:pic>
        <p:nvPicPr>
          <p:cNvPr id="322" name="Image 55" descr="Pictur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2550" y="1412240"/>
            <a:ext cx="2701290" cy="2047240"/>
          </a:xfrm>
          <a:prstGeom prst="rect">
            <a:avLst/>
          </a:prstGeom>
        </p:spPr>
      </p:pic>
      <p:pic>
        <p:nvPicPr>
          <p:cNvPr id="323" name="Image 68" descr="Picture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5420" y="1412240"/>
            <a:ext cx="3136900" cy="2047240"/>
          </a:xfrm>
          <a:prstGeom prst="rect">
            <a:avLst/>
          </a:prstGeom>
        </p:spPr>
      </p:pic>
      <p:pic>
        <p:nvPicPr>
          <p:cNvPr id="324" name="Image 91" descr="Picture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20240" y="4166870"/>
            <a:ext cx="3079115" cy="2146300"/>
          </a:xfrm>
          <a:prstGeom prst="rect">
            <a:avLst/>
          </a:prstGeom>
        </p:spPr>
      </p:pic>
      <p:pic>
        <p:nvPicPr>
          <p:cNvPr id="325" name="Image 213" descr="Picture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44110" y="4210685"/>
            <a:ext cx="2291715" cy="2084705"/>
          </a:xfrm>
          <a:prstGeom prst="rect">
            <a:avLst/>
          </a:prstGeom>
        </p:spPr>
      </p:pic>
      <p:pic>
        <p:nvPicPr>
          <p:cNvPr id="326" name="Image 240" descr="Picture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76770" y="4238625"/>
            <a:ext cx="2583180" cy="2056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</a:t>
            </a:r>
            <a:r>
              <a:rPr lang="zh-CN" altLang="en-US" dirty="0">
                <a:sym typeface="+mn-ea"/>
              </a:rPr>
              <a:t>具体问题分析</a:t>
            </a:r>
            <a:endParaRPr dirty="0"/>
          </a:p>
        </p:txBody>
      </p:sp>
      <p:sp>
        <p:nvSpPr>
          <p:cNvPr id="329" name="矩形 5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4.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商品订单、入库、盘点问题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30" name="文本框 6"/>
          <p:cNvSpPr txBox="1"/>
          <p:nvPr/>
        </p:nvSpPr>
        <p:spPr>
          <a:xfrm>
            <a:off x="683895" y="1651000"/>
            <a:ext cx="10515600" cy="501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共</a:t>
            </a:r>
            <a:r>
              <a:rPr lang="en-US" altLang="zh-CN" sz="2000" dirty="0">
                <a:solidFill>
                  <a:srgbClr val="FF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35</a:t>
            </a:r>
            <a:r>
              <a:rPr lang="zh-CN" altLang="en-US" sz="2000" dirty="0">
                <a:solidFill>
                  <a:srgbClr val="FF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起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，占全部问题的</a:t>
            </a:r>
            <a:r>
              <a:rPr lang="en-US" altLang="zh-CN" sz="2000" dirty="0">
                <a:solidFill>
                  <a:schemeClr val="accent5"/>
                </a:solidFill>
                <a:latin typeface="方正仿宋简体" panose="02000000000000000000" charset="-122"/>
                <a:ea typeface="方正仿宋简体" panose="02000000000000000000" charset="-122"/>
              </a:rPr>
              <a:t>17.67</a:t>
            </a:r>
            <a:r>
              <a:rPr lang="en-US" altLang="zh-CN" sz="2000" b="1" dirty="0">
                <a:solidFill>
                  <a:schemeClr val="accent5"/>
                </a:solidFill>
                <a:latin typeface="方正仿宋简体" panose="02000000000000000000" charset="-122"/>
                <a:ea typeface="方正仿宋简体" panose="02000000000000000000" charset="-122"/>
              </a:rPr>
              <a:t>%</a:t>
            </a: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，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典型问题包括：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331" name="表格 7"/>
          <p:cNvGraphicFramePr/>
          <p:nvPr/>
        </p:nvGraphicFramePr>
        <p:xfrm>
          <a:off x="934720" y="2182495"/>
          <a:ext cx="10154920" cy="172085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39950"/>
                <a:gridCol w="1649095"/>
                <a:gridCol w="6365875"/>
              </a:tblGrid>
              <a:tr h="4387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高频关键词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问题数量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典型问题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账实不符</a:t>
                      </a:r>
                      <a:endParaRPr lang="zh-TW" altLang="en-US" sz="1800" b="1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33</a:t>
                      </a:r>
                      <a:endParaRPr lang="zh-TW" altLang="en-US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20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  <p:sp>
        <p:nvSpPr>
          <p:cNvPr id="332" name="矩形: 圆角 8"/>
          <p:cNvSpPr/>
          <p:nvPr/>
        </p:nvSpPr>
        <p:spPr>
          <a:xfrm>
            <a:off x="6887845" y="2734945"/>
            <a:ext cx="2180590" cy="4191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现场抽盘账实不符</a:t>
            </a:r>
            <a:endParaRPr lang="zh-CN" altLang="en-US" b="1" dirty="0">
              <a:solidFill>
                <a:schemeClr val="bg1"/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33" name="文本框 24"/>
          <p:cNvSpPr txBox="1"/>
          <p:nvPr/>
        </p:nvSpPr>
        <p:spPr>
          <a:xfrm>
            <a:off x="2639060" y="6165215"/>
            <a:ext cx="266001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dirty="0">
                <a:latin typeface="方正仿宋简体" panose="02000000000000000000" charset="-122"/>
                <a:ea typeface="方正仿宋简体" panose="02000000000000000000" charset="-122"/>
              </a:rPr>
              <a:t>商品售出后未及时过机</a:t>
            </a:r>
            <a:endParaRPr lang="zh-TW" altLang="en-US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34" name="文本框 26"/>
          <p:cNvSpPr txBox="1"/>
          <p:nvPr/>
        </p:nvSpPr>
        <p:spPr>
          <a:xfrm>
            <a:off x="7725631" y="6211901"/>
            <a:ext cx="272993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方正仿宋简体" panose="02000000000000000000" charset="-122"/>
                <a:ea typeface="方正仿宋简体" panose="02000000000000000000" charset="-122"/>
              </a:rPr>
              <a:t>现场抽盘账实不符</a:t>
            </a:r>
            <a:endParaRPr lang="zh-CN" altLang="en-US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335" name="Image 109" descr="Pictur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039735" y="3474720"/>
            <a:ext cx="2415540" cy="2659380"/>
          </a:xfrm>
          <a:prstGeom prst="rect">
            <a:avLst/>
          </a:prstGeom>
        </p:spPr>
      </p:pic>
      <p:pic>
        <p:nvPicPr>
          <p:cNvPr id="336" name="Image 212" descr="Pictur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7465" y="3474720"/>
            <a:ext cx="4848860" cy="2550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</a:t>
            </a:r>
            <a:r>
              <a:rPr lang="zh-CN" altLang="en-US" dirty="0">
                <a:sym typeface="+mn-ea"/>
              </a:rPr>
              <a:t>具体问题分析</a:t>
            </a:r>
            <a:endParaRPr dirty="0"/>
          </a:p>
        </p:txBody>
      </p:sp>
      <p:sp>
        <p:nvSpPr>
          <p:cNvPr id="339" name="矩形 13"/>
          <p:cNvSpPr/>
          <p:nvPr/>
        </p:nvSpPr>
        <p:spPr>
          <a:xfrm>
            <a:off x="863600" y="1203008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5.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仓库管理情况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40" name="文本框 14"/>
          <p:cNvSpPr txBox="1"/>
          <p:nvPr/>
        </p:nvSpPr>
        <p:spPr>
          <a:xfrm>
            <a:off x="683895" y="1651000"/>
            <a:ext cx="10515600" cy="501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共</a:t>
            </a:r>
            <a:r>
              <a:rPr lang="en-US" altLang="zh-CN" sz="2000" dirty="0">
                <a:solidFill>
                  <a:srgbClr val="FF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14</a:t>
            </a:r>
            <a:r>
              <a:rPr lang="zh-CN" altLang="en-US" sz="2000" dirty="0">
                <a:solidFill>
                  <a:srgbClr val="FF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起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，占全部问题的</a:t>
            </a:r>
            <a:r>
              <a:rPr lang="en-US" altLang="zh-CN" sz="2000" dirty="0">
                <a:solidFill>
                  <a:schemeClr val="accent5"/>
                </a:solidFill>
                <a:latin typeface="方正仿宋简体" panose="02000000000000000000" charset="-122"/>
                <a:ea typeface="方正仿宋简体" panose="02000000000000000000" charset="-122"/>
              </a:rPr>
              <a:t>7.07</a:t>
            </a:r>
            <a:r>
              <a:rPr lang="en-US" altLang="zh-CN" sz="2000" b="1" dirty="0">
                <a:solidFill>
                  <a:schemeClr val="accent5"/>
                </a:solidFill>
                <a:latin typeface="方正仿宋简体" panose="02000000000000000000" charset="-122"/>
                <a:ea typeface="方正仿宋简体" panose="02000000000000000000" charset="-122"/>
              </a:rPr>
              <a:t>%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，典型问题有：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41" name="文本框 16"/>
          <p:cNvSpPr txBox="1"/>
          <p:nvPr/>
        </p:nvSpPr>
        <p:spPr>
          <a:xfrm>
            <a:off x="1847215" y="6053455"/>
            <a:ext cx="4126865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方正仿宋简体" panose="02000000000000000000" charset="-122"/>
                <a:ea typeface="方正仿宋简体" panose="02000000000000000000" charset="-122"/>
              </a:rPr>
              <a:t>仓库存放与非油商品无关杂物</a:t>
            </a:r>
            <a:endParaRPr lang="zh-CN" altLang="en-US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42" name="文本框 21"/>
          <p:cNvSpPr txBox="1"/>
          <p:nvPr/>
        </p:nvSpPr>
        <p:spPr>
          <a:xfrm>
            <a:off x="7319901" y="6020766"/>
            <a:ext cx="272993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方正仿宋简体" panose="02000000000000000000" charset="-122"/>
                <a:ea typeface="方正仿宋简体" panose="02000000000000000000" charset="-122"/>
              </a:rPr>
              <a:t>仓库货物未分区</a:t>
            </a:r>
            <a:endParaRPr lang="zh-CN" altLang="en-US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343" name="表格 7"/>
          <p:cNvGraphicFramePr/>
          <p:nvPr/>
        </p:nvGraphicFramePr>
        <p:xfrm>
          <a:off x="947420" y="2181225"/>
          <a:ext cx="10732135" cy="1691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5435"/>
                <a:gridCol w="1214755"/>
                <a:gridCol w="4686935"/>
                <a:gridCol w="3255010"/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高频关键词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问题数量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典型问题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说明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杂物</a:t>
                      </a:r>
                      <a:endParaRPr lang="zh-CN" altLang="zh-TW" sz="1800" b="1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4</a:t>
                      </a:r>
                      <a:endParaRPr lang="en-US" altLang="zh-TW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20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包含库存过期酸奶、零食、调味料等</a:t>
                      </a:r>
                      <a:endParaRPr lang="en-US" altLang="zh-CN" sz="20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</a:tr>
              <a:tr h="60769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混放</a:t>
                      </a:r>
                      <a:endParaRPr lang="zh-CN" altLang="zh-TW" sz="1800" b="1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3</a:t>
                      </a:r>
                      <a:endParaRPr lang="en-US" altLang="zh-TW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TW" altLang="en-US" sz="2000" b="0" i="0" u="none" strike="noStrike" kern="12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  <a:cs typeface="+mn-cs"/>
                        </a:rPr>
                        <a:t>香烟违规调拨</a:t>
                      </a:r>
                      <a:endParaRPr lang="zh-TW" altLang="en-US" sz="2000" b="0" i="0" u="none" strike="noStrike" kern="12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  <p:sp>
        <p:nvSpPr>
          <p:cNvPr id="344" name="矩形: 圆角 8"/>
          <p:cNvSpPr/>
          <p:nvPr/>
        </p:nvSpPr>
        <p:spPr>
          <a:xfrm>
            <a:off x="4439285" y="2708910"/>
            <a:ext cx="2306320" cy="4191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rPr>
              <a:t>仓库存放无关物品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仿宋简体" panose="02000000000000000000" charset="-122"/>
              <a:ea typeface="方正仿宋简体" panose="02000000000000000000" charset="-122"/>
              <a:cs typeface="+mn-cs"/>
            </a:endParaRPr>
          </a:p>
        </p:txBody>
      </p:sp>
      <p:sp>
        <p:nvSpPr>
          <p:cNvPr id="345" name="矩形: 圆角 9"/>
          <p:cNvSpPr/>
          <p:nvPr/>
        </p:nvSpPr>
        <p:spPr>
          <a:xfrm>
            <a:off x="4439350" y="3356901"/>
            <a:ext cx="1480459" cy="41934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rPr>
              <a:t>仓库未分区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仿宋简体" panose="02000000000000000000" charset="-122"/>
              <a:ea typeface="方正仿宋简体" panose="02000000000000000000" charset="-122"/>
              <a:cs typeface="+mn-cs"/>
            </a:endParaRPr>
          </a:p>
        </p:txBody>
      </p:sp>
      <p:pic>
        <p:nvPicPr>
          <p:cNvPr id="346" name="Image 179" descr="Pictur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71270" y="4149090"/>
            <a:ext cx="2961640" cy="1904365"/>
          </a:xfrm>
          <a:prstGeom prst="rect">
            <a:avLst/>
          </a:prstGeom>
        </p:spPr>
      </p:pic>
      <p:pic>
        <p:nvPicPr>
          <p:cNvPr id="347" name="Image 225" descr="Pictur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9600" y="4149090"/>
            <a:ext cx="1546860" cy="1918335"/>
          </a:xfrm>
          <a:prstGeom prst="rect">
            <a:avLst/>
          </a:prstGeom>
        </p:spPr>
      </p:pic>
      <p:pic>
        <p:nvPicPr>
          <p:cNvPr id="348" name="Image 66" descr="Pictur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3925" y="4149090"/>
            <a:ext cx="2324735" cy="1903730"/>
          </a:xfrm>
          <a:prstGeom prst="rect">
            <a:avLst/>
          </a:prstGeom>
        </p:spPr>
      </p:pic>
      <p:pic>
        <p:nvPicPr>
          <p:cNvPr id="349" name="Image 13" descr="Picture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23385" y="4214495"/>
            <a:ext cx="1640205" cy="1799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</a:t>
            </a:r>
            <a:r>
              <a:rPr lang="zh-CN" altLang="en-US" dirty="0">
                <a:sym typeface="+mn-ea"/>
              </a:rPr>
              <a:t>具体问题分析</a:t>
            </a:r>
            <a:endParaRPr dirty="0"/>
          </a:p>
        </p:txBody>
      </p:sp>
      <p:sp>
        <p:nvSpPr>
          <p:cNvPr id="352" name="矩形 5"/>
          <p:cNvSpPr/>
          <p:nvPr/>
        </p:nvSpPr>
        <p:spPr>
          <a:xfrm>
            <a:off x="863600" y="1203008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6.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便利店卫生情况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53" name="文本框 6"/>
          <p:cNvSpPr txBox="1"/>
          <p:nvPr/>
        </p:nvSpPr>
        <p:spPr>
          <a:xfrm>
            <a:off x="683895" y="1651000"/>
            <a:ext cx="10515600" cy="501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共</a:t>
            </a:r>
            <a:r>
              <a:rPr lang="en-US" altLang="zh-CN" sz="2000" dirty="0">
                <a:solidFill>
                  <a:srgbClr val="FF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12</a:t>
            </a:r>
            <a:r>
              <a:rPr lang="zh-CN" altLang="en-US" sz="2000" dirty="0">
                <a:solidFill>
                  <a:srgbClr val="FF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起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，占全部问题的</a:t>
            </a:r>
            <a:r>
              <a:rPr lang="en-US" altLang="zh-CN" sz="2000" dirty="0">
                <a:solidFill>
                  <a:schemeClr val="accent5"/>
                </a:solidFill>
                <a:latin typeface="方正仿宋简体" panose="02000000000000000000" charset="-122"/>
                <a:ea typeface="方正仿宋简体" panose="02000000000000000000" charset="-122"/>
              </a:rPr>
              <a:t>6</a:t>
            </a:r>
            <a:r>
              <a:rPr lang="en-US" altLang="zh-CN" sz="2000" b="1" dirty="0">
                <a:solidFill>
                  <a:schemeClr val="accent5"/>
                </a:solidFill>
                <a:latin typeface="方正仿宋简体" panose="02000000000000000000" charset="-122"/>
                <a:ea typeface="方正仿宋简体" panose="02000000000000000000" charset="-122"/>
              </a:rPr>
              <a:t>%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，典型问题有：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54" name="文本框 2"/>
          <p:cNvSpPr txBox="1"/>
          <p:nvPr/>
        </p:nvSpPr>
        <p:spPr>
          <a:xfrm>
            <a:off x="2375847" y="5764226"/>
            <a:ext cx="272993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TW" b="1" dirty="0">
                <a:latin typeface="方正仿宋简体" panose="02000000000000000000" charset="-122"/>
                <a:ea typeface="方正仿宋简体" panose="02000000000000000000" charset="-122"/>
              </a:rPr>
              <a:t>在售商品有灰尘</a:t>
            </a:r>
            <a:endParaRPr lang="zh-CN" altLang="zh-TW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55" name="文本框 4"/>
          <p:cNvSpPr txBox="1"/>
          <p:nvPr/>
        </p:nvSpPr>
        <p:spPr>
          <a:xfrm>
            <a:off x="7227191" y="5763590"/>
            <a:ext cx="272993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方正仿宋简体" panose="02000000000000000000" charset="-122"/>
                <a:ea typeface="方正仿宋简体" panose="02000000000000000000" charset="-122"/>
              </a:rPr>
              <a:t>货架有灰尘</a:t>
            </a:r>
            <a:endParaRPr lang="zh-TW" altLang="en-US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356" name="Image 75" descr="Pictur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456045" y="2636520"/>
            <a:ext cx="2785110" cy="2924175"/>
          </a:xfrm>
          <a:prstGeom prst="rect">
            <a:avLst/>
          </a:prstGeom>
        </p:spPr>
      </p:pic>
      <p:pic>
        <p:nvPicPr>
          <p:cNvPr id="357" name="Image 186" descr="Pictur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2260" y="2708910"/>
            <a:ext cx="2573655" cy="2812415"/>
          </a:xfrm>
          <a:prstGeom prst="rect">
            <a:avLst/>
          </a:prstGeom>
        </p:spPr>
      </p:pic>
      <p:pic>
        <p:nvPicPr>
          <p:cNvPr id="358" name="Image 64" descr="Pictur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2661920"/>
            <a:ext cx="2216150" cy="2898775"/>
          </a:xfrm>
          <a:prstGeom prst="rect">
            <a:avLst/>
          </a:prstGeom>
        </p:spPr>
      </p:pic>
      <p:pic>
        <p:nvPicPr>
          <p:cNvPr id="359" name="Image 60" descr="Picture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87395" y="2576830"/>
            <a:ext cx="3049270" cy="3060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</a:t>
            </a:r>
            <a:r>
              <a:rPr lang="zh-CN" altLang="en-US" dirty="0">
                <a:sym typeface="+mn-ea"/>
              </a:rPr>
              <a:t>具体问题分析</a:t>
            </a:r>
            <a:endParaRPr dirty="0"/>
          </a:p>
        </p:txBody>
      </p:sp>
      <p:sp>
        <p:nvSpPr>
          <p:cNvPr id="362" name="矩形 5"/>
          <p:cNvSpPr/>
          <p:nvPr/>
        </p:nvSpPr>
        <p:spPr>
          <a:xfrm>
            <a:off x="863600" y="1203008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7.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销售行为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63" name="文本框 6"/>
          <p:cNvSpPr txBox="1"/>
          <p:nvPr/>
        </p:nvSpPr>
        <p:spPr>
          <a:xfrm>
            <a:off x="683895" y="1651000"/>
            <a:ext cx="10515600" cy="469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共</a:t>
            </a:r>
            <a:r>
              <a:rPr lang="en-US" altLang="zh-CN" sz="2000" dirty="0">
                <a:solidFill>
                  <a:srgbClr val="FF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7</a:t>
            </a:r>
            <a:r>
              <a:rPr lang="zh-CN" altLang="en-US" sz="2000" dirty="0">
                <a:solidFill>
                  <a:srgbClr val="FF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起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，占全部问题的</a:t>
            </a:r>
            <a:r>
              <a:rPr lang="en-US" altLang="zh-CN" sz="2000" b="1" dirty="0">
                <a:solidFill>
                  <a:srgbClr val="FFC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5%</a:t>
            </a: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，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典型问题包括：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364" name="表格 7"/>
          <p:cNvGraphicFramePr/>
          <p:nvPr/>
        </p:nvGraphicFramePr>
        <p:xfrm>
          <a:off x="934717" y="2182369"/>
          <a:ext cx="10744949" cy="16771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371"/>
                <a:gridCol w="1215850"/>
                <a:gridCol w="4692581"/>
                <a:gridCol w="3259147"/>
              </a:tblGrid>
              <a:tr h="4278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高频关键词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问题数量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典型问题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说明</a:t>
                      </a:r>
                      <a:endParaRPr lang="zh-TW" altLang="en-US" sz="18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6422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zh-TW" sz="1800" b="1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未过机</a:t>
                      </a:r>
                      <a:endParaRPr lang="zh-CN" altLang="zh-TW" sz="1800" b="1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3</a:t>
                      </a:r>
                      <a:endParaRPr lang="en-US" altLang="zh-TW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20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情况集中发生在香烟销售</a:t>
                      </a:r>
                      <a:endParaRPr lang="zh-CN" altLang="en-US" sz="20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</a:tr>
              <a:tr h="6070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先进先出</a:t>
                      </a:r>
                      <a:endParaRPr lang="zh-TW" altLang="en-US" sz="1800" b="1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</a:rPr>
                        <a:t>3</a:t>
                      </a:r>
                      <a:endParaRPr lang="en-US" altLang="zh-TW" sz="18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TW" altLang="en-US" sz="2000" b="0" i="0" u="none" strike="noStrike" kern="12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方正仿宋简体" panose="02000000000000000000" charset="-122"/>
                          <a:ea typeface="方正仿宋简体" panose="02000000000000000000" charset="-122"/>
                          <a:cs typeface="+mn-cs"/>
                        </a:rPr>
                        <a:t>/</a:t>
                      </a:r>
                      <a:endParaRPr lang="zh-TW" altLang="en-US" sz="2000" b="0" i="0" u="none" strike="noStrike" kern="1200" dirty="0">
                        <a:solidFill>
                          <a:schemeClr val="tx1"/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  <p:sp>
        <p:nvSpPr>
          <p:cNvPr id="365" name="矩形: 圆角 8"/>
          <p:cNvSpPr/>
          <p:nvPr/>
        </p:nvSpPr>
        <p:spPr>
          <a:xfrm>
            <a:off x="3823400" y="2675276"/>
            <a:ext cx="1896680" cy="41934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</a:rPr>
              <a:t>销售未过机</a:t>
            </a:r>
            <a:endParaRPr lang="zh-CN" altLang="en-US" b="1" dirty="0">
              <a:solidFill>
                <a:schemeClr val="bg1"/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66" name="矩形: 圆角 10"/>
          <p:cNvSpPr/>
          <p:nvPr/>
        </p:nvSpPr>
        <p:spPr>
          <a:xfrm>
            <a:off x="3853880" y="3377856"/>
            <a:ext cx="1480459" cy="41934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rPr>
              <a:t>未前进陈列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sp>
        <p:nvSpPr>
          <p:cNvPr id="367" name="文本框 15"/>
          <p:cNvSpPr txBox="1"/>
          <p:nvPr/>
        </p:nvSpPr>
        <p:spPr>
          <a:xfrm>
            <a:off x="896840" y="6182056"/>
            <a:ext cx="408410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TW" b="1" dirty="0">
                <a:latin typeface="方正仿宋简体" panose="02000000000000000000" charset="-122"/>
                <a:ea typeface="方正仿宋简体" panose="02000000000000000000" charset="-122"/>
              </a:rPr>
              <a:t>香烟销售未过机</a:t>
            </a:r>
            <a:endParaRPr lang="zh-CN" altLang="zh-TW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68" name="文本框 17"/>
          <p:cNvSpPr txBox="1"/>
          <p:nvPr/>
        </p:nvSpPr>
        <p:spPr>
          <a:xfrm>
            <a:off x="7176135" y="6185866"/>
            <a:ext cx="272993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方正仿宋简体" panose="02000000000000000000" charset="-122"/>
                <a:ea typeface="方正仿宋简体" panose="02000000000000000000" charset="-122"/>
              </a:rPr>
              <a:t>未前进陈列</a:t>
            </a:r>
            <a:endParaRPr lang="zh-CN" altLang="en-US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69" name="矩形: 圆角 21"/>
          <p:cNvSpPr/>
          <p:nvPr/>
        </p:nvSpPr>
        <p:spPr>
          <a:xfrm>
            <a:off x="5566961" y="3372113"/>
            <a:ext cx="2154639" cy="41934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innerShdw blurRad="114300">
              <a:sysClr val="window" lastClr="FFFFFF">
                <a:alpha val="50000"/>
              </a:sysClr>
            </a:innerShdw>
          </a:effectLst>
        </p:spPr>
        <p:txBody>
          <a:bodyPr rtlCol="0" anchor="ctr"/>
          <a:lstStyle/>
          <a:p>
            <a:pPr lvl="0" algn="ctr" rtl="0">
              <a:lnSpc>
                <a:spcPct val="100000"/>
              </a:lnSpc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方正仿宋简体" panose="02000000000000000000" charset="-122"/>
                <a:ea typeface="方正仿宋简体" panose="02000000000000000000" charset="-122"/>
                <a:cs typeface="+mn-cs"/>
              </a:rPr>
              <a:t>未先进先出摆放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rPr>
              <a:t>列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/>
              <a:ea typeface="HarmonyOS Sans SC"/>
              <a:cs typeface="+mn-cs"/>
            </a:endParaRPr>
          </a:p>
        </p:txBody>
      </p:sp>
      <p:pic>
        <p:nvPicPr>
          <p:cNvPr id="370" name="Image 212" descr="Pictur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71270" y="4109085"/>
            <a:ext cx="3673475" cy="2073275"/>
          </a:xfrm>
          <a:prstGeom prst="rect">
            <a:avLst/>
          </a:prstGeom>
        </p:spPr>
      </p:pic>
      <p:pic>
        <p:nvPicPr>
          <p:cNvPr id="371" name="Image 62" descr="Pictur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3610" y="3933825"/>
            <a:ext cx="2936875" cy="2258060"/>
          </a:xfrm>
          <a:prstGeom prst="rect">
            <a:avLst/>
          </a:prstGeom>
        </p:spPr>
      </p:pic>
      <p:pic>
        <p:nvPicPr>
          <p:cNvPr id="372" name="Image 76" descr="Pictur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5725" y="4076700"/>
            <a:ext cx="1967865" cy="2019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四、</a:t>
            </a:r>
            <a:r>
              <a:rPr lang="zh-CN" altLang="en-US" dirty="0">
                <a:sym typeface="+mn-ea"/>
              </a:rPr>
              <a:t>具体问题分析</a:t>
            </a:r>
            <a:endParaRPr dirty="0"/>
          </a:p>
        </p:txBody>
      </p:sp>
      <p:sp>
        <p:nvSpPr>
          <p:cNvPr id="375" name="矩形 5"/>
          <p:cNvSpPr/>
          <p:nvPr/>
        </p:nvSpPr>
        <p:spPr>
          <a:xfrm>
            <a:off x="863600" y="1203008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8. </a:t>
            </a:r>
            <a:r>
              <a:rPr lang="zh-CN" altLang="en-US" sz="2000" b="1" dirty="0">
                <a:latin typeface="方正小标宋简体" panose="02000000000000000000" pitchFamily="2" charset="-122"/>
                <a:ea typeface="方正小标宋简体" panose="02000000000000000000" pitchFamily="2" charset="-122"/>
                <a:sym typeface="+mn-ea"/>
              </a:rPr>
              <a:t>台账报表情况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76" name="文本框 6"/>
          <p:cNvSpPr txBox="1"/>
          <p:nvPr/>
        </p:nvSpPr>
        <p:spPr>
          <a:xfrm>
            <a:off x="683895" y="1651000"/>
            <a:ext cx="10515600" cy="501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共</a:t>
            </a:r>
            <a:r>
              <a:rPr lang="en-US" altLang="zh-CN" sz="2000" dirty="0">
                <a:latin typeface="方正仿宋简体" panose="02000000000000000000" charset="-122"/>
                <a:ea typeface="方正仿宋简体" panose="02000000000000000000" charset="-12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起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，占全部问题的</a:t>
            </a:r>
            <a:r>
              <a:rPr lang="en-US" altLang="zh-CN" sz="2000" dirty="0">
                <a:latin typeface="方正仿宋简体" panose="02000000000000000000" charset="-122"/>
                <a:ea typeface="方正仿宋简体" panose="02000000000000000000" charset="-122"/>
              </a:rPr>
              <a:t>1.5</a:t>
            </a:r>
            <a:r>
              <a:rPr lang="en-US" altLang="zh-CN" sz="2000" b="1" dirty="0">
                <a:solidFill>
                  <a:srgbClr val="FFC000"/>
                </a:solidFill>
                <a:latin typeface="方正仿宋简体" panose="02000000000000000000" charset="-122"/>
                <a:ea typeface="方正仿宋简体" panose="02000000000000000000" charset="-122"/>
              </a:rPr>
              <a:t>%</a:t>
            </a:r>
            <a:r>
              <a:rPr lang="zh-CN" altLang="en-US" sz="2000" b="1" dirty="0">
                <a:latin typeface="方正仿宋简体" panose="02000000000000000000" charset="-122"/>
                <a:ea typeface="方正仿宋简体" panose="02000000000000000000" charset="-122"/>
              </a:rPr>
              <a:t>，</a:t>
            </a:r>
            <a:r>
              <a:rPr lang="zh-CN" altLang="en-US" sz="2000" dirty="0">
                <a:latin typeface="方正仿宋简体" panose="02000000000000000000" charset="-122"/>
                <a:ea typeface="方正仿宋简体" panose="02000000000000000000" charset="-122"/>
              </a:rPr>
              <a:t>典型问题包括：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77" name="文本框 10"/>
          <p:cNvSpPr txBox="1"/>
          <p:nvPr/>
        </p:nvSpPr>
        <p:spPr>
          <a:xfrm>
            <a:off x="1559064" y="5300676"/>
            <a:ext cx="2381194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TW" b="1" dirty="0">
                <a:latin typeface="方正仿宋简体" panose="02000000000000000000" charset="-122"/>
                <a:ea typeface="方正仿宋简体" panose="02000000000000000000" charset="-122"/>
              </a:rPr>
              <a:t>烟草证未及时更新</a:t>
            </a:r>
            <a:endParaRPr lang="zh-CN" altLang="zh-TW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378" name="文本框 11"/>
          <p:cNvSpPr txBox="1"/>
          <p:nvPr/>
        </p:nvSpPr>
        <p:spPr>
          <a:xfrm>
            <a:off x="6156325" y="5300676"/>
            <a:ext cx="4502646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方正仿宋简体" panose="02000000000000000000" charset="-122"/>
                <a:ea typeface="方正仿宋简体" panose="02000000000000000000" charset="-122"/>
              </a:rPr>
              <a:t>过期商品未及时填写报废单</a:t>
            </a:r>
            <a:endParaRPr lang="zh-CN" altLang="en-US" b="1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379" name="Image 49" descr="Pictur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9470" y="2492375"/>
            <a:ext cx="4027805" cy="2673350"/>
          </a:xfrm>
          <a:prstGeom prst="rect">
            <a:avLst/>
          </a:prstGeom>
        </p:spPr>
      </p:pic>
      <p:pic>
        <p:nvPicPr>
          <p:cNvPr id="380" name="Image 50" descr="Pictur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9555" y="2564765"/>
            <a:ext cx="3444875" cy="2600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83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4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85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PA-矩形 3"/>
          <p:cNvSpPr/>
          <p:nvPr/>
        </p:nvSpPr>
        <p:spPr>
          <a:xfrm>
            <a:off x="2212646" y="2494193"/>
            <a:ext cx="1739900" cy="158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</a:rPr>
              <a:t>检查结果分析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标题 2"/>
          <p:cNvSpPr txBox="1">
            <a:spLocks noGrp="1"/>
          </p:cNvSpPr>
          <p:nvPr/>
        </p:nvSpPr>
        <p:spPr>
          <a:xfrm>
            <a:off x="1164067" y="307939"/>
            <a:ext cx="10515600" cy="685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l" defTabSz="914400" hangingPunct="1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defRPr>
            </a:pPr>
            <a:r>
              <a:rPr lang="zh-CN" sz="2800" b="1" dirty="0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五、检查结果</a:t>
            </a:r>
            <a:r>
              <a:rPr lang="zh-CN" sz="2800" b="1" dirty="0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  <a:sym typeface="微软雅黑" panose="020B0503020204020204" charset="-122"/>
              </a:rPr>
              <a:t>分析</a:t>
            </a:r>
            <a:endParaRPr lang="zh-CN" sz="2800" b="1" dirty="0">
              <a:solidFill>
                <a:srgbClr val="BE0000">
                  <a:alpha val="100000"/>
                </a:srgbClr>
              </a:solidFill>
              <a:latin typeface="Arial Black" panose="020B0A04020102020204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391" name="AutoShape 5"/>
          <p:cNvSpPr/>
          <p:nvPr/>
        </p:nvSpPr>
        <p:spPr>
          <a:xfrm>
            <a:off x="711200" y="1397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2000" b="1" i="0" u="none" strike="noStrike" dirty="0" err="1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核心特征：问题聚焦与区域分化</a:t>
            </a:r>
            <a:endParaRPr lang="en-US" sz="1100" dirty="0">
              <a:solidFill>
                <a:srgbClr val="C00000"/>
              </a:solidFill>
            </a:endParaRPr>
          </a:p>
        </p:txBody>
      </p:sp>
      <p:cxnSp>
        <p:nvCxnSpPr>
          <p:cNvPr id="392" name="Connector 6"/>
          <p:cNvCxnSpPr/>
          <p:nvPr/>
        </p:nvCxnSpPr>
        <p:spPr>
          <a:xfrm rot="21595947">
            <a:off x="711204" y="1898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3" name="AutoShape 7"/>
          <p:cNvSpPr/>
          <p:nvPr/>
        </p:nvSpPr>
        <p:spPr>
          <a:xfrm>
            <a:off x="7112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DFDF"/>
              </a:solidFill>
            </a:endParaRPr>
          </a:p>
        </p:txBody>
      </p:sp>
      <p:pic>
        <p:nvPicPr>
          <p:cNvPr id="394" name="Picture 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298700"/>
            <a:ext cx="304800" cy="304800"/>
          </a:xfrm>
          <a:prstGeom prst="rect">
            <a:avLst/>
          </a:prstGeom>
        </p:spPr>
      </p:pic>
      <p:sp>
        <p:nvSpPr>
          <p:cNvPr id="395" name="AutoShape 9"/>
          <p:cNvSpPr/>
          <p:nvPr/>
        </p:nvSpPr>
        <p:spPr>
          <a:xfrm>
            <a:off x="13208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问题高度集中化</a:t>
            </a:r>
            <a:endParaRPr lang="en-US" sz="1100" dirty="0"/>
          </a:p>
        </p:txBody>
      </p:sp>
      <p:sp>
        <p:nvSpPr>
          <p:cNvPr id="396" name="AutoShape 10"/>
          <p:cNvSpPr/>
          <p:nvPr/>
        </p:nvSpPr>
        <p:spPr>
          <a:xfrm>
            <a:off x="9144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超六成问题集中于商品陈列（44.4%）与库存盘点（17.7%）两大基础环节，暴露日常运营的基础管理薄弱。</a:t>
            </a:r>
            <a:endParaRPr lang="en-US" sz="1100"/>
          </a:p>
        </p:txBody>
      </p:sp>
      <p:sp>
        <p:nvSpPr>
          <p:cNvPr id="397" name="AutoShape 11"/>
          <p:cNvSpPr/>
          <p:nvPr/>
        </p:nvSpPr>
        <p:spPr>
          <a:xfrm>
            <a:off x="43688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solidFill>
                <a:srgbClr val="FFDFDF"/>
              </a:solidFill>
            </a:endParaRPr>
          </a:p>
        </p:txBody>
      </p:sp>
      <p:pic>
        <p:nvPicPr>
          <p:cNvPr id="398" name="Picture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298700"/>
            <a:ext cx="304800" cy="304800"/>
          </a:xfrm>
          <a:prstGeom prst="rect">
            <a:avLst/>
          </a:prstGeom>
        </p:spPr>
      </p:pic>
      <p:sp>
        <p:nvSpPr>
          <p:cNvPr id="399" name="AutoShape 13"/>
          <p:cNvSpPr/>
          <p:nvPr/>
        </p:nvSpPr>
        <p:spPr>
          <a:xfrm>
            <a:off x="49784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片区发展分层化</a:t>
            </a:r>
            <a:endParaRPr lang="en-US" sz="1100"/>
          </a:p>
        </p:txBody>
      </p:sp>
      <p:sp>
        <p:nvSpPr>
          <p:cNvPr id="400" name="AutoShape 14"/>
          <p:cNvSpPr/>
          <p:nvPr/>
        </p:nvSpPr>
        <p:spPr>
          <a:xfrm>
            <a:off x="45720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en-US" sz="1300" b="0" i="0" u="none" strike="noStrike">
                <a:solidFill>
                  <a:srgbClr val="6B728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片区管理水平差异悬殊，</a:t>
            </a:r>
            <a:r>
              <a:rPr lang="zh-CN" sz="1300" b="0" i="0" u="none" strike="noStrike">
                <a:solidFill>
                  <a:srgbClr val="6B728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各区域单站问题数量差距明显，</a:t>
            </a:r>
            <a:r>
              <a:rPr lang="en-US" sz="1300" b="0" i="0" u="none" strike="noStrike">
                <a:solidFill>
                  <a:srgbClr val="6B728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区域运营质量呈现明显断层。</a:t>
            </a:r>
            <a:endParaRPr lang="en-US" sz="1300" b="0" i="0" u="none" strike="noStrike">
              <a:solidFill>
                <a:srgbClr val="6B728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1" name="AutoShape 15"/>
          <p:cNvSpPr/>
          <p:nvPr/>
        </p:nvSpPr>
        <p:spPr>
          <a:xfrm>
            <a:off x="80264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2" name="Picture 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2298700"/>
            <a:ext cx="304800" cy="304800"/>
          </a:xfrm>
          <a:prstGeom prst="rect">
            <a:avLst/>
          </a:prstGeom>
        </p:spPr>
      </p:pic>
      <p:sp>
        <p:nvSpPr>
          <p:cNvPr id="403" name="AutoShape 17"/>
          <p:cNvSpPr/>
          <p:nvPr/>
        </p:nvSpPr>
        <p:spPr>
          <a:xfrm>
            <a:off x="86360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风险隐患同质化</a:t>
            </a:r>
            <a:endParaRPr lang="en-US" sz="1100"/>
          </a:p>
        </p:txBody>
      </p:sp>
      <p:sp>
        <p:nvSpPr>
          <p:cNvPr id="404" name="AutoShape 18"/>
          <p:cNvSpPr/>
          <p:nvPr/>
        </p:nvSpPr>
        <p:spPr>
          <a:xfrm>
            <a:off x="82296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高风险问题隐蔽且反复，集中表现为高价商品账实不符、临期商品未及时清理、无审批团购等共性风险点。</a:t>
            </a:r>
            <a:endParaRPr lang="en-US" sz="1100"/>
          </a:p>
        </p:txBody>
      </p:sp>
      <p:sp>
        <p:nvSpPr>
          <p:cNvPr id="405" name="AutoShape 19"/>
          <p:cNvSpPr/>
          <p:nvPr/>
        </p:nvSpPr>
        <p:spPr>
          <a:xfrm>
            <a:off x="711200" y="4064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en-US" sz="2000" b="1" i="0" u="none" strike="noStrike" dirty="0" err="1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核心根源：执行、意识与机制的三重缺失</a:t>
            </a:r>
            <a:endParaRPr lang="en-US" sz="1100" dirty="0">
              <a:solidFill>
                <a:srgbClr val="C00000"/>
              </a:solidFill>
            </a:endParaRPr>
          </a:p>
        </p:txBody>
      </p:sp>
      <p:cxnSp>
        <p:nvCxnSpPr>
          <p:cNvPr id="406" name="Connector 20"/>
          <p:cNvCxnSpPr/>
          <p:nvPr/>
        </p:nvCxnSpPr>
        <p:spPr>
          <a:xfrm rot="21595947">
            <a:off x="711204" y="4565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7" name="AutoShape 21"/>
          <p:cNvSpPr/>
          <p:nvPr/>
        </p:nvSpPr>
        <p:spPr>
          <a:xfrm>
            <a:off x="7112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8" name="Picture 2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4965700"/>
            <a:ext cx="304800" cy="304800"/>
          </a:xfrm>
          <a:prstGeom prst="rect">
            <a:avLst/>
          </a:prstGeom>
        </p:spPr>
      </p:pic>
      <p:sp>
        <p:nvSpPr>
          <p:cNvPr id="409" name="AutoShape 23"/>
          <p:cNvSpPr/>
          <p:nvPr/>
        </p:nvSpPr>
        <p:spPr>
          <a:xfrm>
            <a:off x="13208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流程执行惯性缺位</a:t>
            </a:r>
            <a:endParaRPr lang="en-US" sz="1100"/>
          </a:p>
        </p:txBody>
      </p:sp>
      <p:sp>
        <p:nvSpPr>
          <p:cNvPr id="410" name="AutoShape 24"/>
          <p:cNvSpPr/>
          <p:nvPr/>
        </p:nvSpPr>
        <p:spPr>
          <a:xfrm>
            <a:off x="9144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库存全流程留痕机制未有效建立，标准化运营动作流于形式，仓库分区、效期管理等基础规范在一线未真正落地。</a:t>
            </a:r>
            <a:endParaRPr lang="en-US" sz="1100"/>
          </a:p>
        </p:txBody>
      </p:sp>
      <p:sp>
        <p:nvSpPr>
          <p:cNvPr id="411" name="AutoShape 25"/>
          <p:cNvSpPr/>
          <p:nvPr/>
        </p:nvSpPr>
        <p:spPr>
          <a:xfrm>
            <a:off x="43688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2" name="Picture 2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4965700"/>
            <a:ext cx="304800" cy="304800"/>
          </a:xfrm>
          <a:prstGeom prst="rect">
            <a:avLst/>
          </a:prstGeom>
        </p:spPr>
      </p:pic>
      <p:sp>
        <p:nvSpPr>
          <p:cNvPr id="413" name="AutoShape 27"/>
          <p:cNvSpPr/>
          <p:nvPr/>
        </p:nvSpPr>
        <p:spPr>
          <a:xfrm>
            <a:off x="49784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合规风控意识淡薄</a:t>
            </a:r>
            <a:endParaRPr lang="en-US" sz="1100"/>
          </a:p>
        </p:txBody>
      </p:sp>
      <p:sp>
        <p:nvSpPr>
          <p:cNvPr id="414" name="AutoShape 28"/>
          <p:cNvSpPr/>
          <p:nvPr/>
        </p:nvSpPr>
        <p:spPr>
          <a:xfrm>
            <a:off x="45720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一线员工存在“重业绩、轻管理”的侥幸心理，对高风险环节的隐患认知不足，且针对性合规培训严重缺失。</a:t>
            </a:r>
            <a:endParaRPr lang="en-US" sz="1100"/>
          </a:p>
        </p:txBody>
      </p:sp>
      <p:sp>
        <p:nvSpPr>
          <p:cNvPr id="415" name="AutoShape 29"/>
          <p:cNvSpPr/>
          <p:nvPr/>
        </p:nvSpPr>
        <p:spPr>
          <a:xfrm>
            <a:off x="80264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6" name="Picture 30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4965700"/>
            <a:ext cx="304800" cy="304800"/>
          </a:xfrm>
          <a:prstGeom prst="rect">
            <a:avLst/>
          </a:prstGeom>
        </p:spPr>
      </p:pic>
      <p:sp>
        <p:nvSpPr>
          <p:cNvPr id="417" name="AutoShape 31"/>
          <p:cNvSpPr/>
          <p:nvPr/>
        </p:nvSpPr>
        <p:spPr>
          <a:xfrm>
            <a:off x="86360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片区管控效能失衡</a:t>
            </a:r>
            <a:endParaRPr lang="en-US" sz="1100"/>
          </a:p>
        </p:txBody>
      </p:sp>
      <p:sp>
        <p:nvSpPr>
          <p:cNvPr id="418" name="AutoShape 32"/>
          <p:cNvSpPr/>
          <p:nvPr/>
        </p:nvSpPr>
        <p:spPr>
          <a:xfrm>
            <a:off x="82296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片区分级管控力度不均衡，优秀片区的标杆经验未能实现全域复制推广，问题整改缺乏闭环管理，督导检查穿透力不足。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标题 2"/>
          <p:cNvSpPr txBox="1">
            <a:spLocks noGrp="1"/>
          </p:cNvSpPr>
          <p:nvPr/>
        </p:nvSpPr>
        <p:spPr>
          <a:xfrm>
            <a:off x="1164067" y="307939"/>
            <a:ext cx="10515600" cy="685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l" defTabSz="914400" hangingPunct="1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defRPr>
            </a:pP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rPr>
              <a:t>五、检查结果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  <a:sym typeface="微软雅黑" panose="020B0503020204020204" charset="-122"/>
              </a:rPr>
              <a:t>分析</a:t>
            </a:r>
            <a:endParaRPr lang="zh-CN" sz="2800" b="1">
              <a:solidFill>
                <a:srgbClr val="BE0000">
                  <a:alpha val="100000"/>
                </a:srgbClr>
              </a:solidFill>
              <a:latin typeface="Arial Black" panose="020B0A04020102020204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pic>
        <p:nvPicPr>
          <p:cNvPr id="421" name="图片 4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" y="1583690"/>
            <a:ext cx="10789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文本框 15"/>
          <p:cNvSpPr txBox="1"/>
          <p:nvPr/>
        </p:nvSpPr>
        <p:spPr>
          <a:xfrm>
            <a:off x="1439020" y="2740010"/>
            <a:ext cx="9442450" cy="109669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altLang="en-US" sz="5400" dirty="0">
                <a:ln w="12700">
                  <a:noFill/>
                  <a:prstDash val="solid"/>
                </a:ln>
                <a:solidFill>
                  <a:schemeClr val="tx2">
                    <a:alpha val="100000"/>
                  </a:schemeClr>
                </a:solidFill>
                <a:latin typeface="方正正中黑简体"/>
                <a:ea typeface="方正正中黑简体"/>
              </a:rPr>
              <a:t>精细运营 品质非油</a:t>
            </a:r>
            <a:endParaRPr dirty="0"/>
          </a:p>
        </p:txBody>
      </p:sp>
      <p:pic>
        <p:nvPicPr>
          <p:cNvPr id="424" name="图片 13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5058406" y="752906"/>
            <a:ext cx="2201126" cy="2201126"/>
          </a:xfrm>
          <a:prstGeom prst="rect">
            <a:avLst/>
          </a:prstGeom>
        </p:spPr>
      </p:pic>
      <p:pic>
        <p:nvPicPr>
          <p:cNvPr id="425" name="图片 14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75089" y="184768"/>
            <a:ext cx="2396625" cy="622056"/>
          </a:xfrm>
          <a:prstGeom prst="rect">
            <a:avLst/>
          </a:prstGeom>
        </p:spPr>
      </p:pic>
      <p:pic>
        <p:nvPicPr>
          <p:cNvPr id="426" name="图片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-19106" y="4777496"/>
            <a:ext cx="12301928" cy="2106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33830"/>
      </a:accent1>
      <a:accent2>
        <a:srgbClr val="A0202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"/>
        <a:ea typeface="等线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5221</Words>
  <Application>WPS 演示</Application>
  <PresentationFormat>宽屏</PresentationFormat>
  <Paragraphs>1003</Paragraphs>
  <Slides>45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38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45</vt:i4>
      </vt:variant>
    </vt:vector>
  </HeadingPairs>
  <TitlesOfParts>
    <vt:vector size="91" baseType="lpstr">
      <vt:lpstr>Arial</vt:lpstr>
      <vt:lpstr>宋体</vt:lpstr>
      <vt:lpstr>Wingdings</vt:lpstr>
      <vt:lpstr>Arial</vt:lpstr>
      <vt:lpstr>微软雅黑</vt:lpstr>
      <vt:lpstr>方正雅意黑 GB18030L2</vt:lpstr>
      <vt:lpstr>等线 Light</vt:lpstr>
      <vt:lpstr>汉仪中等线KW</vt:lpstr>
      <vt:lpstr>等线</vt:lpstr>
      <vt:lpstr>方正正中黑简体</vt:lpstr>
      <vt:lpstr>Impact</vt:lpstr>
      <vt:lpstr>方正兰亭黑_GBK</vt:lpstr>
      <vt:lpstr>汉仪中黑KW</vt:lpstr>
      <vt:lpstr>Wingdings</vt:lpstr>
      <vt:lpstr>方正仿宋简体</vt:lpstr>
      <vt:lpstr>Arial Black</vt:lpstr>
      <vt:lpstr>宋体</vt:lpstr>
      <vt:lpstr>Arial Unicode MS</vt:lpstr>
      <vt:lpstr>Times New Roman</vt:lpstr>
      <vt:lpstr>方正小标宋简体</vt:lpstr>
      <vt:lpstr>Roboto</vt:lpstr>
      <vt:lpstr>HarmonyOS Sans SC</vt:lpstr>
      <vt:lpstr>PMingLiU</vt:lpstr>
      <vt:lpstr>PMingLiU</vt:lpstr>
      <vt:lpstr>Thonburi</vt:lpstr>
      <vt:lpstr>Noto Sans SC</vt:lpstr>
      <vt:lpstr>汉仪书宋二KW</vt:lpstr>
      <vt:lpstr>宋体-繁</vt:lpstr>
      <vt:lpstr>PMingLiU</vt:lpstr>
      <vt:lpstr>冬青黑体简体中文</vt:lpstr>
      <vt:lpstr>Arial Black</vt:lpstr>
      <vt:lpstr>HarmonyOS Sans SC</vt:lpstr>
      <vt:lpstr>Noto Sans SC</vt:lpstr>
      <vt:lpstr>Roboto</vt:lpstr>
      <vt:lpstr>微软雅黑</vt:lpstr>
      <vt:lpstr>方正正中黑简体</vt:lpstr>
      <vt:lpstr>等线</vt:lpstr>
      <vt:lpstr>苹方-简</vt:lpstr>
      <vt:lpstr>Office 主题​​</vt:lpstr>
      <vt:lpstr>Office 主题</vt:lpstr>
      <vt:lpstr>Office 主题</vt:lpstr>
      <vt:lpstr>Office 主题​​</vt:lpstr>
      <vt:lpstr>Office 主题</vt:lpstr>
      <vt:lpstr>Office 主题</vt:lpstr>
      <vt:lpstr>Office 主题</vt:lpstr>
      <vt:lpstr>Office 主题</vt:lpstr>
      <vt:lpstr>PowerPoint 演示文稿</vt:lpstr>
      <vt:lpstr>中国石油上海销售</vt:lpstr>
      <vt:lpstr>PowerPoint 演示文稿</vt:lpstr>
      <vt:lpstr>一、总体情况概述</vt:lpstr>
      <vt:lpstr>一、总体情况概述</vt:lpstr>
      <vt:lpstr>一、总体情况概述</vt:lpstr>
      <vt:lpstr>一、总体情况概述</vt:lpstr>
      <vt:lpstr>PowerPoint 演示文稿</vt:lpstr>
      <vt:lpstr>二、片区问题汇总——总体概况</vt:lpstr>
      <vt:lpstr>二、片区问题汇总——浦东片区</vt:lpstr>
      <vt:lpstr>二、片区问题汇总——闵普徐片区</vt:lpstr>
      <vt:lpstr>二、片区问题汇总——松金片区</vt:lpstr>
      <vt:lpstr>PowerPoint 演示文稿</vt:lpstr>
      <vt:lpstr>二、片区问题汇总——南汇片区</vt:lpstr>
      <vt:lpstr>PowerPoint 演示文稿</vt:lpstr>
      <vt:lpstr>二、片区问题汇总——崇明片区</vt:lpstr>
      <vt:lpstr>二、片区问题汇总—中油奉贤</vt:lpstr>
      <vt:lpstr>二、片区问题汇总—中油同盛</vt:lpstr>
      <vt:lpstr>二、片区问题汇总—中油农工商</vt:lpstr>
      <vt:lpstr>二、片区问题汇总—中油浦东</vt:lpstr>
      <vt:lpstr>PowerPoint 演示文稿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PowerPoint 演示文稿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SZJ</dc:creator>
  <cp:lastModifiedBy>左翰承</cp:lastModifiedBy>
  <cp:revision>22</cp:revision>
  <dcterms:created xsi:type="dcterms:W3CDTF">2026-08-24T02:44:56Z</dcterms:created>
  <dcterms:modified xsi:type="dcterms:W3CDTF">2026-08-24T02:44:56Z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7F52D118CACD47AF8374A6B2EC94D27F_12</vt:lpwstr>
  </property>
  <property fmtid="{D5CDD505-2E9C-101B-9397-08002B2CF9AE}" pid="3" name="KSOProductBuildVer">
    <vt:lpwstr>2052-12.1.26055.26055</vt:lpwstr>
  </property>
</Properties>
</file>